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unpruuf Compliance îi oferă organizației tale propriul canal intern de raportare, așa cum cere Legea 361/2022 angajatorilor cu 50 de angajați sau mai mult. Rulează pe serverul tău și nu colectează cine raportează. Este testat și funcționează; nu este auditat independent și nu este certificat, iar un test de securitate independent este planificat.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Totul pornește de la o condiție: organizația ta operează serverul, NexonAI nu operează niciunul și nu are acces. Nimeni nu scrie direct cuiva: un mesaj sigilat este lăsat pe serverul tău și ridicat de acolo, iar nimic nu rămâne mai mult de 24 de ore. Varianta din browser este mai slabă, pentru că arată adresa IP serverului tău; spune asta pe primul ecran.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Acesta este felul în care oamenii tăi și responsabilii de caz lucrează cu el. Un angajat raportează, primește un cod de caz și poate urmări cazul cu el. Responsabilul confirmă în 7 zile, poate pune întrebări și comunică răspunsul în 3 luni.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Prezentarea generală ordonează cazurile deschise după următorul termen. Un caz se poate șterge după ce codul lui este tastat din nou, iar jurnalul de ștergeri arată că și când, fără conținut; copiile făcute în afara aplicației, de exemplu copii de siguranță sau fișiere exportate, urmează regulile tale de păstrare. DPO-ul primește un pachet de dovezi, iar DPO-ul sau juristul tău confirmă evaluarea GDPR pentru organizația 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rezumat scurt și factual al cerințelor Legii 361/2022. Canalul intern este obligatoriu pentru angajatorii privați cu 50 de angajați sau mai mult, iar pentru cei cu 50–249 de angajați din 17 decembrie 2023. Canalul nu are nevoie de certificare; juristul tău confirmă cum se aplică legea organizației tale.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Pachetul cuprinde instalarea, instruirea, modelele și pachetul de dovezi, iar canalul tău este gata într-o săptămână. Îl poți încerca gratuit 30 de zile cu raportări de test înainte să decizi. Următorul pas este un demo online de 20 de minute; scrie-ne la unpruuf@nexonai.ro.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Testat · neauditat independent · necertificat</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RO</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1 / 6</a:t>
            </a:r>
          </a:p>
        </p:txBody>
      </p:sp>
      <p:sp>
        <p:nvSpPr>
          <p:cNvPr id="13" name="Rounded Rectangle 12"/>
          <p:cNvSpPr/>
          <p:nvPr/>
        </p:nvSpPr>
        <p:spPr>
          <a:xfrm>
            <a:off x="548640" y="658368"/>
            <a:ext cx="11094415" cy="3520440"/>
          </a:xfrm>
          <a:prstGeom prst="roundRect">
            <a:avLst>
              <a:gd name="adj" fmla="val 4337"/>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1024128"/>
            <a:ext cx="7315200" cy="274320"/>
          </a:xfrm>
          <a:prstGeom prst="rect">
            <a:avLst/>
          </a:prstGeom>
          <a:noFill/>
        </p:spPr>
        <p:txBody>
          <a:bodyPr wrap="square" lIns="0" rIns="0" tIns="0" bIns="0" anchor="t">
            <a:spAutoFit/>
          </a:bodyPr>
          <a:lstStyle/>
          <a:p>
            <a:pPr algn="l">
              <a:lnSpc>
                <a:spcPct val="115000"/>
              </a:lnSpc>
              <a:spcAft>
                <a:spcPts val="0"/>
              </a:spcAft>
            </a:pPr>
            <a:r>
              <a:rPr sz="1050" b="1">
                <a:solidFill>
                  <a:srgbClr val="90C8E8"/>
                </a:solidFill>
                <a:latin typeface="DejaVu Sans Mono"/>
              </a:rPr>
              <a:t>PREZENTARE SCURTĂ</a:t>
            </a:r>
          </a:p>
        </p:txBody>
      </p:sp>
      <p:sp>
        <p:nvSpPr>
          <p:cNvPr id="15" name="TextBox 14"/>
          <p:cNvSpPr txBox="1"/>
          <p:nvPr/>
        </p:nvSpPr>
        <p:spPr>
          <a:xfrm>
            <a:off x="1051560" y="1371600"/>
            <a:ext cx="10058400" cy="914400"/>
          </a:xfrm>
          <a:prstGeom prst="rect">
            <a:avLst/>
          </a:prstGeom>
          <a:noFill/>
        </p:spPr>
        <p:txBody>
          <a:bodyPr wrap="square" lIns="0" rIns="0" tIns="0" bIns="0" anchor="t">
            <a:spAutoFit/>
          </a:bodyPr>
          <a:lstStyle/>
          <a:p>
            <a:pPr algn="l">
              <a:lnSpc>
                <a:spcPct val="115000"/>
              </a:lnSpc>
              <a:spcAft>
                <a:spcPts val="0"/>
              </a:spcAft>
            </a:pPr>
            <a:r>
              <a:rPr sz="5000" b="1">
                <a:solidFill>
                  <a:srgbClr val="FFFFFF"/>
                </a:solidFill>
                <a:latin typeface="Open Sans"/>
              </a:rPr>
              <a:t>unpruuf Compliance</a:t>
            </a:r>
          </a:p>
        </p:txBody>
      </p:sp>
      <p:sp>
        <p:nvSpPr>
          <p:cNvPr id="16" name="TextBox 15"/>
          <p:cNvSpPr txBox="1"/>
          <p:nvPr/>
        </p:nvSpPr>
        <p:spPr>
          <a:xfrm>
            <a:off x="1051560" y="2395728"/>
            <a:ext cx="10241280" cy="914400"/>
          </a:xfrm>
          <a:prstGeom prst="rect">
            <a:avLst/>
          </a:prstGeom>
          <a:noFill/>
        </p:spPr>
        <p:txBody>
          <a:bodyPr wrap="square" lIns="0" rIns="0" tIns="0" bIns="0" anchor="t">
            <a:spAutoFit/>
          </a:bodyPr>
          <a:lstStyle/>
          <a:p>
            <a:pPr algn="l">
              <a:lnSpc>
                <a:spcPct val="120000"/>
              </a:lnSpc>
              <a:spcAft>
                <a:spcPts val="0"/>
              </a:spcAft>
            </a:pPr>
            <a:r>
              <a:rPr sz="1800" b="0">
                <a:solidFill>
                  <a:srgbClr val="DBE7EF"/>
                </a:solidFill>
                <a:latin typeface="Open Sans"/>
              </a:rPr>
              <a:t>Propriul canal intern de raportare pentru organizațiile din România cu 50 de angajați sau mai mult: pe serverul tău, fără a colecta identitatea celui care raportează.</a:t>
            </a:r>
          </a:p>
        </p:txBody>
      </p:sp>
      <p:sp>
        <p:nvSpPr>
          <p:cNvPr id="17" name="Rounded Rectangle 16"/>
          <p:cNvSpPr/>
          <p:nvPr/>
        </p:nvSpPr>
        <p:spPr>
          <a:xfrm>
            <a:off x="1051560" y="3547872"/>
            <a:ext cx="2740914" cy="347472"/>
          </a:xfrm>
          <a:prstGeom prst="roundRect">
            <a:avLst>
              <a:gd name="adj" fmla="val 50000"/>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51560" y="3547872"/>
            <a:ext cx="2740914" cy="347472"/>
          </a:xfrm>
          <a:prstGeom prst="rect">
            <a:avLst/>
          </a:prstGeom>
          <a:noFill/>
        </p:spPr>
        <p:txBody>
          <a:bodyPr wrap="square" lIns="0" rIns="0" tIns="0" bIns="0" anchor="ctr">
            <a:spAutoFit/>
          </a:bodyPr>
          <a:lstStyle/>
          <a:p>
            <a:pPr algn="ctr">
              <a:lnSpc>
                <a:spcPct val="115000"/>
              </a:lnSpc>
              <a:spcAft>
                <a:spcPts val="0"/>
              </a:spcAft>
            </a:pPr>
            <a:r>
              <a:rPr sz="1050" b="1">
                <a:solidFill>
                  <a:srgbClr val="0F2A3A"/>
                </a:solidFill>
                <a:latin typeface="DejaVu Sans Mono"/>
              </a:rPr>
              <a:t>Testat · neauditat independent</a:t>
            </a:r>
          </a:p>
        </p:txBody>
      </p:sp>
      <p:sp>
        <p:nvSpPr>
          <p:cNvPr id="19" name="Rounded Rectangle 18"/>
          <p:cNvSpPr/>
          <p:nvPr/>
        </p:nvSpPr>
        <p:spPr>
          <a:xfrm>
            <a:off x="548640" y="4389120"/>
            <a:ext cx="3515258" cy="1737360"/>
          </a:xfrm>
          <a:prstGeom prst="roundRect">
            <a:avLst>
              <a:gd name="adj" fmla="val 8789"/>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8680" y="4645152"/>
            <a:ext cx="384048" cy="54864"/>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800600"/>
            <a:ext cx="2875178" cy="365760"/>
          </a:xfrm>
          <a:prstGeom prst="rect">
            <a:avLst/>
          </a:prstGeom>
          <a:noFill/>
        </p:spPr>
        <p:txBody>
          <a:bodyPr wrap="square" lIns="0" rIns="0" tIns="0" bIns="0" anchor="t">
            <a:spAutoFit/>
          </a:bodyPr>
          <a:lstStyle/>
          <a:p>
            <a:pPr algn="l">
              <a:lnSpc>
                <a:spcPct val="115000"/>
              </a:lnSpc>
              <a:spcAft>
                <a:spcPts val="0"/>
              </a:spcAft>
            </a:pPr>
            <a:r>
              <a:rPr sz="1700" b="1">
                <a:solidFill>
                  <a:srgbClr val="172733"/>
                </a:solidFill>
                <a:latin typeface="Open Sans"/>
              </a:rPr>
              <a:t>Serverul tău</a:t>
            </a:r>
          </a:p>
        </p:txBody>
      </p:sp>
      <p:sp>
        <p:nvSpPr>
          <p:cNvPr id="22" name="TextBox 21"/>
          <p:cNvSpPr txBox="1"/>
          <p:nvPr/>
        </p:nvSpPr>
        <p:spPr>
          <a:xfrm>
            <a:off x="868680" y="5230368"/>
            <a:ext cx="2875178" cy="777240"/>
          </a:xfrm>
          <a:prstGeom prst="rect">
            <a:avLst/>
          </a:prstGeom>
          <a:noFill/>
        </p:spPr>
        <p:txBody>
          <a:bodyPr wrap="square" lIns="0" rIns="0" tIns="0" bIns="0" anchor="t">
            <a:spAutoFit/>
          </a:bodyPr>
          <a:lstStyle/>
          <a:p>
            <a:pPr algn="l">
              <a:lnSpc>
                <a:spcPct val="115000"/>
              </a:lnSpc>
              <a:spcAft>
                <a:spcPts val="0"/>
              </a:spcAft>
            </a:pPr>
            <a:r>
              <a:rPr sz="1300" b="0">
                <a:solidFill>
                  <a:srgbClr val="505B63"/>
                </a:solidFill>
                <a:latin typeface="Open Sans"/>
              </a:rPr>
              <a:t>Organizația ta operează serverul. NexonAI nu operează servere și nu are acces.</a:t>
            </a:r>
          </a:p>
        </p:txBody>
      </p:sp>
      <p:sp>
        <p:nvSpPr>
          <p:cNvPr id="23" name="Rounded Rectangle 22"/>
          <p:cNvSpPr/>
          <p:nvPr/>
        </p:nvSpPr>
        <p:spPr>
          <a:xfrm>
            <a:off x="4338218" y="4389120"/>
            <a:ext cx="3515258" cy="1737360"/>
          </a:xfrm>
          <a:prstGeom prst="roundRect">
            <a:avLst>
              <a:gd name="adj" fmla="val 8789"/>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658258" y="4645152"/>
            <a:ext cx="384048" cy="54864"/>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658258" y="4800600"/>
            <a:ext cx="2875178" cy="365760"/>
          </a:xfrm>
          <a:prstGeom prst="rect">
            <a:avLst/>
          </a:prstGeom>
          <a:noFill/>
        </p:spPr>
        <p:txBody>
          <a:bodyPr wrap="square" lIns="0" rIns="0" tIns="0" bIns="0" anchor="t">
            <a:spAutoFit/>
          </a:bodyPr>
          <a:lstStyle/>
          <a:p>
            <a:pPr algn="l">
              <a:lnSpc>
                <a:spcPct val="115000"/>
              </a:lnSpc>
              <a:spcAft>
                <a:spcPts val="0"/>
              </a:spcAft>
            </a:pPr>
            <a:r>
              <a:rPr sz="1700" b="1">
                <a:solidFill>
                  <a:srgbClr val="172733"/>
                </a:solidFill>
                <a:latin typeface="Open Sans"/>
              </a:rPr>
              <a:t>Fără identități</a:t>
            </a:r>
          </a:p>
        </p:txBody>
      </p:sp>
      <p:sp>
        <p:nvSpPr>
          <p:cNvPr id="26" name="TextBox 25"/>
          <p:cNvSpPr txBox="1"/>
          <p:nvPr/>
        </p:nvSpPr>
        <p:spPr>
          <a:xfrm>
            <a:off x="4658258" y="5230368"/>
            <a:ext cx="2875178" cy="777240"/>
          </a:xfrm>
          <a:prstGeom prst="rect">
            <a:avLst/>
          </a:prstGeom>
          <a:noFill/>
        </p:spPr>
        <p:txBody>
          <a:bodyPr wrap="square" lIns="0" rIns="0" tIns="0" bIns="0" anchor="t">
            <a:spAutoFit/>
          </a:bodyPr>
          <a:lstStyle/>
          <a:p>
            <a:pPr algn="l">
              <a:lnSpc>
                <a:spcPct val="115000"/>
              </a:lnSpc>
              <a:spcAft>
                <a:spcPts val="0"/>
              </a:spcAft>
            </a:pPr>
            <a:r>
              <a:rPr sz="1300" b="0">
                <a:solidFill>
                  <a:srgbClr val="505B63"/>
                </a:solidFill>
                <a:latin typeface="Open Sans"/>
              </a:rPr>
              <a:t>Fără cont, fără nume, fără număr de telefon, fără e-mail.</a:t>
            </a:r>
          </a:p>
        </p:txBody>
      </p:sp>
      <p:sp>
        <p:nvSpPr>
          <p:cNvPr id="27" name="Rounded Rectangle 26"/>
          <p:cNvSpPr/>
          <p:nvPr/>
        </p:nvSpPr>
        <p:spPr>
          <a:xfrm>
            <a:off x="8127796" y="4389120"/>
            <a:ext cx="3515258" cy="1737360"/>
          </a:xfrm>
          <a:prstGeom prst="roundRect">
            <a:avLst>
              <a:gd name="adj" fmla="val 8789"/>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447836" y="4645152"/>
            <a:ext cx="384048" cy="54864"/>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47836" y="4800600"/>
            <a:ext cx="2875178" cy="365760"/>
          </a:xfrm>
          <a:prstGeom prst="rect">
            <a:avLst/>
          </a:prstGeom>
          <a:noFill/>
        </p:spPr>
        <p:txBody>
          <a:bodyPr wrap="square" lIns="0" rIns="0" tIns="0" bIns="0" anchor="t">
            <a:spAutoFit/>
          </a:bodyPr>
          <a:lstStyle/>
          <a:p>
            <a:pPr algn="l">
              <a:lnSpc>
                <a:spcPct val="115000"/>
              </a:lnSpc>
              <a:spcAft>
                <a:spcPts val="0"/>
              </a:spcAft>
            </a:pPr>
            <a:r>
              <a:rPr sz="1700" b="1">
                <a:solidFill>
                  <a:srgbClr val="172733"/>
                </a:solidFill>
                <a:latin typeface="Open Sans"/>
              </a:rPr>
              <a:t>Gata într-o săptămână</a:t>
            </a:r>
          </a:p>
        </p:txBody>
      </p:sp>
      <p:sp>
        <p:nvSpPr>
          <p:cNvPr id="30" name="TextBox 29"/>
          <p:cNvSpPr txBox="1"/>
          <p:nvPr/>
        </p:nvSpPr>
        <p:spPr>
          <a:xfrm>
            <a:off x="8447836" y="5230368"/>
            <a:ext cx="2875178" cy="777240"/>
          </a:xfrm>
          <a:prstGeom prst="rect">
            <a:avLst/>
          </a:prstGeom>
          <a:noFill/>
        </p:spPr>
        <p:txBody>
          <a:bodyPr wrap="square" lIns="0" rIns="0" tIns="0" bIns="0" anchor="t">
            <a:spAutoFit/>
          </a:bodyPr>
          <a:lstStyle/>
          <a:p>
            <a:pPr algn="l">
              <a:lnSpc>
                <a:spcPct val="115000"/>
              </a:lnSpc>
              <a:spcAft>
                <a:spcPts val="0"/>
              </a:spcAft>
            </a:pPr>
            <a:r>
              <a:rPr sz="1300" b="0">
                <a:solidFill>
                  <a:srgbClr val="505B63"/>
                </a:solidFill>
                <a:latin typeface="Open Sans"/>
              </a:rPr>
              <a:t>Cu instruire pentru responsabilii de caz și pachet de dovezi pentru DPO.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Testat · neauditat independent · necertificat</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RO</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2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CUM FUNCȚIONEAZĂ UNPRUUF</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Două părți: o aplicație și propriul tău server.</a:t>
            </a:r>
          </a:p>
        </p:txBody>
      </p:sp>
      <p:sp>
        <p:nvSpPr>
          <p:cNvPr id="15" name="Rounded Rectangle 14"/>
          <p:cNvSpPr/>
          <p:nvPr/>
        </p:nvSpPr>
        <p:spPr>
          <a:xfrm>
            <a:off x="548640" y="1664208"/>
            <a:ext cx="11094415" cy="475488"/>
          </a:xfrm>
          <a:prstGeom prst="roundRect">
            <a:avLst>
              <a:gd name="adj" fmla="val 19230"/>
            </a:avLst>
          </a:prstGeom>
          <a:solidFill>
            <a:srgbClr val="E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1664208"/>
            <a:ext cx="73152" cy="475488"/>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1664208"/>
            <a:ext cx="10637215" cy="475488"/>
          </a:xfrm>
          <a:prstGeom prst="rect">
            <a:avLst/>
          </a:prstGeom>
          <a:noFill/>
        </p:spPr>
        <p:txBody>
          <a:bodyPr wrap="square" lIns="0" rIns="0" tIns="0" bIns="0" anchor="ctr">
            <a:spAutoFit/>
          </a:bodyPr>
          <a:lstStyle/>
          <a:p>
            <a:pPr algn="l">
              <a:lnSpc>
                <a:spcPct val="115000"/>
              </a:lnSpc>
              <a:spcAft>
                <a:spcPts val="0"/>
              </a:spcAft>
            </a:pPr>
            <a:r>
              <a:rPr sz="1400" b="1">
                <a:solidFill>
                  <a:srgbClr val="307098"/>
                </a:solidFill>
                <a:latin typeface="Open Sans"/>
              </a:rPr>
              <a:t>Condiție:  </a:t>
            </a:r>
            <a:r>
              <a:rPr sz="1400" b="0">
                <a:solidFill>
                  <a:srgbClr val="172733"/>
                </a:solidFill>
                <a:latin typeface="Open Sans"/>
              </a:rPr>
              <a:t>organizația ta își operează propriul server. NexonAI nu operează servere și nu are acces.</a:t>
            </a:r>
          </a:p>
        </p:txBody>
      </p:sp>
      <p:sp>
        <p:nvSpPr>
          <p:cNvPr id="18" name="Rounded Rectangle 17"/>
          <p:cNvSpPr/>
          <p:nvPr/>
        </p:nvSpPr>
        <p:spPr>
          <a:xfrm>
            <a:off x="548640" y="2331720"/>
            <a:ext cx="6720840" cy="3840480"/>
          </a:xfrm>
          <a:prstGeom prst="roundRect">
            <a:avLst>
              <a:gd name="adj" fmla="val 397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2496312"/>
            <a:ext cx="2743200" cy="274320"/>
          </a:xfrm>
          <a:prstGeom prst="rect">
            <a:avLst/>
          </a:prstGeom>
          <a:noFill/>
        </p:spPr>
        <p:txBody>
          <a:bodyPr wrap="square" lIns="0" rIns="0" tIns="0" bIns="0" anchor="t">
            <a:spAutoFit/>
          </a:bodyPr>
          <a:lstStyle/>
          <a:p>
            <a:pPr algn="l">
              <a:lnSpc>
                <a:spcPct val="115000"/>
              </a:lnSpc>
              <a:spcAft>
                <a:spcPts val="0"/>
              </a:spcAft>
            </a:pPr>
            <a:r>
              <a:rPr sz="900" b="1">
                <a:solidFill>
                  <a:srgbClr val="505B63"/>
                </a:solidFill>
                <a:latin typeface="DejaVu Sans Mono"/>
              </a:rPr>
              <a:t>SCHEMĂ</a:t>
            </a:r>
          </a:p>
        </p:txBody>
      </p:sp>
      <p:sp>
        <p:nvSpPr>
          <p:cNvPr id="20" name="Rounded Rectangle 19"/>
          <p:cNvSpPr/>
          <p:nvPr/>
        </p:nvSpPr>
        <p:spPr>
          <a:xfrm>
            <a:off x="914400" y="3108960"/>
            <a:ext cx="1051560" cy="1874519"/>
          </a:xfrm>
          <a:prstGeom prst="roundRect">
            <a:avLst>
              <a:gd name="adj" fmla="val 17391"/>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996696" y="3310128"/>
            <a:ext cx="886968" cy="1472184"/>
          </a:xfrm>
          <a:prstGeom prst="roundRect">
            <a:avLst>
              <a:gd name="adj" fmla="val 618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1293876" y="3191256"/>
            <a:ext cx="292608" cy="45720"/>
          </a:xfrm>
          <a:prstGeom prst="roundRect">
            <a:avLst>
              <a:gd name="adj" fmla="val 40000"/>
            </a:avLst>
          </a:prstGeom>
          <a:solidFill>
            <a:srgbClr val="3D5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33856" y="3794760"/>
            <a:ext cx="612647" cy="438912"/>
          </a:xfrm>
          <a:prstGeom prst="rect">
            <a:avLst/>
          </a:prstGeom>
          <a:solidFill>
            <a:srgbClr val="E3EEF6"/>
          </a:solidFill>
          <a:ln w="15875">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1133856" y="3794760"/>
            <a:ext cx="612647" cy="241401"/>
          </a:xfrm>
          <a:prstGeom prst="triangle">
            <a:avLst/>
          </a:prstGeom>
          <a:solidFill>
            <a:srgbClr val="E3EEF6"/>
          </a:solidFill>
          <a:ln w="15875">
            <a:solidFill>
              <a:srgbClr val="307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074920"/>
            <a:ext cx="1691640" cy="548640"/>
          </a:xfrm>
          <a:prstGeom prst="rect">
            <a:avLst/>
          </a:prstGeom>
          <a:noFill/>
        </p:spPr>
        <p:txBody>
          <a:bodyPr wrap="square" lIns="0" rIns="0" tIns="0" bIns="0" anchor="t">
            <a:spAutoFit/>
          </a:bodyPr>
          <a:lstStyle/>
          <a:p>
            <a:pPr algn="ctr">
              <a:lnSpc>
                <a:spcPct val="115000"/>
              </a:lnSpc>
              <a:spcAft>
                <a:spcPts val="0"/>
              </a:spcAft>
            </a:pPr>
            <a:r>
              <a:rPr sz="1150" b="1">
                <a:solidFill>
                  <a:srgbClr val="172733"/>
                </a:solidFill>
                <a:latin typeface="Open Sans"/>
              </a:rPr>
              <a:t>Angajat</a:t>
            </a:r>
          </a:p>
          <a:p>
            <a:pPr algn="ctr">
              <a:lnSpc>
                <a:spcPct val="115000"/>
              </a:lnSpc>
              <a:spcAft>
                <a:spcPts val="0"/>
              </a:spcAft>
            </a:pPr>
            <a:r>
              <a:rPr sz="1150" b="0">
                <a:solidFill>
                  <a:srgbClr val="172733"/>
                </a:solidFill>
                <a:latin typeface="Open Sans"/>
              </a:rPr>
              <a:t>aplicație sau browser</a:t>
            </a:r>
          </a:p>
        </p:txBody>
      </p:sp>
      <p:sp>
        <p:nvSpPr>
          <p:cNvPr id="26" name="Rounded Rectangle 25"/>
          <p:cNvSpPr/>
          <p:nvPr/>
        </p:nvSpPr>
        <p:spPr>
          <a:xfrm>
            <a:off x="2651760" y="2880360"/>
            <a:ext cx="2331720" cy="2240280"/>
          </a:xfrm>
          <a:prstGeom prst="roundRect">
            <a:avLst>
              <a:gd name="adj" fmla="val 6816"/>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651760" y="3063240"/>
            <a:ext cx="2331720" cy="320040"/>
          </a:xfrm>
          <a:prstGeom prst="rect">
            <a:avLst/>
          </a:prstGeom>
          <a:noFill/>
        </p:spPr>
        <p:txBody>
          <a:bodyPr wrap="square" lIns="0" rIns="0" tIns="0" bIns="0" anchor="t">
            <a:spAutoFit/>
          </a:bodyPr>
          <a:lstStyle/>
          <a:p>
            <a:pPr algn="ctr">
              <a:lnSpc>
                <a:spcPct val="115000"/>
              </a:lnSpc>
              <a:spcAft>
                <a:spcPts val="0"/>
              </a:spcAft>
            </a:pPr>
            <a:r>
              <a:rPr sz="1600" b="1">
                <a:solidFill>
                  <a:srgbClr val="FFFFFF"/>
                </a:solidFill>
                <a:latin typeface="Open Sans"/>
              </a:rPr>
              <a:t>Serverul tău</a:t>
            </a:r>
          </a:p>
        </p:txBody>
      </p:sp>
      <p:sp>
        <p:nvSpPr>
          <p:cNvPr id="28" name="TextBox 27"/>
          <p:cNvSpPr txBox="1"/>
          <p:nvPr/>
        </p:nvSpPr>
        <p:spPr>
          <a:xfrm>
            <a:off x="2651760" y="3383280"/>
            <a:ext cx="2331720" cy="274320"/>
          </a:xfrm>
          <a:prstGeom prst="rect">
            <a:avLst/>
          </a:prstGeom>
          <a:noFill/>
        </p:spPr>
        <p:txBody>
          <a:bodyPr wrap="square" lIns="0" rIns="0" tIns="0" bIns="0" anchor="t">
            <a:spAutoFit/>
          </a:bodyPr>
          <a:lstStyle/>
          <a:p>
            <a:pPr algn="ctr">
              <a:lnSpc>
                <a:spcPct val="115000"/>
              </a:lnSpc>
              <a:spcAft>
                <a:spcPts val="0"/>
              </a:spcAft>
            </a:pPr>
            <a:r>
              <a:rPr sz="1100" b="0">
                <a:solidFill>
                  <a:srgbClr val="90C8E8"/>
                </a:solidFill>
                <a:latin typeface="Open Sans"/>
              </a:rPr>
              <a:t>serverul meu, regulile mele</a:t>
            </a:r>
          </a:p>
        </p:txBody>
      </p:sp>
      <p:sp>
        <p:nvSpPr>
          <p:cNvPr id="29" name="Rounded Rectangle 28"/>
          <p:cNvSpPr/>
          <p:nvPr/>
        </p:nvSpPr>
        <p:spPr>
          <a:xfrm>
            <a:off x="2985515" y="3840480"/>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086099" y="3950208"/>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3589020" y="3840480"/>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689604" y="3950208"/>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689604" y="4023360"/>
            <a:ext cx="256032" cy="118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192524" y="3840480"/>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293108" y="3950208"/>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2985515" y="4370832"/>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086099" y="4480560"/>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3589020" y="4370832"/>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689604" y="4480560"/>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4192524" y="4370832"/>
            <a:ext cx="457200" cy="384048"/>
          </a:xfrm>
          <a:prstGeom prst="roundRect">
            <a:avLst>
              <a:gd name="adj" fmla="val 11904"/>
            </a:avLst>
          </a:prstGeom>
          <a:solidFill>
            <a:srgbClr val="1D4258"/>
          </a:solidFill>
          <a:ln w="12700">
            <a:solidFill>
              <a:srgbClr val="90C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293108" y="4480560"/>
            <a:ext cx="256032" cy="45720"/>
          </a:xfrm>
          <a:prstGeom prst="rect">
            <a:avLst/>
          </a:prstGeom>
          <a:solidFill>
            <a:srgbClr val="90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5797296" y="3474720"/>
            <a:ext cx="1152144" cy="1005840"/>
          </a:xfrm>
          <a:prstGeom prst="roundRect">
            <a:avLst>
              <a:gd name="adj" fmla="val 7272"/>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5870448" y="3547872"/>
            <a:ext cx="1005840" cy="859536"/>
          </a:xfrm>
          <a:prstGeom prst="roundRect">
            <a:avLst>
              <a:gd name="adj" fmla="val 319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5961888" y="3657600"/>
            <a:ext cx="109728" cy="109728"/>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144768" y="3685032"/>
            <a:ext cx="502920" cy="54864"/>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5961888" y="3904487"/>
            <a:ext cx="109728" cy="10972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6144768" y="3931920"/>
            <a:ext cx="502920" cy="54864"/>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961888" y="4151376"/>
            <a:ext cx="109728" cy="10972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144768" y="4178808"/>
            <a:ext cx="502920" cy="54864"/>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5687568" y="4480560"/>
            <a:ext cx="1371600" cy="109728"/>
          </a:xfrm>
          <a:prstGeom prst="roundRect">
            <a:avLst>
              <a:gd name="adj" fmla="val 41666"/>
            </a:avLst>
          </a:prstGeom>
          <a:solidFill>
            <a:srgbClr val="3D5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394959" y="5074920"/>
            <a:ext cx="1828800" cy="548640"/>
          </a:xfrm>
          <a:prstGeom prst="rect">
            <a:avLst/>
          </a:prstGeom>
          <a:noFill/>
        </p:spPr>
        <p:txBody>
          <a:bodyPr wrap="square" lIns="0" rIns="0" tIns="0" bIns="0" anchor="t">
            <a:spAutoFit/>
          </a:bodyPr>
          <a:lstStyle/>
          <a:p>
            <a:pPr algn="ctr">
              <a:lnSpc>
                <a:spcPct val="115000"/>
              </a:lnSpc>
              <a:spcAft>
                <a:spcPts val="0"/>
              </a:spcAft>
            </a:pPr>
            <a:r>
              <a:rPr sz="1150" b="1">
                <a:solidFill>
                  <a:srgbClr val="172733"/>
                </a:solidFill>
                <a:latin typeface="Open Sans"/>
              </a:rPr>
              <a:t>Responsabil de caz</a:t>
            </a:r>
          </a:p>
          <a:p>
            <a:pPr algn="ctr">
              <a:lnSpc>
                <a:spcPct val="115000"/>
              </a:lnSpc>
              <a:spcAft>
                <a:spcPts val="0"/>
              </a:spcAft>
            </a:pPr>
            <a:r>
              <a:rPr sz="1150" b="0">
                <a:solidFill>
                  <a:srgbClr val="172733"/>
                </a:solidFill>
                <a:latin typeface="Open Sans"/>
              </a:rPr>
              <a:t>aplicația responsabilului</a:t>
            </a:r>
          </a:p>
        </p:txBody>
      </p:sp>
      <p:cxnSp>
        <p:nvCxnSpPr>
          <p:cNvPr id="52" name="Connector 51"/>
          <p:cNvCxnSpPr/>
          <p:nvPr/>
        </p:nvCxnSpPr>
        <p:spPr>
          <a:xfrm>
            <a:off x="2029968" y="4023360"/>
            <a:ext cx="566928" cy="0"/>
          </a:xfrm>
          <a:prstGeom prst="line">
            <a:avLst/>
          </a:prstGeom>
          <a:ln w="28575">
            <a:solidFill>
              <a:srgbClr val="30709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038343" y="4023360"/>
            <a:ext cx="649225" cy="0"/>
          </a:xfrm>
          <a:prstGeom prst="line">
            <a:avLst/>
          </a:prstGeom>
          <a:ln w="28575">
            <a:solidFill>
              <a:srgbClr val="3070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920240" y="3456432"/>
            <a:ext cx="786384" cy="502920"/>
          </a:xfrm>
          <a:prstGeom prst="rect">
            <a:avLst/>
          </a:prstGeom>
          <a:noFill/>
        </p:spPr>
        <p:txBody>
          <a:bodyPr wrap="square" lIns="0" rIns="0" tIns="0" bIns="0" anchor="b">
            <a:spAutoFit/>
          </a:bodyPr>
          <a:lstStyle/>
          <a:p>
            <a:pPr algn="ctr">
              <a:lnSpc>
                <a:spcPct val="115000"/>
              </a:lnSpc>
              <a:spcAft>
                <a:spcPts val="0"/>
              </a:spcAft>
            </a:pPr>
            <a:r>
              <a:rPr sz="1000" b="1">
                <a:solidFill>
                  <a:srgbClr val="307098"/>
                </a:solidFill>
                <a:latin typeface="Open Sans"/>
              </a:rPr>
              <a:t>lasă un mesaj sigilat</a:t>
            </a:r>
          </a:p>
        </p:txBody>
      </p:sp>
      <p:sp>
        <p:nvSpPr>
          <p:cNvPr id="55" name="TextBox 54"/>
          <p:cNvSpPr txBox="1"/>
          <p:nvPr/>
        </p:nvSpPr>
        <p:spPr>
          <a:xfrm>
            <a:off x="4965192" y="3456432"/>
            <a:ext cx="822960" cy="502920"/>
          </a:xfrm>
          <a:prstGeom prst="rect">
            <a:avLst/>
          </a:prstGeom>
          <a:noFill/>
        </p:spPr>
        <p:txBody>
          <a:bodyPr wrap="square" lIns="0" rIns="0" tIns="0" bIns="0" anchor="b">
            <a:spAutoFit/>
          </a:bodyPr>
          <a:lstStyle/>
          <a:p>
            <a:pPr algn="ctr">
              <a:lnSpc>
                <a:spcPct val="115000"/>
              </a:lnSpc>
              <a:spcAft>
                <a:spcPts val="0"/>
              </a:spcAft>
            </a:pPr>
            <a:r>
              <a:rPr sz="1000" b="1">
                <a:solidFill>
                  <a:srgbClr val="307098"/>
                </a:solidFill>
                <a:latin typeface="Open Sans"/>
              </a:rPr>
              <a:t>îl ridică</a:t>
            </a:r>
          </a:p>
        </p:txBody>
      </p:sp>
      <p:sp>
        <p:nvSpPr>
          <p:cNvPr id="56" name="Rounded Rectangle 55"/>
          <p:cNvSpPr/>
          <p:nvPr/>
        </p:nvSpPr>
        <p:spPr>
          <a:xfrm>
            <a:off x="2377440" y="5349240"/>
            <a:ext cx="2880360" cy="502920"/>
          </a:xfrm>
          <a:prstGeom prst="roundRect">
            <a:avLst>
              <a:gd name="adj" fmla="val 18181"/>
            </a:avLst>
          </a:prstGeom>
          <a:solidFill>
            <a:srgbClr val="F2F4F6"/>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2423160" y="5349240"/>
            <a:ext cx="2788920" cy="502920"/>
          </a:xfrm>
          <a:prstGeom prst="rect">
            <a:avLst/>
          </a:prstGeom>
          <a:noFill/>
        </p:spPr>
        <p:txBody>
          <a:bodyPr wrap="square" lIns="0" rIns="0" tIns="0" bIns="0" anchor="ctr">
            <a:spAutoFit/>
          </a:bodyPr>
          <a:lstStyle/>
          <a:p>
            <a:pPr algn="ctr">
              <a:lnSpc>
                <a:spcPct val="115000"/>
              </a:lnSpc>
              <a:spcAft>
                <a:spcPts val="0"/>
              </a:spcAft>
            </a:pPr>
            <a:r>
              <a:rPr sz="1050" b="0">
                <a:solidFill>
                  <a:srgbClr val="505B63"/>
                </a:solidFill>
                <a:latin typeface="Open Sans"/>
              </a:rPr>
              <a:t>NexonAI: fără server, fără acces, fără copii</a:t>
            </a:r>
          </a:p>
        </p:txBody>
      </p:sp>
      <p:sp>
        <p:nvSpPr>
          <p:cNvPr id="58" name="Oval 57"/>
          <p:cNvSpPr/>
          <p:nvPr/>
        </p:nvSpPr>
        <p:spPr>
          <a:xfrm>
            <a:off x="7635240" y="2450592"/>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863840" y="2377440"/>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Fără identități</a:t>
            </a:r>
          </a:p>
        </p:txBody>
      </p:sp>
      <p:sp>
        <p:nvSpPr>
          <p:cNvPr id="60" name="TextBox 59"/>
          <p:cNvSpPr txBox="1"/>
          <p:nvPr/>
        </p:nvSpPr>
        <p:spPr>
          <a:xfrm>
            <a:off x="7863840" y="2651760"/>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Fără conturi, fără număr de telefon, fără listă de utilizatori.</a:t>
            </a:r>
          </a:p>
        </p:txBody>
      </p:sp>
      <p:sp>
        <p:nvSpPr>
          <p:cNvPr id="61" name="Oval 60"/>
          <p:cNvSpPr/>
          <p:nvPr/>
        </p:nvSpPr>
        <p:spPr>
          <a:xfrm>
            <a:off x="7635240" y="3236976"/>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863840" y="3163824"/>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Nimeni nu scrie direct</a:t>
            </a:r>
          </a:p>
        </p:txBody>
      </p:sp>
      <p:sp>
        <p:nvSpPr>
          <p:cNvPr id="63" name="TextBox 62"/>
          <p:cNvSpPr txBox="1"/>
          <p:nvPr/>
        </p:nvSpPr>
        <p:spPr>
          <a:xfrm>
            <a:off x="7863840" y="3438144"/>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Lași mesajul sigilat pe propriul server. Contactul tău îl ridică de acolo. Răspunsul merge pe același drum.</a:t>
            </a:r>
          </a:p>
        </p:txBody>
      </p:sp>
      <p:sp>
        <p:nvSpPr>
          <p:cNvPr id="64" name="Oval 63"/>
          <p:cNvSpPr/>
          <p:nvPr/>
        </p:nvSpPr>
        <p:spPr>
          <a:xfrm>
            <a:off x="7635240" y="4023360"/>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863840" y="3950208"/>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Serverul meu, regulile mele</a:t>
            </a:r>
          </a:p>
        </p:txBody>
      </p:sp>
      <p:sp>
        <p:nvSpPr>
          <p:cNvPr id="66" name="TextBox 65"/>
          <p:cNvSpPr txBox="1"/>
          <p:nvPr/>
        </p:nvSpPr>
        <p:spPr>
          <a:xfrm>
            <a:off x="7863840" y="4224528"/>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Serverul aparține organizației tale. Nimeni din mijloc.</a:t>
            </a:r>
          </a:p>
        </p:txBody>
      </p:sp>
      <p:sp>
        <p:nvSpPr>
          <p:cNvPr id="67" name="Oval 66"/>
          <p:cNvSpPr/>
          <p:nvPr/>
        </p:nvSpPr>
        <p:spPr>
          <a:xfrm>
            <a:off x="7635240" y="4809744"/>
            <a:ext cx="91440" cy="9144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863840" y="4736592"/>
            <a:ext cx="3779215" cy="274320"/>
          </a:xfrm>
          <a:prstGeom prst="rect">
            <a:avLst/>
          </a:prstGeom>
          <a:noFill/>
        </p:spPr>
        <p:txBody>
          <a:bodyPr wrap="square" lIns="0" rIns="0" tIns="0" bIns="0" anchor="t">
            <a:spAutoFit/>
          </a:bodyPr>
          <a:lstStyle/>
          <a:p>
            <a:pPr algn="l">
              <a:lnSpc>
                <a:spcPct val="115000"/>
              </a:lnSpc>
              <a:spcAft>
                <a:spcPts val="0"/>
              </a:spcAft>
            </a:pPr>
            <a:r>
              <a:rPr sz="1400" b="1">
                <a:solidFill>
                  <a:srgbClr val="172733"/>
                </a:solidFill>
                <a:latin typeface="Open Sans"/>
              </a:rPr>
              <a:t>Nu rămâne nimic</a:t>
            </a:r>
          </a:p>
        </p:txBody>
      </p:sp>
      <p:sp>
        <p:nvSpPr>
          <p:cNvPr id="69" name="TextBox 68"/>
          <p:cNvSpPr txBox="1"/>
          <p:nvPr/>
        </p:nvSpPr>
        <p:spPr>
          <a:xfrm>
            <a:off x="7863840" y="5010912"/>
            <a:ext cx="3779215" cy="50292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Ce nu este ridicat dispare după cel mult 24 de ore. Un loc de trecere, nu un depozit.</a:t>
            </a:r>
          </a:p>
        </p:txBody>
      </p:sp>
      <p:sp>
        <p:nvSpPr>
          <p:cNvPr id="70" name="Rounded Rectangle 69"/>
          <p:cNvSpPr/>
          <p:nvPr/>
        </p:nvSpPr>
        <p:spPr>
          <a:xfrm>
            <a:off x="7635240" y="5513832"/>
            <a:ext cx="4007815" cy="658368"/>
          </a:xfrm>
          <a:prstGeom prst="roundRect">
            <a:avLst>
              <a:gd name="adj" fmla="val 13888"/>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799831" y="5513832"/>
            <a:ext cx="3733495" cy="658368"/>
          </a:xfrm>
          <a:prstGeom prst="rect">
            <a:avLst/>
          </a:prstGeom>
          <a:noFill/>
        </p:spPr>
        <p:txBody>
          <a:bodyPr wrap="square" lIns="0" rIns="0" tIns="0" bIns="0" anchor="ctr">
            <a:spAutoFit/>
          </a:bodyPr>
          <a:lstStyle/>
          <a:p>
            <a:pPr algn="l">
              <a:lnSpc>
                <a:spcPct val="115000"/>
              </a:lnSpc>
              <a:spcAft>
                <a:spcPts val="0"/>
              </a:spcAft>
            </a:pPr>
            <a:r>
              <a:rPr sz="1000" b="0">
                <a:solidFill>
                  <a:srgbClr val="A8500F"/>
                </a:solidFill>
                <a:latin typeface="Open Sans"/>
              </a:rPr>
              <a:t>Raportarea din browser nu folosește Tor: serverul tău vede adresa IP. Primul ecran spune asta. Aplicația nu are această limită.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Testat · neauditat independent · necertificat</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RO</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3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CE PRIMEȘTE ORGANIZAȚIA TA</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O raportare, de la primul mesaj la închidere.</a:t>
            </a:r>
          </a:p>
        </p:txBody>
      </p:sp>
      <p:sp>
        <p:nvSpPr>
          <p:cNvPr id="15" name="TextBox 14"/>
          <p:cNvSpPr txBox="1"/>
          <p:nvPr/>
        </p:nvSpPr>
        <p:spPr>
          <a:xfrm>
            <a:off x="548640" y="1591056"/>
            <a:ext cx="11094415" cy="365760"/>
          </a:xfrm>
          <a:prstGeom prst="rect">
            <a:avLst/>
          </a:prstGeom>
          <a:noFill/>
        </p:spPr>
        <p:txBody>
          <a:bodyPr wrap="square" lIns="0" rIns="0" tIns="0" bIns="0" anchor="t">
            <a:spAutoFit/>
          </a:bodyPr>
          <a:lstStyle/>
          <a:p>
            <a:pPr algn="l">
              <a:lnSpc>
                <a:spcPct val="115000"/>
              </a:lnSpc>
              <a:spcAft>
                <a:spcPts val="0"/>
              </a:spcAft>
            </a:pPr>
            <a:r>
              <a:rPr sz="1500" b="0">
                <a:solidFill>
                  <a:srgbClr val="505B63"/>
                </a:solidFill>
                <a:latin typeface="Open Sans"/>
              </a:rPr>
              <a:t>Cinci pași. Responsabilii de caz văd mereu următorul termen.</a:t>
            </a:r>
          </a:p>
        </p:txBody>
      </p:sp>
      <p:sp>
        <p:nvSpPr>
          <p:cNvPr id="16" name="Rounded Rectangle 15"/>
          <p:cNvSpPr/>
          <p:nvPr/>
        </p:nvSpPr>
        <p:spPr>
          <a:xfrm>
            <a:off x="548640"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04672" y="2423160"/>
            <a:ext cx="457200" cy="45720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1</a:t>
            </a:r>
          </a:p>
        </p:txBody>
      </p:sp>
      <p:sp>
        <p:nvSpPr>
          <p:cNvPr id="19" name="TextBox 18"/>
          <p:cNvSpPr txBox="1"/>
          <p:nvPr/>
        </p:nvSpPr>
        <p:spPr>
          <a:xfrm>
            <a:off x="804672"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Raportare</a:t>
            </a:r>
          </a:p>
        </p:txBody>
      </p:sp>
      <p:sp>
        <p:nvSpPr>
          <p:cNvPr id="20" name="TextBox 19"/>
          <p:cNvSpPr txBox="1"/>
          <p:nvPr/>
        </p:nvSpPr>
        <p:spPr>
          <a:xfrm>
            <a:off x="804672" y="3666744"/>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Un angajat raportează în aplicație sau în browser, pornind de la codul QR de pe afișul de la locul de muncă. Fără nume.</a:t>
            </a:r>
          </a:p>
        </p:txBody>
      </p:sp>
      <p:sp>
        <p:nvSpPr>
          <p:cNvPr id="21" name="Rounded Rectangle 20"/>
          <p:cNvSpPr/>
          <p:nvPr/>
        </p:nvSpPr>
        <p:spPr>
          <a:xfrm>
            <a:off x="2807756"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063788" y="2423160"/>
            <a:ext cx="457200" cy="45720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063788"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2</a:t>
            </a:r>
          </a:p>
        </p:txBody>
      </p:sp>
      <p:sp>
        <p:nvSpPr>
          <p:cNvPr id="24" name="TextBox 23"/>
          <p:cNvSpPr txBox="1"/>
          <p:nvPr/>
        </p:nvSpPr>
        <p:spPr>
          <a:xfrm>
            <a:off x="3063788"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Cod de caz</a:t>
            </a:r>
          </a:p>
        </p:txBody>
      </p:sp>
      <p:sp>
        <p:nvSpPr>
          <p:cNvPr id="25" name="TextBox 24"/>
          <p:cNvSpPr txBox="1"/>
          <p:nvPr/>
        </p:nvSpPr>
        <p:spPr>
          <a:xfrm>
            <a:off x="3063788" y="3666744"/>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Sesizantul primește un cod de caz aleatoriu și urmărește cazul cu el.</a:t>
            </a:r>
          </a:p>
        </p:txBody>
      </p:sp>
      <p:sp>
        <p:nvSpPr>
          <p:cNvPr id="26" name="Rounded Rectangle 25"/>
          <p:cNvSpPr/>
          <p:nvPr/>
        </p:nvSpPr>
        <p:spPr>
          <a:xfrm>
            <a:off x="5066873"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322905" y="2423160"/>
            <a:ext cx="457200" cy="457200"/>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322905"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3</a:t>
            </a:r>
          </a:p>
        </p:txBody>
      </p:sp>
      <p:sp>
        <p:nvSpPr>
          <p:cNvPr id="29" name="TextBox 28"/>
          <p:cNvSpPr txBox="1"/>
          <p:nvPr/>
        </p:nvSpPr>
        <p:spPr>
          <a:xfrm>
            <a:off x="5322905"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Confirmare</a:t>
            </a:r>
          </a:p>
        </p:txBody>
      </p:sp>
      <p:sp>
        <p:nvSpPr>
          <p:cNvPr id="30" name="Rounded Rectangle 29"/>
          <p:cNvSpPr/>
          <p:nvPr/>
        </p:nvSpPr>
        <p:spPr>
          <a:xfrm>
            <a:off x="5322905" y="3666744"/>
            <a:ext cx="883996" cy="274320"/>
          </a:xfrm>
          <a:prstGeom prst="roundRect">
            <a:avLst>
              <a:gd name="adj" fmla="val 50000"/>
            </a:avLst>
          </a:prstGeom>
          <a:solidFill>
            <a:srgbClr val="E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322905" y="3666744"/>
            <a:ext cx="883996" cy="274320"/>
          </a:xfrm>
          <a:prstGeom prst="rect">
            <a:avLst/>
          </a:prstGeom>
          <a:noFill/>
        </p:spPr>
        <p:txBody>
          <a:bodyPr wrap="square" lIns="0" rIns="0" tIns="0" bIns="0" anchor="ctr">
            <a:spAutoFit/>
          </a:bodyPr>
          <a:lstStyle/>
          <a:p>
            <a:pPr algn="ctr">
              <a:lnSpc>
                <a:spcPct val="115000"/>
              </a:lnSpc>
              <a:spcAft>
                <a:spcPts val="0"/>
              </a:spcAft>
            </a:pPr>
            <a:r>
              <a:rPr sz="950" b="1">
                <a:solidFill>
                  <a:srgbClr val="307098"/>
                </a:solidFill>
                <a:latin typeface="DejaVu Sans Mono"/>
              </a:rPr>
              <a:t>în 7 zile</a:t>
            </a:r>
          </a:p>
        </p:txBody>
      </p:sp>
      <p:sp>
        <p:nvSpPr>
          <p:cNvPr id="32" name="TextBox 31"/>
          <p:cNvSpPr txBox="1"/>
          <p:nvPr/>
        </p:nvSpPr>
        <p:spPr>
          <a:xfrm>
            <a:off x="5322905" y="4050791"/>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Responsabilul de caz confirmă primirea raportării.</a:t>
            </a:r>
          </a:p>
        </p:txBody>
      </p:sp>
      <p:sp>
        <p:nvSpPr>
          <p:cNvPr id="33" name="Rounded Rectangle 32"/>
          <p:cNvSpPr/>
          <p:nvPr/>
        </p:nvSpPr>
        <p:spPr>
          <a:xfrm>
            <a:off x="7325989"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582021" y="2423160"/>
            <a:ext cx="457200" cy="457200"/>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582021"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4</a:t>
            </a:r>
          </a:p>
        </p:txBody>
      </p:sp>
      <p:sp>
        <p:nvSpPr>
          <p:cNvPr id="36" name="TextBox 35"/>
          <p:cNvSpPr txBox="1"/>
          <p:nvPr/>
        </p:nvSpPr>
        <p:spPr>
          <a:xfrm>
            <a:off x="7582021"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Dialog</a:t>
            </a:r>
          </a:p>
        </p:txBody>
      </p:sp>
      <p:sp>
        <p:nvSpPr>
          <p:cNvPr id="37" name="TextBox 36"/>
          <p:cNvSpPr txBox="1"/>
          <p:nvPr/>
        </p:nvSpPr>
        <p:spPr>
          <a:xfrm>
            <a:off x="7582021" y="3666744"/>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Responsabilul pune întrebări. Sesizantul răspunde fără să-și dea datele de contact.</a:t>
            </a:r>
          </a:p>
        </p:txBody>
      </p:sp>
      <p:sp>
        <p:nvSpPr>
          <p:cNvPr id="38" name="Rounded Rectangle 37"/>
          <p:cNvSpPr/>
          <p:nvPr/>
        </p:nvSpPr>
        <p:spPr>
          <a:xfrm>
            <a:off x="9585106" y="2148840"/>
            <a:ext cx="2057948" cy="2971800"/>
          </a:xfrm>
          <a:prstGeom prst="roundRect">
            <a:avLst>
              <a:gd name="adj" fmla="val 742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841138" y="2423160"/>
            <a:ext cx="457200" cy="457200"/>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841138" y="2423160"/>
            <a:ext cx="457200" cy="457200"/>
          </a:xfrm>
          <a:prstGeom prst="rect">
            <a:avLst/>
          </a:prstGeom>
          <a:noFill/>
        </p:spPr>
        <p:txBody>
          <a:bodyPr wrap="square" lIns="0" rIns="0" tIns="0" bIns="0" anchor="ctr">
            <a:spAutoFit/>
          </a:bodyPr>
          <a:lstStyle/>
          <a:p>
            <a:pPr algn="ctr">
              <a:lnSpc>
                <a:spcPct val="115000"/>
              </a:lnSpc>
              <a:spcAft>
                <a:spcPts val="0"/>
              </a:spcAft>
            </a:pPr>
            <a:r>
              <a:rPr sz="1600" b="1">
                <a:solidFill>
                  <a:srgbClr val="FFFFFF"/>
                </a:solidFill>
                <a:latin typeface="Open Sans"/>
              </a:rPr>
              <a:t>5</a:t>
            </a:r>
          </a:p>
        </p:txBody>
      </p:sp>
      <p:sp>
        <p:nvSpPr>
          <p:cNvPr id="41" name="TextBox 40"/>
          <p:cNvSpPr txBox="1"/>
          <p:nvPr/>
        </p:nvSpPr>
        <p:spPr>
          <a:xfrm>
            <a:off x="9841138" y="3044952"/>
            <a:ext cx="1710476" cy="594360"/>
          </a:xfrm>
          <a:prstGeom prst="rect">
            <a:avLst/>
          </a:prstGeom>
          <a:noFill/>
        </p:spPr>
        <p:txBody>
          <a:bodyPr wrap="square" lIns="0" rIns="0" tIns="0" bIns="0" anchor="t">
            <a:spAutoFit/>
          </a:bodyPr>
          <a:lstStyle/>
          <a:p>
            <a:pPr algn="l">
              <a:lnSpc>
                <a:spcPct val="115000"/>
              </a:lnSpc>
              <a:spcAft>
                <a:spcPts val="0"/>
              </a:spcAft>
            </a:pPr>
            <a:r>
              <a:rPr sz="1350" b="1">
                <a:solidFill>
                  <a:srgbClr val="172733"/>
                </a:solidFill>
                <a:latin typeface="Open Sans"/>
              </a:rPr>
              <a:t>Răspuns, închidere</a:t>
            </a:r>
          </a:p>
        </p:txBody>
      </p:sp>
      <p:sp>
        <p:nvSpPr>
          <p:cNvPr id="42" name="Rounded Rectangle 41"/>
          <p:cNvSpPr/>
          <p:nvPr/>
        </p:nvSpPr>
        <p:spPr>
          <a:xfrm>
            <a:off x="9841138" y="3666744"/>
            <a:ext cx="883996" cy="274320"/>
          </a:xfrm>
          <a:prstGeom prst="roundRect">
            <a:avLst>
              <a:gd name="adj" fmla="val 50000"/>
            </a:avLst>
          </a:prstGeom>
          <a:solidFill>
            <a:srgbClr val="E3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841138" y="3666744"/>
            <a:ext cx="883996" cy="274320"/>
          </a:xfrm>
          <a:prstGeom prst="rect">
            <a:avLst/>
          </a:prstGeom>
          <a:noFill/>
        </p:spPr>
        <p:txBody>
          <a:bodyPr wrap="square" lIns="0" rIns="0" tIns="0" bIns="0" anchor="ctr">
            <a:spAutoFit/>
          </a:bodyPr>
          <a:lstStyle/>
          <a:p>
            <a:pPr algn="ctr">
              <a:lnSpc>
                <a:spcPct val="115000"/>
              </a:lnSpc>
              <a:spcAft>
                <a:spcPts val="0"/>
              </a:spcAft>
            </a:pPr>
            <a:r>
              <a:rPr sz="950" b="1">
                <a:solidFill>
                  <a:srgbClr val="307098"/>
                </a:solidFill>
                <a:latin typeface="DejaVu Sans Mono"/>
              </a:rPr>
              <a:t>în 3 luni</a:t>
            </a:r>
          </a:p>
        </p:txBody>
      </p:sp>
      <p:sp>
        <p:nvSpPr>
          <p:cNvPr id="44" name="TextBox 43"/>
          <p:cNvSpPr txBox="1"/>
          <p:nvPr/>
        </p:nvSpPr>
        <p:spPr>
          <a:xfrm>
            <a:off x="9841138" y="4050791"/>
            <a:ext cx="1600748" cy="91440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Responsabilul comunică măsurile luate și închide cazul.</a:t>
            </a:r>
          </a:p>
        </p:txBody>
      </p:sp>
      <p:sp>
        <p:nvSpPr>
          <p:cNvPr id="45" name="Rectangle 44"/>
          <p:cNvSpPr/>
          <p:nvPr/>
        </p:nvSpPr>
        <p:spPr>
          <a:xfrm>
            <a:off x="731520" y="5440680"/>
            <a:ext cx="10728655" cy="45720"/>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649224" y="5381244"/>
            <a:ext cx="164592" cy="164592"/>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82879" y="5605272"/>
            <a:ext cx="1828800" cy="274320"/>
          </a:xfrm>
          <a:prstGeom prst="rect">
            <a:avLst/>
          </a:prstGeom>
          <a:noFill/>
        </p:spPr>
        <p:txBody>
          <a:bodyPr wrap="square" lIns="0" rIns="0" tIns="0" bIns="0" anchor="t">
            <a:spAutoFit/>
          </a:bodyPr>
          <a:lstStyle/>
          <a:p>
            <a:pPr algn="ctr">
              <a:lnSpc>
                <a:spcPct val="115000"/>
              </a:lnSpc>
              <a:spcAft>
                <a:spcPts val="0"/>
              </a:spcAft>
            </a:pPr>
            <a:r>
              <a:rPr sz="1000" b="1">
                <a:solidFill>
                  <a:srgbClr val="0F2A3A"/>
                </a:solidFill>
                <a:latin typeface="DejaVu Sans Mono"/>
              </a:rPr>
              <a:t>Ziua 0</a:t>
            </a:r>
          </a:p>
        </p:txBody>
      </p:sp>
      <p:sp>
        <p:nvSpPr>
          <p:cNvPr id="48" name="Oval 47"/>
          <p:cNvSpPr/>
          <p:nvPr/>
        </p:nvSpPr>
        <p:spPr>
          <a:xfrm>
            <a:off x="6013551" y="5381244"/>
            <a:ext cx="164592" cy="164592"/>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181447" y="5605272"/>
            <a:ext cx="1828800" cy="274320"/>
          </a:xfrm>
          <a:prstGeom prst="rect">
            <a:avLst/>
          </a:prstGeom>
          <a:noFill/>
        </p:spPr>
        <p:txBody>
          <a:bodyPr wrap="square" lIns="0" rIns="0" tIns="0" bIns="0" anchor="t">
            <a:spAutoFit/>
          </a:bodyPr>
          <a:lstStyle/>
          <a:p>
            <a:pPr algn="ctr">
              <a:lnSpc>
                <a:spcPct val="115000"/>
              </a:lnSpc>
              <a:spcAft>
                <a:spcPts val="0"/>
              </a:spcAft>
            </a:pPr>
            <a:r>
              <a:rPr sz="1000" b="1">
                <a:solidFill>
                  <a:srgbClr val="0F2A3A"/>
                </a:solidFill>
                <a:latin typeface="DejaVu Sans Mono"/>
              </a:rPr>
              <a:t>7 zile</a:t>
            </a:r>
          </a:p>
        </p:txBody>
      </p:sp>
      <p:sp>
        <p:nvSpPr>
          <p:cNvPr id="50" name="Oval 49"/>
          <p:cNvSpPr/>
          <p:nvPr/>
        </p:nvSpPr>
        <p:spPr>
          <a:xfrm>
            <a:off x="10531784" y="5381244"/>
            <a:ext cx="164592" cy="164592"/>
          </a:xfrm>
          <a:prstGeom prst="ellipse">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699680" y="5605272"/>
            <a:ext cx="1828800" cy="274320"/>
          </a:xfrm>
          <a:prstGeom prst="rect">
            <a:avLst/>
          </a:prstGeom>
          <a:noFill/>
        </p:spPr>
        <p:txBody>
          <a:bodyPr wrap="square" lIns="0" rIns="0" tIns="0" bIns="0" anchor="t">
            <a:spAutoFit/>
          </a:bodyPr>
          <a:lstStyle/>
          <a:p>
            <a:pPr algn="ctr">
              <a:lnSpc>
                <a:spcPct val="115000"/>
              </a:lnSpc>
              <a:spcAft>
                <a:spcPts val="0"/>
              </a:spcAft>
            </a:pPr>
            <a:r>
              <a:rPr sz="1000" b="1">
                <a:solidFill>
                  <a:srgbClr val="0F2A3A"/>
                </a:solidFill>
                <a:latin typeface="DejaVu Sans Mono"/>
              </a:rPr>
              <a:t>3 luni</a:t>
            </a:r>
          </a:p>
        </p:txBody>
      </p:sp>
      <p:sp>
        <p:nvSpPr>
          <p:cNvPr id="52" name="TextBox 51"/>
          <p:cNvSpPr txBox="1"/>
          <p:nvPr/>
        </p:nvSpPr>
        <p:spPr>
          <a:xfrm>
            <a:off x="548640" y="5943600"/>
            <a:ext cx="11094415" cy="320040"/>
          </a:xfrm>
          <a:prstGeom prst="rect">
            <a:avLst/>
          </a:prstGeom>
          <a:noFill/>
        </p:spPr>
        <p:txBody>
          <a:bodyPr wrap="square" lIns="0" rIns="0" tIns="0" bIns="0" anchor="t">
            <a:spAutoFit/>
          </a:bodyPr>
          <a:lstStyle/>
          <a:p>
            <a:pPr algn="ctr">
              <a:lnSpc>
                <a:spcPct val="115000"/>
              </a:lnSpc>
              <a:spcAft>
                <a:spcPts val="0"/>
              </a:spcAft>
            </a:pPr>
            <a:r>
              <a:rPr sz="1200" b="0">
                <a:solidFill>
                  <a:srgbClr val="505B63"/>
                </a:solidFill>
                <a:latin typeface="Open Sans"/>
              </a:rPr>
              <a:t>Pagina de raportare și codul QR, în română și engleză.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Testat · neauditat independent · necertificat</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RO</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4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GESTIONAREA CAZURILOR ȘI TERMENE</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Toate cazurile într-o singură privire.</a:t>
            </a:r>
          </a:p>
        </p:txBody>
      </p:sp>
      <p:sp>
        <p:nvSpPr>
          <p:cNvPr id="15" name="Rounded Rectangle 14"/>
          <p:cNvSpPr/>
          <p:nvPr/>
        </p:nvSpPr>
        <p:spPr>
          <a:xfrm>
            <a:off x="548640" y="1600200"/>
            <a:ext cx="5806440" cy="3749039"/>
          </a:xfrm>
          <a:prstGeom prst="roundRect">
            <a:avLst>
              <a:gd name="adj" fmla="val 4073"/>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77240" y="1801368"/>
            <a:ext cx="918971" cy="274320"/>
          </a:xfrm>
          <a:prstGeom prst="roundRect">
            <a:avLst>
              <a:gd name="adj" fmla="val 50000"/>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1801368"/>
            <a:ext cx="918971" cy="274320"/>
          </a:xfrm>
          <a:prstGeom prst="rect">
            <a:avLst/>
          </a:prstGeom>
          <a:noFill/>
        </p:spPr>
        <p:txBody>
          <a:bodyPr wrap="square" lIns="0" rIns="0" tIns="0" bIns="0" anchor="ctr">
            <a:spAutoFit/>
          </a:bodyPr>
          <a:lstStyle/>
          <a:p>
            <a:pPr algn="ctr">
              <a:lnSpc>
                <a:spcPct val="115000"/>
              </a:lnSpc>
              <a:spcAft>
                <a:spcPts val="0"/>
              </a:spcAft>
            </a:pPr>
            <a:r>
              <a:rPr sz="900" b="1">
                <a:solidFill>
                  <a:srgbClr val="A8500F"/>
                </a:solidFill>
                <a:latin typeface="DejaVu Sans Mono"/>
              </a:rPr>
              <a:t>Ilustrație</a:t>
            </a:r>
          </a:p>
        </p:txBody>
      </p:sp>
      <p:sp>
        <p:nvSpPr>
          <p:cNvPr id="18" name="Rounded Rectangle 17"/>
          <p:cNvSpPr/>
          <p:nvPr/>
        </p:nvSpPr>
        <p:spPr>
          <a:xfrm>
            <a:off x="777240" y="2240280"/>
            <a:ext cx="5349240" cy="411480"/>
          </a:xfrm>
          <a:prstGeom prst="roundRect">
            <a:avLst>
              <a:gd name="adj" fmla="val 13333"/>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2240280"/>
            <a:ext cx="2743200" cy="411480"/>
          </a:xfrm>
          <a:prstGeom prst="rect">
            <a:avLst/>
          </a:prstGeom>
          <a:noFill/>
        </p:spPr>
        <p:txBody>
          <a:bodyPr wrap="square" lIns="0" rIns="0" tIns="0" bIns="0" anchor="ctr">
            <a:spAutoFit/>
          </a:bodyPr>
          <a:lstStyle/>
          <a:p>
            <a:pPr algn="l">
              <a:lnSpc>
                <a:spcPct val="115000"/>
              </a:lnSpc>
              <a:spcAft>
                <a:spcPts val="0"/>
              </a:spcAft>
            </a:pPr>
            <a:r>
              <a:rPr sz="1200" b="1">
                <a:solidFill>
                  <a:srgbClr val="FFFFFF"/>
                </a:solidFill>
                <a:latin typeface="Open Sans"/>
              </a:rPr>
              <a:t>Cazuri</a:t>
            </a:r>
          </a:p>
        </p:txBody>
      </p:sp>
      <p:sp>
        <p:nvSpPr>
          <p:cNvPr id="20" name="TextBox 19"/>
          <p:cNvSpPr txBox="1"/>
          <p:nvPr/>
        </p:nvSpPr>
        <p:spPr>
          <a:xfrm>
            <a:off x="960120" y="2788920"/>
            <a:ext cx="1828800" cy="228600"/>
          </a:xfrm>
          <a:prstGeom prst="rect">
            <a:avLst/>
          </a:prstGeom>
          <a:noFill/>
        </p:spPr>
        <p:txBody>
          <a:bodyPr wrap="square" lIns="0" rIns="0" tIns="0" bIns="0" anchor="t">
            <a:spAutoFit/>
          </a:bodyPr>
          <a:lstStyle/>
          <a:p>
            <a:pPr algn="l">
              <a:lnSpc>
                <a:spcPct val="115000"/>
              </a:lnSpc>
              <a:spcAft>
                <a:spcPts val="0"/>
              </a:spcAft>
            </a:pPr>
            <a:r>
              <a:rPr sz="850" b="1">
                <a:solidFill>
                  <a:srgbClr val="505B63"/>
                </a:solidFill>
                <a:latin typeface="DejaVu Sans Mono"/>
              </a:rPr>
              <a:t>COD DE CAZ</a:t>
            </a:r>
          </a:p>
        </p:txBody>
      </p:sp>
      <p:sp>
        <p:nvSpPr>
          <p:cNvPr id="21" name="TextBox 20"/>
          <p:cNvSpPr txBox="1"/>
          <p:nvPr/>
        </p:nvSpPr>
        <p:spPr>
          <a:xfrm>
            <a:off x="2560320" y="2788920"/>
            <a:ext cx="1828800" cy="228600"/>
          </a:xfrm>
          <a:prstGeom prst="rect">
            <a:avLst/>
          </a:prstGeom>
          <a:noFill/>
        </p:spPr>
        <p:txBody>
          <a:bodyPr wrap="square" lIns="0" rIns="0" tIns="0" bIns="0" anchor="t">
            <a:spAutoFit/>
          </a:bodyPr>
          <a:lstStyle/>
          <a:p>
            <a:pPr algn="l">
              <a:lnSpc>
                <a:spcPct val="115000"/>
              </a:lnSpc>
              <a:spcAft>
                <a:spcPts val="0"/>
              </a:spcAft>
            </a:pPr>
            <a:r>
              <a:rPr sz="850" b="1">
                <a:solidFill>
                  <a:srgbClr val="505B63"/>
                </a:solidFill>
                <a:latin typeface="DejaVu Sans Mono"/>
              </a:rPr>
              <a:t>CATEGORIE</a:t>
            </a:r>
          </a:p>
        </p:txBody>
      </p:sp>
      <p:sp>
        <p:nvSpPr>
          <p:cNvPr id="22" name="TextBox 21"/>
          <p:cNvSpPr txBox="1"/>
          <p:nvPr/>
        </p:nvSpPr>
        <p:spPr>
          <a:xfrm>
            <a:off x="3977639" y="2788920"/>
            <a:ext cx="1828800" cy="228600"/>
          </a:xfrm>
          <a:prstGeom prst="rect">
            <a:avLst/>
          </a:prstGeom>
          <a:noFill/>
        </p:spPr>
        <p:txBody>
          <a:bodyPr wrap="square" lIns="0" rIns="0" tIns="0" bIns="0" anchor="t">
            <a:spAutoFit/>
          </a:bodyPr>
          <a:lstStyle/>
          <a:p>
            <a:pPr algn="l">
              <a:lnSpc>
                <a:spcPct val="115000"/>
              </a:lnSpc>
              <a:spcAft>
                <a:spcPts val="0"/>
              </a:spcAft>
            </a:pPr>
            <a:r>
              <a:rPr sz="850" b="1">
                <a:solidFill>
                  <a:srgbClr val="505B63"/>
                </a:solidFill>
                <a:latin typeface="DejaVu Sans Mono"/>
              </a:rPr>
              <a:t>URMĂTORUL TERMEN</a:t>
            </a:r>
          </a:p>
        </p:txBody>
      </p:sp>
      <p:sp>
        <p:nvSpPr>
          <p:cNvPr id="23" name="Rounded Rectangle 22"/>
          <p:cNvSpPr/>
          <p:nvPr/>
        </p:nvSpPr>
        <p:spPr>
          <a:xfrm>
            <a:off x="777240" y="3081528"/>
            <a:ext cx="5349240" cy="438912"/>
          </a:xfrm>
          <a:prstGeom prst="roundRect">
            <a:avLst>
              <a:gd name="adj" fmla="val 12500"/>
            </a:avLst>
          </a:prstGeom>
          <a:solidFill>
            <a:srgbClr val="F7F9FA"/>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 y="3081528"/>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HW-M8ZC-4NQ7</a:t>
            </a:r>
          </a:p>
        </p:txBody>
      </p:sp>
      <p:sp>
        <p:nvSpPr>
          <p:cNvPr id="25" name="TextBox 24"/>
          <p:cNvSpPr txBox="1"/>
          <p:nvPr/>
        </p:nvSpPr>
        <p:spPr>
          <a:xfrm>
            <a:off x="2560320" y="3081528"/>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Conflict de interese</a:t>
            </a:r>
          </a:p>
        </p:txBody>
      </p:sp>
      <p:sp>
        <p:nvSpPr>
          <p:cNvPr id="26" name="Oval 25"/>
          <p:cNvSpPr/>
          <p:nvPr/>
        </p:nvSpPr>
        <p:spPr>
          <a:xfrm>
            <a:off x="3977639" y="3246120"/>
            <a:ext cx="109728" cy="109728"/>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60520" y="3081528"/>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B3261E"/>
                </a:solidFill>
                <a:latin typeface="Open Sans"/>
              </a:rPr>
              <a:t>Confirmare · azi</a:t>
            </a:r>
          </a:p>
        </p:txBody>
      </p:sp>
      <p:sp>
        <p:nvSpPr>
          <p:cNvPr id="28" name="Rounded Rectangle 27"/>
          <p:cNvSpPr/>
          <p:nvPr/>
        </p:nvSpPr>
        <p:spPr>
          <a:xfrm>
            <a:off x="777240" y="3593592"/>
            <a:ext cx="5349240" cy="438912"/>
          </a:xfrm>
          <a:prstGeom prst="roundRect">
            <a:avLst>
              <a:gd name="adj" fmla="val 1250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60120" y="3593592"/>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HW-7Q4M-2X9D</a:t>
            </a:r>
          </a:p>
        </p:txBody>
      </p:sp>
      <p:sp>
        <p:nvSpPr>
          <p:cNvPr id="30" name="TextBox 29"/>
          <p:cNvSpPr txBox="1"/>
          <p:nvPr/>
        </p:nvSpPr>
        <p:spPr>
          <a:xfrm>
            <a:off x="2560320" y="3593592"/>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Fraudă</a:t>
            </a:r>
          </a:p>
        </p:txBody>
      </p:sp>
      <p:sp>
        <p:nvSpPr>
          <p:cNvPr id="31" name="Oval 30"/>
          <p:cNvSpPr/>
          <p:nvPr/>
        </p:nvSpPr>
        <p:spPr>
          <a:xfrm>
            <a:off x="3977639" y="3758184"/>
            <a:ext cx="109728" cy="10972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160520" y="3593592"/>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B7791F"/>
                </a:solidFill>
                <a:latin typeface="Open Sans"/>
              </a:rPr>
              <a:t>Confirmare · 2 zile</a:t>
            </a:r>
          </a:p>
        </p:txBody>
      </p:sp>
      <p:sp>
        <p:nvSpPr>
          <p:cNvPr id="33" name="Rounded Rectangle 32"/>
          <p:cNvSpPr/>
          <p:nvPr/>
        </p:nvSpPr>
        <p:spPr>
          <a:xfrm>
            <a:off x="777240" y="4105656"/>
            <a:ext cx="5349240" cy="438912"/>
          </a:xfrm>
          <a:prstGeom prst="roundRect">
            <a:avLst>
              <a:gd name="adj" fmla="val 12500"/>
            </a:avLst>
          </a:prstGeom>
          <a:solidFill>
            <a:srgbClr val="F7F9FA"/>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0120" y="4105656"/>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HW-K3PA-9T6R</a:t>
            </a:r>
          </a:p>
        </p:txBody>
      </p:sp>
      <p:sp>
        <p:nvSpPr>
          <p:cNvPr id="35" name="TextBox 34"/>
          <p:cNvSpPr txBox="1"/>
          <p:nvPr/>
        </p:nvSpPr>
        <p:spPr>
          <a:xfrm>
            <a:off x="2560320" y="4105656"/>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Siguranță</a:t>
            </a:r>
          </a:p>
        </p:txBody>
      </p:sp>
      <p:sp>
        <p:nvSpPr>
          <p:cNvPr id="36" name="Oval 35"/>
          <p:cNvSpPr/>
          <p:nvPr/>
        </p:nvSpPr>
        <p:spPr>
          <a:xfrm>
            <a:off x="3977639" y="4270248"/>
            <a:ext cx="109728" cy="10972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160520" y="4105656"/>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2E7D4F"/>
                </a:solidFill>
                <a:latin typeface="Open Sans"/>
              </a:rPr>
              <a:t>Răspuns · 74 de zile</a:t>
            </a:r>
          </a:p>
        </p:txBody>
      </p:sp>
      <p:sp>
        <p:nvSpPr>
          <p:cNvPr id="38" name="Rounded Rectangle 37"/>
          <p:cNvSpPr/>
          <p:nvPr/>
        </p:nvSpPr>
        <p:spPr>
          <a:xfrm>
            <a:off x="777240" y="4617720"/>
            <a:ext cx="5349240" cy="438912"/>
          </a:xfrm>
          <a:prstGeom prst="roundRect">
            <a:avLst>
              <a:gd name="adj" fmla="val 12500"/>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60120" y="4617720"/>
            <a:ext cx="1645920" cy="438912"/>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HW-D4XV-8KMC</a:t>
            </a:r>
          </a:p>
        </p:txBody>
      </p:sp>
      <p:sp>
        <p:nvSpPr>
          <p:cNvPr id="40" name="TextBox 39"/>
          <p:cNvSpPr txBox="1"/>
          <p:nvPr/>
        </p:nvSpPr>
        <p:spPr>
          <a:xfrm>
            <a:off x="2560320" y="4617720"/>
            <a:ext cx="1463040" cy="438912"/>
          </a:xfrm>
          <a:prstGeom prst="rect">
            <a:avLst/>
          </a:prstGeom>
          <a:noFill/>
        </p:spPr>
        <p:txBody>
          <a:bodyPr wrap="square" lIns="0" rIns="0" tIns="0" bIns="0" anchor="ctr">
            <a:spAutoFit/>
          </a:bodyPr>
          <a:lstStyle/>
          <a:p>
            <a:pPr algn="l">
              <a:lnSpc>
                <a:spcPct val="115000"/>
              </a:lnSpc>
              <a:spcAft>
                <a:spcPts val="0"/>
              </a:spcAft>
            </a:pPr>
            <a:r>
              <a:rPr sz="1050" b="0">
                <a:solidFill>
                  <a:srgbClr val="172733"/>
                </a:solidFill>
                <a:latin typeface="Open Sans"/>
              </a:rPr>
              <a:t>Hărțuire</a:t>
            </a:r>
          </a:p>
        </p:txBody>
      </p:sp>
      <p:sp>
        <p:nvSpPr>
          <p:cNvPr id="41" name="Oval 40"/>
          <p:cNvSpPr/>
          <p:nvPr/>
        </p:nvSpPr>
        <p:spPr>
          <a:xfrm>
            <a:off x="3977639" y="4782312"/>
            <a:ext cx="109728" cy="109728"/>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160520" y="4617720"/>
            <a:ext cx="2011680" cy="438912"/>
          </a:xfrm>
          <a:prstGeom prst="rect">
            <a:avLst/>
          </a:prstGeom>
          <a:noFill/>
        </p:spPr>
        <p:txBody>
          <a:bodyPr wrap="square" lIns="0" rIns="0" tIns="0" bIns="0" anchor="ctr">
            <a:spAutoFit/>
          </a:bodyPr>
          <a:lstStyle/>
          <a:p>
            <a:pPr algn="l">
              <a:lnSpc>
                <a:spcPct val="115000"/>
              </a:lnSpc>
              <a:spcAft>
                <a:spcPts val="0"/>
              </a:spcAft>
            </a:pPr>
            <a:r>
              <a:rPr sz="1050" b="1">
                <a:solidFill>
                  <a:srgbClr val="2E7D4F"/>
                </a:solidFill>
                <a:latin typeface="Open Sans"/>
              </a:rPr>
              <a:t>Răspuns · 81 de zile</a:t>
            </a:r>
          </a:p>
        </p:txBody>
      </p:sp>
      <p:sp>
        <p:nvSpPr>
          <p:cNvPr id="43" name="Rounded Rectangle 42"/>
          <p:cNvSpPr/>
          <p:nvPr/>
        </p:nvSpPr>
        <p:spPr>
          <a:xfrm>
            <a:off x="3931920" y="2295144"/>
            <a:ext cx="960120" cy="301752"/>
          </a:xfrm>
          <a:prstGeom prst="roundRect">
            <a:avLst>
              <a:gd name="adj" fmla="val 24242"/>
            </a:avLst>
          </a:prstGeom>
          <a:solidFill>
            <a:srgbClr val="FFFFFF"/>
          </a:solidFill>
          <a:ln w="9525">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931920" y="2295144"/>
            <a:ext cx="960120" cy="301752"/>
          </a:xfrm>
          <a:prstGeom prst="rect">
            <a:avLst/>
          </a:prstGeom>
          <a:noFill/>
        </p:spPr>
        <p:txBody>
          <a:bodyPr wrap="square" lIns="0" rIns="0" tIns="0" bIns="0" anchor="ctr">
            <a:spAutoFit/>
          </a:bodyPr>
          <a:lstStyle/>
          <a:p>
            <a:pPr algn="ctr">
              <a:lnSpc>
                <a:spcPct val="115000"/>
              </a:lnSpc>
              <a:spcAft>
                <a:spcPts val="0"/>
              </a:spcAft>
            </a:pPr>
            <a:r>
              <a:rPr sz="1050" b="1">
                <a:solidFill>
                  <a:srgbClr val="307098"/>
                </a:solidFill>
                <a:latin typeface="Open Sans"/>
              </a:rPr>
              <a:t>Export</a:t>
            </a:r>
          </a:p>
        </p:txBody>
      </p:sp>
      <p:sp>
        <p:nvSpPr>
          <p:cNvPr id="45" name="Rounded Rectangle 44"/>
          <p:cNvSpPr/>
          <p:nvPr/>
        </p:nvSpPr>
        <p:spPr>
          <a:xfrm>
            <a:off x="4983479" y="2295144"/>
            <a:ext cx="960120" cy="301752"/>
          </a:xfrm>
          <a:prstGeom prst="roundRect">
            <a:avLst>
              <a:gd name="adj" fmla="val 24242"/>
            </a:avLst>
          </a:prstGeom>
          <a:solidFill>
            <a:srgbClr val="FFFFFF"/>
          </a:solidFill>
          <a:ln w="952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983479" y="2295144"/>
            <a:ext cx="960120" cy="301752"/>
          </a:xfrm>
          <a:prstGeom prst="rect">
            <a:avLst/>
          </a:prstGeom>
          <a:noFill/>
        </p:spPr>
        <p:txBody>
          <a:bodyPr wrap="square" lIns="0" rIns="0" tIns="0" bIns="0" anchor="ctr">
            <a:spAutoFit/>
          </a:bodyPr>
          <a:lstStyle/>
          <a:p>
            <a:pPr algn="ctr">
              <a:lnSpc>
                <a:spcPct val="115000"/>
              </a:lnSpc>
              <a:spcAft>
                <a:spcPts val="0"/>
              </a:spcAft>
            </a:pPr>
            <a:r>
              <a:rPr sz="1050" b="1">
                <a:solidFill>
                  <a:srgbClr val="B3261E"/>
                </a:solidFill>
                <a:latin typeface="Open Sans"/>
              </a:rPr>
              <a:t>Șterge</a:t>
            </a:r>
          </a:p>
        </p:txBody>
      </p:sp>
      <p:sp>
        <p:nvSpPr>
          <p:cNvPr id="47" name="Rectangle 46"/>
          <p:cNvSpPr/>
          <p:nvPr/>
        </p:nvSpPr>
        <p:spPr>
          <a:xfrm>
            <a:off x="6766559" y="1636776"/>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995159" y="1600200"/>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Termenele dintr-o privire</a:t>
            </a:r>
          </a:p>
        </p:txBody>
      </p:sp>
      <p:sp>
        <p:nvSpPr>
          <p:cNvPr id="49" name="TextBox 48"/>
          <p:cNvSpPr txBox="1"/>
          <p:nvPr/>
        </p:nvSpPr>
        <p:spPr>
          <a:xfrm>
            <a:off x="6995159" y="1892807"/>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Cazurile deschise, ordonate după următorul termen, marcate cu roșu, galben sau verde.</a:t>
            </a:r>
          </a:p>
        </p:txBody>
      </p:sp>
      <p:sp>
        <p:nvSpPr>
          <p:cNvPr id="50" name="Rectangle 49"/>
          <p:cNvSpPr/>
          <p:nvPr/>
        </p:nvSpPr>
        <p:spPr>
          <a:xfrm>
            <a:off x="6766559" y="2587752"/>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995159" y="2551176"/>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Ștergerea unui caz</a:t>
            </a:r>
          </a:p>
        </p:txBody>
      </p:sp>
      <p:sp>
        <p:nvSpPr>
          <p:cNvPr id="52" name="TextBox 51"/>
          <p:cNvSpPr txBox="1"/>
          <p:nvPr/>
        </p:nvSpPr>
        <p:spPr>
          <a:xfrm>
            <a:off x="6995159" y="2843784"/>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Responsabilul confirmă tastând codul cazului. Jurnalul de ștergeri păstrează doar codul și ora, fără conținut.</a:t>
            </a:r>
          </a:p>
        </p:txBody>
      </p:sp>
      <p:sp>
        <p:nvSpPr>
          <p:cNvPr id="53" name="Rectangle 52"/>
          <p:cNvSpPr/>
          <p:nvPr/>
        </p:nvSpPr>
        <p:spPr>
          <a:xfrm>
            <a:off x="6766559" y="3538728"/>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995159" y="3502152"/>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Exportul unui caz</a:t>
            </a:r>
          </a:p>
        </p:txBody>
      </p:sp>
      <p:sp>
        <p:nvSpPr>
          <p:cNvPr id="55" name="TextBox 54"/>
          <p:cNvSpPr txBox="1"/>
          <p:nvPr/>
        </p:nvSpPr>
        <p:spPr>
          <a:xfrm>
            <a:off x="6995159" y="3794760"/>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Un fișier tipăribil în română sau engleză, cu date, termene, schimbări de stare și întreaga conversație.</a:t>
            </a:r>
          </a:p>
        </p:txBody>
      </p:sp>
      <p:sp>
        <p:nvSpPr>
          <p:cNvPr id="56" name="Rectangle 55"/>
          <p:cNvSpPr/>
          <p:nvPr/>
        </p:nvSpPr>
        <p:spPr>
          <a:xfrm>
            <a:off x="6766559" y="4489704"/>
            <a:ext cx="54864" cy="713232"/>
          </a:xfrm>
          <a:prstGeom prst="rect">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995159" y="4453128"/>
            <a:ext cx="4647895" cy="274320"/>
          </a:xfrm>
          <a:prstGeom prst="rect">
            <a:avLst/>
          </a:prstGeom>
          <a:noFill/>
        </p:spPr>
        <p:txBody>
          <a:bodyPr wrap="square" lIns="0" rIns="0" tIns="0" bIns="0" anchor="t">
            <a:spAutoFit/>
          </a:bodyPr>
          <a:lstStyle/>
          <a:p>
            <a:pPr algn="l">
              <a:lnSpc>
                <a:spcPct val="115000"/>
              </a:lnSpc>
              <a:spcAft>
                <a:spcPts val="0"/>
              </a:spcAft>
            </a:pPr>
            <a:r>
              <a:rPr sz="1450" b="1">
                <a:solidFill>
                  <a:srgbClr val="172733"/>
                </a:solidFill>
                <a:latin typeface="Open Sans"/>
              </a:rPr>
              <a:t>Pachet de dovezi pentru DPO</a:t>
            </a:r>
          </a:p>
        </p:txBody>
      </p:sp>
      <p:sp>
        <p:nvSpPr>
          <p:cNvPr id="58" name="TextBox 57"/>
          <p:cNvSpPr txBox="1"/>
          <p:nvPr/>
        </p:nvSpPr>
        <p:spPr>
          <a:xfrm>
            <a:off x="6995159" y="4745736"/>
            <a:ext cx="4647895" cy="594360"/>
          </a:xfrm>
          <a:prstGeom prst="rect">
            <a:avLst/>
          </a:prstGeom>
          <a:noFill/>
        </p:spPr>
        <p:txBody>
          <a:bodyPr wrap="square" lIns="0" rIns="0" tIns="0" bIns="0" anchor="t">
            <a:spAutoFit/>
          </a:bodyPr>
          <a:lstStyle/>
          <a:p>
            <a:pPr algn="l">
              <a:lnSpc>
                <a:spcPct val="115000"/>
              </a:lnSpc>
              <a:spcAft>
                <a:spcPts val="0"/>
              </a:spcAft>
            </a:pPr>
            <a:r>
              <a:rPr sz="1150" b="0">
                <a:solidFill>
                  <a:srgbClr val="505B63"/>
                </a:solidFill>
                <a:latin typeface="Open Sans"/>
              </a:rPr>
              <a:t>Prezentare tehnică, măsuri tehnice și organizatorice, model de evaluare a impactului, model de acord de prelucrare.</a:t>
            </a:r>
          </a:p>
        </p:txBody>
      </p:sp>
      <p:sp>
        <p:nvSpPr>
          <p:cNvPr id="59" name="Rounded Rectangle 58"/>
          <p:cNvSpPr/>
          <p:nvPr/>
        </p:nvSpPr>
        <p:spPr>
          <a:xfrm>
            <a:off x="548640" y="5532120"/>
            <a:ext cx="11094415" cy="640080"/>
          </a:xfrm>
          <a:prstGeom prst="roundRect">
            <a:avLst>
              <a:gd name="adj" fmla="val 14285"/>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22959" y="5532120"/>
            <a:ext cx="10545775" cy="640080"/>
          </a:xfrm>
          <a:prstGeom prst="rect">
            <a:avLst/>
          </a:prstGeom>
          <a:noFill/>
        </p:spPr>
        <p:txBody>
          <a:bodyPr wrap="square" lIns="0" rIns="0" tIns="0" bIns="0" anchor="ctr">
            <a:spAutoFit/>
          </a:bodyPr>
          <a:lstStyle/>
          <a:p>
            <a:pPr algn="l">
              <a:lnSpc>
                <a:spcPct val="115000"/>
              </a:lnSpc>
              <a:spcAft>
                <a:spcPts val="0"/>
              </a:spcAft>
            </a:pPr>
            <a:r>
              <a:rPr sz="1100" b="0">
                <a:solidFill>
                  <a:srgbClr val="505B63"/>
                </a:solidFill>
                <a:latin typeface="Open Sans"/>
              </a:rPr>
              <a:t>Arhitectura sprijină minimizarea datelor, limitarea stocării și confidențialitatea (GDPR art. 5, 25, 32). Organizația ta este operatorul; DPO-ul sau juristul tău confirmă.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Testat · neauditat independent · necertificat</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RO</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5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LEGEA 361/2022 PE SCURT</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Ce cere legea organizației tale.</a:t>
            </a:r>
          </a:p>
        </p:txBody>
      </p:sp>
      <p:sp>
        <p:nvSpPr>
          <p:cNvPr id="15" name="TextBox 14"/>
          <p:cNvSpPr txBox="1"/>
          <p:nvPr/>
        </p:nvSpPr>
        <p:spPr>
          <a:xfrm>
            <a:off x="548640" y="1591056"/>
            <a:ext cx="11094415" cy="365760"/>
          </a:xfrm>
          <a:prstGeom prst="rect">
            <a:avLst/>
          </a:prstGeom>
          <a:noFill/>
        </p:spPr>
        <p:txBody>
          <a:bodyPr wrap="square" lIns="0" rIns="0" tIns="0" bIns="0" anchor="t">
            <a:spAutoFit/>
          </a:bodyPr>
          <a:lstStyle/>
          <a:p>
            <a:pPr algn="l">
              <a:lnSpc>
                <a:spcPct val="115000"/>
              </a:lnSpc>
              <a:spcAft>
                <a:spcPts val="0"/>
              </a:spcAft>
            </a:pPr>
            <a:r>
              <a:rPr sz="1500" b="0">
                <a:solidFill>
                  <a:srgbClr val="505B63"/>
                </a:solidFill>
                <a:latin typeface="Open Sans"/>
              </a:rPr>
              <a:t>România a transpus Directiva (UE) 2019/1937 prin Legea 361/2022.</a:t>
            </a:r>
          </a:p>
        </p:txBody>
      </p:sp>
      <p:sp>
        <p:nvSpPr>
          <p:cNvPr id="16" name="Rounded Rectangle 15"/>
          <p:cNvSpPr/>
          <p:nvPr/>
        </p:nvSpPr>
        <p:spPr>
          <a:xfrm>
            <a:off x="548640"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CINE</a:t>
            </a:r>
          </a:p>
        </p:txBody>
      </p:sp>
      <p:sp>
        <p:nvSpPr>
          <p:cNvPr id="18" name="TextBox 17"/>
          <p:cNvSpPr txBox="1"/>
          <p:nvPr/>
        </p:nvSpPr>
        <p:spPr>
          <a:xfrm>
            <a:off x="822959"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50+ angajați</a:t>
            </a:r>
          </a:p>
        </p:txBody>
      </p:sp>
      <p:sp>
        <p:nvSpPr>
          <p:cNvPr id="19" name="TextBox 18"/>
          <p:cNvSpPr txBox="1"/>
          <p:nvPr/>
        </p:nvSpPr>
        <p:spPr>
          <a:xfrm>
            <a:off x="822959"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Angajatorii privați cu 50 de angajați sau mai mult au nevoie de un canal intern de raportare. Pentru 50–249 de angajați, din 17.12.2023.</a:t>
            </a:r>
          </a:p>
        </p:txBody>
      </p:sp>
      <p:sp>
        <p:nvSpPr>
          <p:cNvPr id="20" name="Rounded Rectangle 19"/>
          <p:cNvSpPr/>
          <p:nvPr/>
        </p:nvSpPr>
        <p:spPr>
          <a:xfrm>
            <a:off x="3390823"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665143"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TERMENE</a:t>
            </a:r>
          </a:p>
        </p:txBody>
      </p:sp>
      <p:sp>
        <p:nvSpPr>
          <p:cNvPr id="22" name="TextBox 21"/>
          <p:cNvSpPr txBox="1"/>
          <p:nvPr/>
        </p:nvSpPr>
        <p:spPr>
          <a:xfrm>
            <a:off x="3665143"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7 zile · 3 luni</a:t>
            </a:r>
          </a:p>
        </p:txBody>
      </p:sp>
      <p:sp>
        <p:nvSpPr>
          <p:cNvPr id="23" name="TextBox 22"/>
          <p:cNvSpPr txBox="1"/>
          <p:nvPr/>
        </p:nvSpPr>
        <p:spPr>
          <a:xfrm>
            <a:off x="3665143"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Confirmarea primirii în 7 zile. Informarea sesizantului în 3 luni.</a:t>
            </a:r>
          </a:p>
        </p:txBody>
      </p:sp>
      <p:sp>
        <p:nvSpPr>
          <p:cNvPr id="24" name="Rounded Rectangle 23"/>
          <p:cNvSpPr/>
          <p:nvPr/>
        </p:nvSpPr>
        <p:spPr>
          <a:xfrm>
            <a:off x="6233007"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07327"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REGISTRU</a:t>
            </a:r>
          </a:p>
        </p:txBody>
      </p:sp>
      <p:sp>
        <p:nvSpPr>
          <p:cNvPr id="26" name="TextBox 25"/>
          <p:cNvSpPr txBox="1"/>
          <p:nvPr/>
        </p:nvSpPr>
        <p:spPr>
          <a:xfrm>
            <a:off x="6507327"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5 ani</a:t>
            </a:r>
          </a:p>
        </p:txBody>
      </p:sp>
      <p:sp>
        <p:nvSpPr>
          <p:cNvPr id="27" name="TextBox 26"/>
          <p:cNvSpPr txBox="1"/>
          <p:nvPr/>
        </p:nvSpPr>
        <p:spPr>
          <a:xfrm>
            <a:off x="6507327"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Raportările se păstrează 5 ani într-un registru.</a:t>
            </a:r>
          </a:p>
        </p:txBody>
      </p:sp>
      <p:sp>
        <p:nvSpPr>
          <p:cNvPr id="28" name="Rounded Rectangle 27"/>
          <p:cNvSpPr/>
          <p:nvPr/>
        </p:nvSpPr>
        <p:spPr>
          <a:xfrm>
            <a:off x="9075191" y="2148840"/>
            <a:ext cx="2567863" cy="3017520"/>
          </a:xfrm>
          <a:prstGeom prst="roundRect">
            <a:avLst>
              <a:gd name="adj" fmla="val 5946"/>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49511" y="2395728"/>
            <a:ext cx="2019223"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AUTORITATE</a:t>
            </a:r>
          </a:p>
        </p:txBody>
      </p:sp>
      <p:sp>
        <p:nvSpPr>
          <p:cNvPr id="30" name="TextBox 29"/>
          <p:cNvSpPr txBox="1"/>
          <p:nvPr/>
        </p:nvSpPr>
        <p:spPr>
          <a:xfrm>
            <a:off x="9349511" y="2697480"/>
            <a:ext cx="2019223" cy="731520"/>
          </a:xfrm>
          <a:prstGeom prst="rect">
            <a:avLst/>
          </a:prstGeom>
          <a:noFill/>
        </p:spPr>
        <p:txBody>
          <a:bodyPr wrap="square" lIns="0" rIns="0" tIns="0" bIns="0" anchor="t">
            <a:spAutoFit/>
          </a:bodyPr>
          <a:lstStyle/>
          <a:p>
            <a:pPr algn="l">
              <a:lnSpc>
                <a:spcPct val="115000"/>
              </a:lnSpc>
              <a:spcAft>
                <a:spcPts val="0"/>
              </a:spcAft>
            </a:pPr>
            <a:r>
              <a:rPr sz="2000" b="1">
                <a:solidFill>
                  <a:srgbClr val="0F2A3A"/>
                </a:solidFill>
                <a:latin typeface="Open Sans"/>
              </a:rPr>
              <a:t>ANI</a:t>
            </a:r>
          </a:p>
        </p:txBody>
      </p:sp>
      <p:sp>
        <p:nvSpPr>
          <p:cNvPr id="31" name="TextBox 30"/>
          <p:cNvSpPr txBox="1"/>
          <p:nvPr/>
        </p:nvSpPr>
        <p:spPr>
          <a:xfrm>
            <a:off x="9349511" y="3520440"/>
            <a:ext cx="2019223" cy="155448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Agenția Națională de Integritate este canalul extern de raportare și autoritatea care aplică sancțiunile.</a:t>
            </a:r>
          </a:p>
        </p:txBody>
      </p:sp>
      <p:sp>
        <p:nvSpPr>
          <p:cNvPr id="32" name="TextBox 31"/>
          <p:cNvSpPr txBox="1"/>
          <p:nvPr/>
        </p:nvSpPr>
        <p:spPr>
          <a:xfrm>
            <a:off x="548640" y="5376672"/>
            <a:ext cx="11094415" cy="320040"/>
          </a:xfrm>
          <a:prstGeom prst="rect">
            <a:avLst/>
          </a:prstGeom>
          <a:noFill/>
        </p:spPr>
        <p:txBody>
          <a:bodyPr wrap="square" lIns="0" rIns="0" tIns="0" bIns="0" anchor="t">
            <a:spAutoFit/>
          </a:bodyPr>
          <a:lstStyle/>
          <a:p>
            <a:pPr algn="l">
              <a:lnSpc>
                <a:spcPct val="115000"/>
              </a:lnSpc>
              <a:spcAft>
                <a:spcPts val="0"/>
              </a:spcAft>
            </a:pPr>
            <a:r>
              <a:rPr sz="1300" b="1">
                <a:solidFill>
                  <a:srgbClr val="172733"/>
                </a:solidFill>
                <a:latin typeface="Open Sans"/>
              </a:rPr>
              <a:t>Legea nu cere certificarea canalului de raportare.</a:t>
            </a:r>
          </a:p>
        </p:txBody>
      </p:sp>
      <p:sp>
        <p:nvSpPr>
          <p:cNvPr id="33" name="TextBox 32"/>
          <p:cNvSpPr txBox="1"/>
          <p:nvPr/>
        </p:nvSpPr>
        <p:spPr>
          <a:xfrm>
            <a:off x="548640" y="5779008"/>
            <a:ext cx="11094415" cy="457200"/>
          </a:xfrm>
          <a:prstGeom prst="rect">
            <a:avLst/>
          </a:prstGeom>
          <a:noFill/>
        </p:spPr>
        <p:txBody>
          <a:bodyPr wrap="square" lIns="0" rIns="0" tIns="0" bIns="0" anchor="t">
            <a:spAutoFit/>
          </a:bodyPr>
          <a:lstStyle/>
          <a:p>
            <a:pPr algn="l">
              <a:lnSpc>
                <a:spcPct val="115000"/>
              </a:lnSpc>
              <a:spcAft>
                <a:spcPts val="0"/>
              </a:spcAft>
            </a:pPr>
            <a:r>
              <a:rPr sz="950" b="0">
                <a:solidFill>
                  <a:srgbClr val="505B63"/>
                </a:solidFill>
                <a:latin typeface="DejaVu Sans Mono"/>
              </a:rPr>
              <a:t>Sursa: Legea 361/2022, art. 7, 9, 10, 36  ·  verificat la 30.10.2026  ·  nu este consultanță juridică, juristul tău confirmă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384048"/>
          </a:xfrm>
          <a:prstGeom prst="rect">
            <a:avLst/>
          </a:prstGeom>
          <a:solidFill>
            <a:srgbClr val="EAE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8640" y="150876"/>
            <a:ext cx="82296" cy="82296"/>
          </a:xfrm>
          <a:prstGeom prst="ellipse">
            <a:avLst/>
          </a:prstGeom>
          <a:solidFill>
            <a:srgbClr val="307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54864"/>
            <a:ext cx="3657600" cy="274320"/>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DejaVu Sans Mono"/>
              </a:rPr>
              <a:t>unpruuf Compliance</a:t>
            </a:r>
          </a:p>
        </p:txBody>
      </p:sp>
      <p:sp>
        <p:nvSpPr>
          <p:cNvPr id="6" name="TextBox 5"/>
          <p:cNvSpPr txBox="1"/>
          <p:nvPr/>
        </p:nvSpPr>
        <p:spPr>
          <a:xfrm>
            <a:off x="3383280" y="54864"/>
            <a:ext cx="5394960" cy="274320"/>
          </a:xfrm>
          <a:prstGeom prst="rect">
            <a:avLst/>
          </a:prstGeom>
          <a:noFill/>
        </p:spPr>
        <p:txBody>
          <a:bodyPr wrap="square" lIns="0" rIns="0" tIns="0" bIns="0" anchor="ctr">
            <a:spAutoFit/>
          </a:bodyPr>
          <a:lstStyle/>
          <a:p>
            <a:pPr algn="ctr">
              <a:lnSpc>
                <a:spcPct val="115000"/>
              </a:lnSpc>
              <a:spcAft>
                <a:spcPts val="0"/>
              </a:spcAft>
            </a:pPr>
            <a:r>
              <a:rPr sz="950" b="0">
                <a:solidFill>
                  <a:srgbClr val="505B63"/>
                </a:solidFill>
                <a:latin typeface="DejaVu Sans Mono"/>
              </a:rPr>
              <a:t>Testat · neauditat independent · necertificat</a:t>
            </a:r>
          </a:p>
        </p:txBody>
      </p:sp>
      <p:sp>
        <p:nvSpPr>
          <p:cNvPr id="7" name="TextBox 6"/>
          <p:cNvSpPr txBox="1"/>
          <p:nvPr/>
        </p:nvSpPr>
        <p:spPr>
          <a:xfrm>
            <a:off x="9814255" y="54864"/>
            <a:ext cx="1828800" cy="274320"/>
          </a:xfrm>
          <a:prstGeom prst="rect">
            <a:avLst/>
          </a:prstGeom>
          <a:noFill/>
        </p:spPr>
        <p:txBody>
          <a:bodyPr wrap="square" lIns="0" rIns="0" tIns="0" bIns="0" anchor="ctr">
            <a:spAutoFit/>
          </a:bodyPr>
          <a:lstStyle/>
          <a:p>
            <a:pPr algn="r">
              <a:lnSpc>
                <a:spcPct val="115000"/>
              </a:lnSpc>
              <a:spcAft>
                <a:spcPts val="0"/>
              </a:spcAft>
            </a:pPr>
            <a:r>
              <a:rPr sz="1000" b="1">
                <a:solidFill>
                  <a:srgbClr val="307098"/>
                </a:solidFill>
                <a:latin typeface="DejaVu Sans Mono"/>
              </a:rPr>
              <a:t>RO</a:t>
            </a:r>
          </a:p>
        </p:txBody>
      </p:sp>
      <p:sp>
        <p:nvSpPr>
          <p:cNvPr id="8" name="Rectangle 7"/>
          <p:cNvSpPr/>
          <p:nvPr/>
        </p:nvSpPr>
        <p:spPr>
          <a:xfrm>
            <a:off x="0" y="6355080"/>
            <a:ext cx="12191695"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6355080"/>
            <a:ext cx="12191695" cy="10972"/>
          </a:xfrm>
          <a:prstGeom prst="rect">
            <a:avLst/>
          </a:prstGeom>
          <a:solidFill>
            <a:srgbClr val="D9D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exonai-logo.png"/>
          <p:cNvPicPr>
            <a:picLocks noChangeAspect="1"/>
          </p:cNvPicPr>
          <p:nvPr/>
        </p:nvPicPr>
        <p:blipFill>
          <a:blip r:embed="rId2"/>
          <a:stretch>
            <a:fillRect/>
          </a:stretch>
        </p:blipFill>
        <p:spPr>
          <a:xfrm>
            <a:off x="548640" y="6446520"/>
            <a:ext cx="881829" cy="329184"/>
          </a:xfrm>
          <a:prstGeom prst="rect">
            <a:avLst/>
          </a:prstGeom>
        </p:spPr>
      </p:pic>
      <p:sp>
        <p:nvSpPr>
          <p:cNvPr id="11" name="TextBox 10"/>
          <p:cNvSpPr txBox="1"/>
          <p:nvPr/>
        </p:nvSpPr>
        <p:spPr>
          <a:xfrm>
            <a:off x="1613348" y="6446520"/>
            <a:ext cx="3657600" cy="329184"/>
          </a:xfrm>
          <a:prstGeom prst="rect">
            <a:avLst/>
          </a:prstGeom>
          <a:noFill/>
        </p:spPr>
        <p:txBody>
          <a:bodyPr wrap="square" lIns="0" rIns="0" tIns="0" bIns="0" anchor="ctr">
            <a:spAutoFit/>
          </a:bodyPr>
          <a:lstStyle/>
          <a:p>
            <a:pPr algn="l">
              <a:lnSpc>
                <a:spcPct val="115000"/>
              </a:lnSpc>
              <a:spcAft>
                <a:spcPts val="0"/>
              </a:spcAft>
            </a:pPr>
            <a:r>
              <a:rPr sz="1000" b="1">
                <a:solidFill>
                  <a:srgbClr val="172733"/>
                </a:solidFill>
                <a:latin typeface="Open Sans"/>
              </a:rPr>
              <a:t>NexonAI Consulting SRL</a:t>
            </a:r>
          </a:p>
        </p:txBody>
      </p:sp>
      <p:sp>
        <p:nvSpPr>
          <p:cNvPr id="12" name="TextBox 11"/>
          <p:cNvSpPr txBox="1"/>
          <p:nvPr/>
        </p:nvSpPr>
        <p:spPr>
          <a:xfrm>
            <a:off x="7071055" y="6446520"/>
            <a:ext cx="4572000" cy="329184"/>
          </a:xfrm>
          <a:prstGeom prst="rect">
            <a:avLst/>
          </a:prstGeom>
          <a:noFill/>
        </p:spPr>
        <p:txBody>
          <a:bodyPr wrap="square" lIns="0" rIns="0" tIns="0" bIns="0" anchor="ctr">
            <a:spAutoFit/>
          </a:bodyPr>
          <a:lstStyle/>
          <a:p>
            <a:pPr algn="r">
              <a:lnSpc>
                <a:spcPct val="115000"/>
              </a:lnSpc>
              <a:spcAft>
                <a:spcPts val="0"/>
              </a:spcAft>
            </a:pPr>
            <a:r>
              <a:rPr sz="950" b="0">
                <a:solidFill>
                  <a:srgbClr val="505B63"/>
                </a:solidFill>
                <a:latin typeface="DejaVu Sans Mono"/>
              </a:rPr>
              <a:t>Alba Iulia  ·  unpruuf@nexonai.ro  ·  6 / 6</a:t>
            </a:r>
          </a:p>
        </p:txBody>
      </p:sp>
      <p:sp>
        <p:nvSpPr>
          <p:cNvPr id="13" name="TextBox 12"/>
          <p:cNvSpPr txBox="1"/>
          <p:nvPr/>
        </p:nvSpPr>
        <p:spPr>
          <a:xfrm>
            <a:off x="548640" y="658368"/>
            <a:ext cx="8229600" cy="274320"/>
          </a:xfrm>
          <a:prstGeom prst="rect">
            <a:avLst/>
          </a:prstGeom>
          <a:noFill/>
        </p:spPr>
        <p:txBody>
          <a:bodyPr wrap="square" lIns="0" rIns="0" tIns="0" bIns="0" anchor="t">
            <a:spAutoFit/>
          </a:bodyPr>
          <a:lstStyle/>
          <a:p>
            <a:pPr algn="l">
              <a:lnSpc>
                <a:spcPct val="115000"/>
              </a:lnSpc>
              <a:spcAft>
                <a:spcPts val="0"/>
              </a:spcAft>
            </a:pPr>
            <a:r>
              <a:rPr sz="1050" b="1">
                <a:solidFill>
                  <a:srgbClr val="307098"/>
                </a:solidFill>
                <a:latin typeface="DejaVu Sans Mono"/>
              </a:rPr>
              <a:t>START ÎNTR-O SĂPTĂMÂNĂ</a:t>
            </a:r>
          </a:p>
        </p:txBody>
      </p:sp>
      <p:sp>
        <p:nvSpPr>
          <p:cNvPr id="14" name="TextBox 13"/>
          <p:cNvSpPr txBox="1"/>
          <p:nvPr/>
        </p:nvSpPr>
        <p:spPr>
          <a:xfrm>
            <a:off x="548640" y="969264"/>
            <a:ext cx="11094415" cy="640080"/>
          </a:xfrm>
          <a:prstGeom prst="rect">
            <a:avLst/>
          </a:prstGeom>
          <a:noFill/>
        </p:spPr>
        <p:txBody>
          <a:bodyPr wrap="square" lIns="0" rIns="0" tIns="0" bIns="0" anchor="t">
            <a:spAutoFit/>
          </a:bodyPr>
          <a:lstStyle/>
          <a:p>
            <a:pPr algn="l">
              <a:lnSpc>
                <a:spcPct val="115000"/>
              </a:lnSpc>
              <a:spcAft>
                <a:spcPts val="0"/>
              </a:spcAft>
            </a:pPr>
            <a:r>
              <a:rPr sz="3000" b="1">
                <a:solidFill>
                  <a:srgbClr val="172733"/>
                </a:solidFill>
                <a:latin typeface="Open Sans"/>
              </a:rPr>
              <a:t>unpruuf Compliance Start</a:t>
            </a:r>
          </a:p>
        </p:txBody>
      </p:sp>
      <p:sp>
        <p:nvSpPr>
          <p:cNvPr id="15" name="TextBox 14"/>
          <p:cNvSpPr txBox="1"/>
          <p:nvPr/>
        </p:nvSpPr>
        <p:spPr>
          <a:xfrm>
            <a:off x="548640" y="1591056"/>
            <a:ext cx="11094415" cy="365760"/>
          </a:xfrm>
          <a:prstGeom prst="rect">
            <a:avLst/>
          </a:prstGeom>
          <a:noFill/>
        </p:spPr>
        <p:txBody>
          <a:bodyPr wrap="square" lIns="0" rIns="0" tIns="0" bIns="0" anchor="t">
            <a:spAutoFit/>
          </a:bodyPr>
          <a:lstStyle/>
          <a:p>
            <a:pPr algn="l">
              <a:lnSpc>
                <a:spcPct val="115000"/>
              </a:lnSpc>
              <a:spcAft>
                <a:spcPts val="0"/>
              </a:spcAft>
            </a:pPr>
            <a:r>
              <a:rPr sz="1500" b="0">
                <a:solidFill>
                  <a:srgbClr val="505B63"/>
                </a:solidFill>
                <a:latin typeface="Open Sans"/>
              </a:rPr>
              <a:t>Tot ce îți trebuie pentru propriul canal, gata într-o săptămână.</a:t>
            </a:r>
          </a:p>
        </p:txBody>
      </p:sp>
      <p:sp>
        <p:nvSpPr>
          <p:cNvPr id="16" name="Rounded Rectangle 15"/>
          <p:cNvSpPr/>
          <p:nvPr/>
        </p:nvSpPr>
        <p:spPr>
          <a:xfrm>
            <a:off x="548640" y="2103120"/>
            <a:ext cx="6400800" cy="4023360"/>
          </a:xfrm>
          <a:prstGeom prst="roundRect">
            <a:avLst>
              <a:gd name="adj" fmla="val 3795"/>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2304288"/>
            <a:ext cx="5486400"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PACHETUL CONȚINE</a:t>
            </a:r>
          </a:p>
        </p:txBody>
      </p:sp>
      <p:sp>
        <p:nvSpPr>
          <p:cNvPr id="18" name="Rounded Rectangle 17"/>
          <p:cNvSpPr/>
          <p:nvPr/>
        </p:nvSpPr>
        <p:spPr>
          <a:xfrm>
            <a:off x="896112" y="2761488"/>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8719" y="2670048"/>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O licență pentru serverul tău</a:t>
            </a:r>
          </a:p>
        </p:txBody>
      </p:sp>
      <p:sp>
        <p:nvSpPr>
          <p:cNvPr id="20" name="Rounded Rectangle 19"/>
          <p:cNvSpPr/>
          <p:nvPr/>
        </p:nvSpPr>
        <p:spPr>
          <a:xfrm>
            <a:off x="896112" y="3236976"/>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88719" y="3145536"/>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Instalarea serverului și a aplicației, la distanță sau la fața locului</a:t>
            </a:r>
          </a:p>
        </p:txBody>
      </p:sp>
      <p:sp>
        <p:nvSpPr>
          <p:cNvPr id="22" name="Rounded Rectangle 21"/>
          <p:cNvSpPr/>
          <p:nvPr/>
        </p:nvSpPr>
        <p:spPr>
          <a:xfrm>
            <a:off x="896112" y="3712463"/>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88719" y="3621024"/>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Pagina de raportare și codul QR, în română și engleză</a:t>
            </a:r>
          </a:p>
        </p:txBody>
      </p:sp>
      <p:sp>
        <p:nvSpPr>
          <p:cNvPr id="24" name="Rounded Rectangle 23"/>
          <p:cNvSpPr/>
          <p:nvPr/>
        </p:nvSpPr>
        <p:spPr>
          <a:xfrm>
            <a:off x="896112" y="4187952"/>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88719" y="4096512"/>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Două ore de instruire pentru responsabilii de caz</a:t>
            </a:r>
          </a:p>
        </p:txBody>
      </p:sp>
      <p:sp>
        <p:nvSpPr>
          <p:cNvPr id="26" name="Rounded Rectangle 25"/>
          <p:cNvSpPr/>
          <p:nvPr/>
        </p:nvSpPr>
        <p:spPr>
          <a:xfrm>
            <a:off x="896112" y="4663440"/>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88719" y="4572000"/>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Modele: afiș pentru locul de muncă și informare pentru angajați</a:t>
            </a:r>
          </a:p>
        </p:txBody>
      </p:sp>
      <p:sp>
        <p:nvSpPr>
          <p:cNvPr id="28" name="Rounded Rectangle 27"/>
          <p:cNvSpPr/>
          <p:nvPr/>
        </p:nvSpPr>
        <p:spPr>
          <a:xfrm>
            <a:off x="896112" y="5138927"/>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88719" y="5047488"/>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Pachetul de dovezi pentru DPO</a:t>
            </a:r>
          </a:p>
        </p:txBody>
      </p:sp>
      <p:sp>
        <p:nvSpPr>
          <p:cNvPr id="30" name="Rounded Rectangle 29"/>
          <p:cNvSpPr/>
          <p:nvPr/>
        </p:nvSpPr>
        <p:spPr>
          <a:xfrm>
            <a:off x="896112" y="5614415"/>
            <a:ext cx="146304" cy="146304"/>
          </a:xfrm>
          <a:prstGeom prst="roundRect">
            <a:avLst>
              <a:gd name="adj" fmla="val 18750"/>
            </a:avLst>
          </a:prstGeom>
          <a:solidFill>
            <a:srgbClr val="E3EEF6"/>
          </a:solidFill>
          <a:ln w="12700">
            <a:solidFill>
              <a:srgbClr val="30709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8719" y="5522975"/>
            <a:ext cx="5486400" cy="457200"/>
          </a:xfrm>
          <a:prstGeom prst="rect">
            <a:avLst/>
          </a:prstGeom>
          <a:noFill/>
        </p:spPr>
        <p:txBody>
          <a:bodyPr wrap="square" lIns="0" rIns="0" tIns="0" bIns="0" anchor="t">
            <a:spAutoFit/>
          </a:bodyPr>
          <a:lstStyle/>
          <a:p>
            <a:pPr algn="l">
              <a:lnSpc>
                <a:spcPct val="115000"/>
              </a:lnSpc>
              <a:spcAft>
                <a:spcPts val="0"/>
              </a:spcAft>
            </a:pPr>
            <a:r>
              <a:rPr sz="1250" b="0">
                <a:solidFill>
                  <a:srgbClr val="172733"/>
                </a:solidFill>
                <a:latin typeface="Open Sans"/>
              </a:rPr>
              <a:t>Un an de actualizări și suport prin e-mail</a:t>
            </a:r>
          </a:p>
        </p:txBody>
      </p:sp>
      <p:sp>
        <p:nvSpPr>
          <p:cNvPr id="32" name="Rounded Rectangle 31"/>
          <p:cNvSpPr/>
          <p:nvPr/>
        </p:nvSpPr>
        <p:spPr>
          <a:xfrm>
            <a:off x="7269479" y="2103120"/>
            <a:ext cx="4373575" cy="1783080"/>
          </a:xfrm>
          <a:prstGeom prst="roundRect">
            <a:avLst>
              <a:gd name="adj" fmla="val 8564"/>
            </a:avLst>
          </a:prstGeom>
          <a:solidFill>
            <a:srgbClr val="0F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89519" y="2304288"/>
            <a:ext cx="3824935" cy="274320"/>
          </a:xfrm>
          <a:prstGeom prst="rect">
            <a:avLst/>
          </a:prstGeom>
          <a:noFill/>
        </p:spPr>
        <p:txBody>
          <a:bodyPr wrap="square" lIns="0" rIns="0" tIns="0" bIns="0" anchor="t">
            <a:spAutoFit/>
          </a:bodyPr>
          <a:lstStyle/>
          <a:p>
            <a:pPr algn="l">
              <a:lnSpc>
                <a:spcPct val="115000"/>
              </a:lnSpc>
              <a:spcAft>
                <a:spcPts val="0"/>
              </a:spcAft>
            </a:pPr>
            <a:r>
              <a:rPr sz="1000" b="1">
                <a:solidFill>
                  <a:srgbClr val="90C8E8"/>
                </a:solidFill>
                <a:latin typeface="DejaVu Sans Mono"/>
              </a:rPr>
              <a:t>PERIOADĂ DE PROBĂ</a:t>
            </a:r>
          </a:p>
        </p:txBody>
      </p:sp>
      <p:sp>
        <p:nvSpPr>
          <p:cNvPr id="34" name="TextBox 33"/>
          <p:cNvSpPr txBox="1"/>
          <p:nvPr/>
        </p:nvSpPr>
        <p:spPr>
          <a:xfrm>
            <a:off x="7589519" y="2606040"/>
            <a:ext cx="3824935" cy="457200"/>
          </a:xfrm>
          <a:prstGeom prst="rect">
            <a:avLst/>
          </a:prstGeom>
          <a:noFill/>
        </p:spPr>
        <p:txBody>
          <a:bodyPr wrap="square" lIns="0" rIns="0" tIns="0" bIns="0" anchor="t">
            <a:spAutoFit/>
          </a:bodyPr>
          <a:lstStyle/>
          <a:p>
            <a:pPr algn="l">
              <a:lnSpc>
                <a:spcPct val="115000"/>
              </a:lnSpc>
              <a:spcAft>
                <a:spcPts val="0"/>
              </a:spcAft>
            </a:pPr>
            <a:r>
              <a:rPr sz="2400" b="1">
                <a:solidFill>
                  <a:srgbClr val="FFFFFF"/>
                </a:solidFill>
                <a:latin typeface="Open Sans"/>
              </a:rPr>
              <a:t>30 de zile gratuit</a:t>
            </a:r>
          </a:p>
        </p:txBody>
      </p:sp>
      <p:sp>
        <p:nvSpPr>
          <p:cNvPr id="35" name="TextBox 34"/>
          <p:cNvSpPr txBox="1"/>
          <p:nvPr/>
        </p:nvSpPr>
        <p:spPr>
          <a:xfrm>
            <a:off x="7589519" y="3127248"/>
            <a:ext cx="3824935" cy="685800"/>
          </a:xfrm>
          <a:prstGeom prst="rect">
            <a:avLst/>
          </a:prstGeom>
          <a:noFill/>
        </p:spPr>
        <p:txBody>
          <a:bodyPr wrap="square" lIns="0" rIns="0" tIns="0" bIns="0" anchor="t">
            <a:spAutoFit/>
          </a:bodyPr>
          <a:lstStyle/>
          <a:p>
            <a:pPr algn="l">
              <a:lnSpc>
                <a:spcPct val="115000"/>
              </a:lnSpc>
              <a:spcAft>
                <a:spcPts val="0"/>
              </a:spcAft>
            </a:pPr>
            <a:r>
              <a:rPr sz="1200" b="0">
                <a:solidFill>
                  <a:srgbClr val="DBE7EF"/>
                </a:solidFill>
                <a:latin typeface="Open Sans"/>
              </a:rPr>
              <a:t>Responsabilii tăi încearcă raportarea, dialogul și termenele cu raportări de test. Apoi decizi.</a:t>
            </a:r>
          </a:p>
        </p:txBody>
      </p:sp>
      <p:sp>
        <p:nvSpPr>
          <p:cNvPr id="36" name="Rounded Rectangle 35"/>
          <p:cNvSpPr/>
          <p:nvPr/>
        </p:nvSpPr>
        <p:spPr>
          <a:xfrm>
            <a:off x="7269479" y="4069080"/>
            <a:ext cx="4373575" cy="2057400"/>
          </a:xfrm>
          <a:prstGeom prst="roundRect">
            <a:avLst>
              <a:gd name="adj" fmla="val 7422"/>
            </a:avLst>
          </a:prstGeom>
          <a:solidFill>
            <a:srgbClr val="FFFFFF"/>
          </a:solidFill>
          <a:ln w="9525">
            <a:solidFill>
              <a:srgbClr val="D9DF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589519" y="4270248"/>
            <a:ext cx="3824935" cy="274320"/>
          </a:xfrm>
          <a:prstGeom prst="rect">
            <a:avLst/>
          </a:prstGeom>
          <a:noFill/>
        </p:spPr>
        <p:txBody>
          <a:bodyPr wrap="square" lIns="0" rIns="0" tIns="0" bIns="0" anchor="t">
            <a:spAutoFit/>
          </a:bodyPr>
          <a:lstStyle/>
          <a:p>
            <a:pPr algn="l">
              <a:lnSpc>
                <a:spcPct val="115000"/>
              </a:lnSpc>
              <a:spcAft>
                <a:spcPts val="0"/>
              </a:spcAft>
            </a:pPr>
            <a:r>
              <a:rPr sz="1000" b="1">
                <a:solidFill>
                  <a:srgbClr val="307098"/>
                </a:solidFill>
                <a:latin typeface="DejaVu Sans Mono"/>
              </a:rPr>
              <a:t>URMĂTORUL PAS</a:t>
            </a:r>
          </a:p>
        </p:txBody>
      </p:sp>
      <p:sp>
        <p:nvSpPr>
          <p:cNvPr id="38" name="TextBox 37"/>
          <p:cNvSpPr txBox="1"/>
          <p:nvPr/>
        </p:nvSpPr>
        <p:spPr>
          <a:xfrm>
            <a:off x="7589519" y="4572000"/>
            <a:ext cx="3824935" cy="457200"/>
          </a:xfrm>
          <a:prstGeom prst="rect">
            <a:avLst/>
          </a:prstGeom>
          <a:noFill/>
        </p:spPr>
        <p:txBody>
          <a:bodyPr wrap="square" lIns="0" rIns="0" tIns="0" bIns="0" anchor="t">
            <a:spAutoFit/>
          </a:bodyPr>
          <a:lstStyle/>
          <a:p>
            <a:pPr algn="l">
              <a:lnSpc>
                <a:spcPct val="115000"/>
              </a:lnSpc>
              <a:spcAft>
                <a:spcPts val="0"/>
              </a:spcAft>
            </a:pPr>
            <a:r>
              <a:rPr sz="1900" b="1">
                <a:solidFill>
                  <a:srgbClr val="172733"/>
                </a:solidFill>
                <a:latin typeface="Open Sans"/>
              </a:rPr>
              <a:t>Demo online de 20 de minute</a:t>
            </a:r>
          </a:p>
        </p:txBody>
      </p:sp>
      <p:sp>
        <p:nvSpPr>
          <p:cNvPr id="39" name="TextBox 38"/>
          <p:cNvSpPr txBox="1"/>
          <p:nvPr/>
        </p:nvSpPr>
        <p:spPr>
          <a:xfrm>
            <a:off x="7589519" y="5074920"/>
            <a:ext cx="3824935" cy="320040"/>
          </a:xfrm>
          <a:prstGeom prst="rect">
            <a:avLst/>
          </a:prstGeom>
          <a:noFill/>
        </p:spPr>
        <p:txBody>
          <a:bodyPr wrap="square" lIns="0" rIns="0" tIns="0" bIns="0" anchor="t">
            <a:spAutoFit/>
          </a:bodyPr>
          <a:lstStyle/>
          <a:p>
            <a:pPr algn="l">
              <a:lnSpc>
                <a:spcPct val="115000"/>
              </a:lnSpc>
              <a:spcAft>
                <a:spcPts val="0"/>
              </a:spcAft>
            </a:pPr>
            <a:r>
              <a:rPr sz="1200" b="0">
                <a:solidFill>
                  <a:srgbClr val="505B63"/>
                </a:solidFill>
                <a:latin typeface="Open Sans"/>
              </a:rPr>
              <a:t>Scrie-ne și alege o oră.</a:t>
            </a:r>
          </a:p>
        </p:txBody>
      </p:sp>
      <p:sp>
        <p:nvSpPr>
          <p:cNvPr id="40" name="TextBox 39"/>
          <p:cNvSpPr txBox="1"/>
          <p:nvPr/>
        </p:nvSpPr>
        <p:spPr>
          <a:xfrm>
            <a:off x="7589519" y="5440680"/>
            <a:ext cx="3824935" cy="411480"/>
          </a:xfrm>
          <a:prstGeom prst="rect">
            <a:avLst/>
          </a:prstGeom>
          <a:noFill/>
        </p:spPr>
        <p:txBody>
          <a:bodyPr wrap="square" lIns="0" rIns="0" tIns="0" bIns="0" anchor="t">
            <a:spAutoFit/>
          </a:bodyPr>
          <a:lstStyle/>
          <a:p>
            <a:pPr algn="l">
              <a:lnSpc>
                <a:spcPct val="115000"/>
              </a:lnSpc>
              <a:spcAft>
                <a:spcPts val="0"/>
              </a:spcAft>
            </a:pPr>
            <a:r>
              <a:rPr sz="2000" b="1">
                <a:solidFill>
                  <a:srgbClr val="307098"/>
                </a:solidFill>
                <a:latin typeface="Open Sans"/>
              </a:rPr>
              <a:t>unpruuf@nexonai.ro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unpruuf Compliance</dc:title>
  <dc:subject/>
  <dc:creator>NexonAI Consulting SRL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