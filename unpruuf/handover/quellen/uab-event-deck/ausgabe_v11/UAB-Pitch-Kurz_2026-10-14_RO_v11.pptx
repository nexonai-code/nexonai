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Pagina de start · 0:00–0:20</a:t>
            </a:r>
          </a:p>
          <a:p>
            <a:r>
              <a:t>Bună ziua și vă mulțumesc pentru invitație.</a:t>
            </a:r>
          </a:p>
          <a:p>
            <a:r>
              <a:t>Vă arăt pe scurt ce construim: o soluție de comunicare fără identități și, pe ea, un canal pentru avertizori.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 0:20–1:20</a:t>
            </a:r>
          </a:p>
          <a:p>
            <a:r>
              <a:t>Clientul nostru primește de la noi soluția de server, gata de pornit. Este serverul lui: îl operează el.</a:t>
            </a:r>
          </a:p>
          <a:p>
            <a:r>
              <a:t>Condiția pentru tot: fiecare client își operează propriile servere. Altfel sunt implicați terți. NexonAI nu operează nimic și nu are acces.</a:t>
            </a:r>
          </a:p>
          <a:p>
            <a:r>
              <a:t>Serverul lucrează cu adrese complet anonime, pe care le cunoaște doar clientul și hotărăște cui le dă.</a:t>
            </a:r>
          </a:p>
          <a:p>
            <a:r>
              <a:t>Și nu rămâne nimic acolo: ce ajunge pe server dispare după cel mult 24 de 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 1:20–2:50</a:t>
            </a:r>
          </a:p>
          <a:p>
            <a:r>
              <a:t>Principiul este simplu și are trei părți.</a:t>
            </a:r>
          </a:p>
          <a:p>
            <a:r>
              <a:t>Primul: fără identități. Fără conturi, fără nume, fără numere de telefon.</a:t>
            </a:r>
          </a:p>
          <a:p>
            <a:r>
              <a:t>Al doilea: fără legături directe. Nimeni nu scrie direct cuiva, deci nu există nicio linie între două persoane.</a:t>
            </a:r>
          </a:p>
          <a:p>
            <a:r>
              <a:t>Al treilea: principiul cutiei poștale. Eu nu scriu niciodată direct. Pun mesajul în cutia mea, pe serverul meu, și îi dau contactului datele ca să găsească serverul, să ridice mesajul și să-l citească. Același lucru se întâmplă și invers: Ana pune în cutia ei, Ben ridică de acolo. Ben pune în cutia lui, Ana ridică.</a:t>
            </a:r>
          </a:p>
          <a:p>
            <a:r>
              <a:t>Ce rămâne în cutie dispare după cel mult 24 de 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 2:50–4:00</a:t>
            </a:r>
          </a:p>
          <a:p>
            <a:r>
              <a:t>Ce știe serverul? Aproape nimic.</a:t>
            </a:r>
          </a:p>
          <a:p>
            <a:r>
              <a:t>Pe el stau pachete criptate, toate de aceeași mărime, fiecare cu un termen de expirare. De la cine, către cine, cu ce conținut, ce nume: nu există acolo.</a:t>
            </a:r>
          </a:p>
          <a:p>
            <a:r>
              <a:t>Dacă cineva sparge serverul, găsește pachete criptate vechi de cel mult 24 de ore. Gunoi de date. La noi nu există un seif care să merite spart.</a:t>
            </a:r>
          </a:p>
          <a:p>
            <a:r>
              <a:t>Dacă un judecător ordonă confiscarea serverului, primește același lucru: nimic care poate fi citit, fără nume, fără istoric. Dosarele de caz nu sunt pe server.</a:t>
            </a:r>
          </a:p>
          <a:p>
            <a:r>
              <a:t>Dacă cineva întreabă NexonAI: nu avem ce preda. Nu operăm serverul, nu avem acces și nu avem nicio copie.</a:t>
            </a:r>
          </a:p>
          <a:p>
            <a:r>
              <a:t>[Dacă întreabă cineva: un server vede că și când sosește un pachet și cât de mare este, nu conținutul. Dacă o cerere vizează conținutul, ea se adresează organizației, care are datele.]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 4:00–4:50</a:t>
            </a:r>
          </a:p>
          <a:p>
            <a:r>
              <a:t>Soluția noastră de conformitate se numește safeline. Are trei produse: aplicația mobilă pentru angajați, serverul organizației și panoul pentru responsabilul de conformitate.</a:t>
            </a:r>
          </a:p>
          <a:p>
            <a:r>
              <a:t>Fără conturi, fără nume, fără număr de telefon.</a:t>
            </a:r>
          </a:p>
          <a:p>
            <a:r>
              <a:t>Și vine gata de la noi: termenele legale sunt deja în panou, confirmare în 7 zile și răspuns în 3 luni. Fiecare raportare primește singură un număr de caz, confirmarea de primire pleacă automat, iar codul QR al organizației este gata de distribuit. Clientul nu trebuie să configureze nimic din toate acestea.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 4:50–6:00</a:t>
            </a:r>
          </a:p>
          <a:p>
            <a:r>
              <a:t>Responsabilul de conformitate generează un cod QR, care se distribuie angajaților. Ei îl scanează cu aplicația, creează imediat un caz nou și îl trimit, fără nume și fără cont.</a:t>
            </a:r>
          </a:p>
          <a:p>
            <a:r>
              <a:t>Cazul apare în panou, cu număr de caz. Cazurile primite sunt păstrate la primire. În panou nu există nicio funcție de ștergere.</a:t>
            </a:r>
          </a:p>
          <a:p>
            <a:r>
              <a:t>Termenele legale sunt deja încărcate, nu le setează nimeni: confirmare în 7 zile, răspuns în 3 luni, conform Legii 361/2022, pentru organizațiile cu cel puțin 50 de angajați.</a:t>
            </a:r>
          </a:p>
          <a:p>
            <a:r>
              <a:t>[Dacă întreabă cineva de ștergere: astăzi cazul rămâne așa cum a fost primit. O funcție de ștergere, cu termen de păstrare, urmează.]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 6:00–7:00</a:t>
            </a:r>
          </a:p>
          <a:p>
            <a:r>
              <a:t>Ce înseamnă asta pentru GDPR, pentru auditurile interne și în general? Că, de data aceasta, doar clientul își are datele.</a:t>
            </a:r>
          </a:p>
          <a:p>
            <a:r>
              <a:t>GDPR: organizația este operatorul de date, iar datele sunt într-un singur loc, la ea. NexonAI nu are acces și, în mod normal, nu este persoană împuternicită. Dacă serverul rulează la un furnizor de găzduire, acela este persoana împuternicită a clientului. Obligațiile rămân la organizație: temeiul prelucrării, informarea persoanelor, registrul prelucrărilor, eventuala evaluare a impactului, cât timp se păstrează un caz și notificarea unei încălcări în 72 de ore.</a:t>
            </a:r>
          </a:p>
          <a:p>
            <a:r>
              <a:t>Auditurile interne: un singur loc de verificat, serverul, panoul și laptopul responsabilului, toate la client. Cazurile se păstrează la primire și în panou nu există funcție de ștergere. Nu trebuie cerut nimic unui terț.</a:t>
            </a:r>
          </a:p>
          <a:p>
            <a:r>
              <a:t>În general: între raportor și responsabil nu stă nicio terță parte. O cerere a autorităților se adresează organizației, singura care are datele. Și nu există un cont central care să poată fi spart.</a:t>
            </a:r>
          </a:p>
          <a:p>
            <a:r>
              <a:t>Nu pretind conformitate cu GDPR. O confirmă responsabilul cu protecția datelor sau un jurist.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 7:00–7:40</a:t>
            </a:r>
          </a:p>
          <a:p>
            <a:r>
              <a:t>Încheiem cu ce nu pot să vă promit, pentru că așa începe încrederea.</a:t>
            </a:r>
          </a:p>
          <a:p>
            <a:r>
              <a:t>Este un pilot, nu un produs finalizat și certificat. Nu a fost încă auditat de o parte independentă. Nu înlocuiește consilierea juridică. Și unele părți le-am testat în laborator.</a:t>
            </a:r>
          </a:p>
          <a:p>
            <a:r>
              <a:t>[Actualizează ultima frază după testul real din această săptămână.]</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Ultima pagină · 7:40–8:10</a:t>
            </a:r>
          </a:p>
          <a:p>
            <a:r>
              <a:t>Începem pilotul la Universitatea „1 Decembrie 1918” din Alba Iulia.</a:t>
            </a:r>
          </a:p>
          <a:p>
            <a:r>
              <a:t>[Înainte de a o numi: confirmare scrisă de la universitate.]</a:t>
            </a:r>
          </a:p>
          <a:p>
            <a:r>
              <a:t>Căutăm 2–3 parteneri pilot din profesii cu obligație de confidențialitate. Începem mic, măsurăm, ajustăm împreună.</a:t>
            </a:r>
          </a:p>
          <a:p>
            <a:r>
              <a:t>Scanați codul pentru a salva contactul meu. Vă mulțumesc.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2E"/>
        </a:solidFill>
        <a:effectLst/>
      </p:bgPr>
    </p:bg>
    <p:spTree>
      <p:nvGrpSpPr>
        <p:cNvPr id="1" name=""/>
        <p:cNvGrpSpPr/>
        <p:nvPr/>
      </p:nvGrpSpPr>
      <p:grpSpPr/>
      <p:sp>
        <p:nvSpPr>
          <p:cNvPr id="2" name="Oval 1"/>
          <p:cNvSpPr/>
          <p:nvPr/>
        </p:nvSpPr>
        <p:spPr>
          <a:xfrm>
            <a:off x="8503920" y="-2011680"/>
            <a:ext cx="5852160" cy="585216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24160" y="4572000"/>
            <a:ext cx="3291840" cy="329184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7772400" cy="365760"/>
          </a:xfrm>
          <a:prstGeom prst="rect">
            <a:avLst/>
          </a:prstGeom>
          <a:noFill/>
        </p:spPr>
        <p:txBody>
          <a:bodyPr wrap="square" lIns="45720" rIns="45720" tIns="27432" bIns="27432" anchor="t">
            <a:spAutoFit/>
          </a:bodyPr>
          <a:lstStyle/>
          <a:p>
            <a:pPr algn="l"/>
            <a:r>
              <a:rPr sz="1200" b="1">
                <a:solidFill>
                  <a:srgbClr val="45D0BB"/>
                </a:solidFill>
                <a:latin typeface="Consolas"/>
              </a:rPr>
              <a:t>ACTUALITĂȚI ȘI PERSPECTIVE · 14 OCTOMBRIE 2026</a:t>
            </a:r>
          </a:p>
        </p:txBody>
      </p:sp>
      <p:sp>
        <p:nvSpPr>
          <p:cNvPr id="5" name="TextBox 4"/>
          <p:cNvSpPr txBox="1"/>
          <p:nvPr/>
        </p:nvSpPr>
        <p:spPr>
          <a:xfrm>
            <a:off x="731520" y="1737360"/>
            <a:ext cx="5212080" cy="2286000"/>
          </a:xfrm>
          <a:prstGeom prst="rect">
            <a:avLst/>
          </a:prstGeom>
          <a:noFill/>
        </p:spPr>
        <p:txBody>
          <a:bodyPr wrap="square" lIns="45720" rIns="45720" tIns="27432" bIns="27432" anchor="t">
            <a:spAutoFit/>
          </a:bodyPr>
          <a:lstStyle/>
          <a:p>
            <a:pPr algn="l"/>
            <a:r>
              <a:rPr sz="4400" b="1">
                <a:solidFill>
                  <a:srgbClr val="FFFFFF"/>
                </a:solidFill>
                <a:latin typeface="Arial"/>
              </a:rPr>
              <a:t>Comunicare fără identități</a:t>
            </a:r>
          </a:p>
        </p:txBody>
      </p:sp>
      <p:sp>
        <p:nvSpPr>
          <p:cNvPr id="6" name="TextBox 5"/>
          <p:cNvSpPr txBox="1"/>
          <p:nvPr/>
        </p:nvSpPr>
        <p:spPr>
          <a:xfrm>
            <a:off x="731520" y="4069080"/>
            <a:ext cx="5120640" cy="1188720"/>
          </a:xfrm>
          <a:prstGeom prst="rect">
            <a:avLst/>
          </a:prstGeom>
          <a:noFill/>
        </p:spPr>
        <p:txBody>
          <a:bodyPr wrap="square" lIns="45720" rIns="45720" tIns="27432" bIns="27432" anchor="t">
            <a:spAutoFit/>
          </a:bodyPr>
          <a:lstStyle/>
          <a:p>
            <a:pPr algn="l"/>
            <a:r>
              <a:rPr sz="2000" b="1">
                <a:solidFill>
                  <a:srgbClr val="45D0BB"/>
                </a:solidFill>
                <a:latin typeface="Arial"/>
              </a:rPr>
              <a:t>unpruuf și safeline: canalul pentru avertizori al organizației dumneavoastră</a:t>
            </a:r>
          </a:p>
        </p:txBody>
      </p:sp>
      <p:sp>
        <p:nvSpPr>
          <p:cNvPr id="7" name="TextBox 6"/>
          <p:cNvSpPr txBox="1"/>
          <p:nvPr/>
        </p:nvSpPr>
        <p:spPr>
          <a:xfrm>
            <a:off x="731520" y="5440680"/>
            <a:ext cx="5486400" cy="365760"/>
          </a:xfrm>
          <a:prstGeom prst="rect">
            <a:avLst/>
          </a:prstGeom>
          <a:noFill/>
        </p:spPr>
        <p:txBody>
          <a:bodyPr wrap="square" lIns="45720" rIns="45720" tIns="27432" bIns="27432" anchor="t">
            <a:spAutoFit/>
          </a:bodyPr>
          <a:lstStyle/>
          <a:p>
            <a:pPr algn="l"/>
            <a:r>
              <a:rPr sz="1600" b="0">
                <a:solidFill>
                  <a:srgbClr val="BFD6D3"/>
                </a:solidFill>
                <a:latin typeface="Arial"/>
              </a:rPr>
              <a:t>Gabriel Hategan · NexonAI Consulting SRL</a:t>
            </a:r>
          </a:p>
        </p:txBody>
      </p:sp>
      <p:sp>
        <p:nvSpPr>
          <p:cNvPr id="8" name="Rounded Rectangle 7"/>
          <p:cNvSpPr/>
          <p:nvPr/>
        </p:nvSpPr>
        <p:spPr>
          <a:xfrm>
            <a:off x="6748272" y="1005840"/>
            <a:ext cx="4974336" cy="3088386"/>
          </a:xfrm>
          <a:prstGeom prst="roundRect">
            <a:avLst>
              <a:gd name="adj" fmla="val 5921"/>
            </a:avLst>
          </a:prstGeom>
          <a:solidFill>
            <a:srgbClr val="FFFFFF"/>
          </a:solidFill>
          <a:ln>
            <a:no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overview_RO.png"/>
          <p:cNvPicPr>
            <a:picLocks noChangeAspect="1"/>
          </p:cNvPicPr>
          <p:nvPr/>
        </p:nvPicPr>
        <p:blipFill>
          <a:blip r:embed="rId2"/>
          <a:stretch>
            <a:fillRect/>
          </a:stretch>
        </p:blipFill>
        <p:spPr>
          <a:xfrm>
            <a:off x="6720840" y="960120"/>
            <a:ext cx="5029200" cy="3143250"/>
          </a:xfrm>
          <a:prstGeom prst="rect">
            <a:avLst/>
          </a:prstGeom>
        </p:spPr>
      </p:pic>
      <p:sp>
        <p:nvSpPr>
          <p:cNvPr id="10" name="Rounded Rectangle 9"/>
          <p:cNvSpPr/>
          <p:nvPr/>
        </p:nvSpPr>
        <p:spPr>
          <a:xfrm>
            <a:off x="6291072" y="3063239"/>
            <a:ext cx="1460961" cy="3145536"/>
          </a:xfrm>
          <a:prstGeom prst="roundRect">
            <a:avLst>
              <a:gd name="adj" fmla="val 12517"/>
            </a:avLst>
          </a:prstGeom>
          <a:solidFill>
            <a:srgbClr val="FFFFFF"/>
          </a:solidFill>
          <a:ln>
            <a:no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one_RO_3.png"/>
          <p:cNvPicPr>
            <a:picLocks noChangeAspect="1"/>
          </p:cNvPicPr>
          <p:nvPr/>
        </p:nvPicPr>
        <p:blipFill>
          <a:blip r:embed="rId3"/>
          <a:stretch>
            <a:fillRect/>
          </a:stretch>
        </p:blipFill>
        <p:spPr>
          <a:xfrm>
            <a:off x="6263640" y="3017520"/>
            <a:ext cx="1515825" cy="3200400"/>
          </a:xfrm>
          <a:prstGeom prst="rect">
            <a:avLst/>
          </a:prstGeom>
        </p:spPr>
      </p:pic>
      <p:sp>
        <p:nvSpPr>
          <p:cNvPr id="12" name="TextBox 11"/>
          <p:cNvSpPr txBox="1"/>
          <p:nvPr/>
        </p:nvSpPr>
        <p:spPr>
          <a:xfrm>
            <a:off x="7863840" y="4434840"/>
            <a:ext cx="4023360" cy="274320"/>
          </a:xfrm>
          <a:prstGeom prst="rect">
            <a:avLst/>
          </a:prstGeom>
          <a:noFill/>
        </p:spPr>
        <p:txBody>
          <a:bodyPr wrap="square" lIns="45720" rIns="45720" tIns="27432" bIns="27432" anchor="t">
            <a:spAutoFit/>
          </a:bodyPr>
          <a:lstStyle/>
          <a:p>
            <a:pPr algn="l"/>
            <a:r>
              <a:rPr sz="1050" b="0">
                <a:solidFill>
                  <a:srgbClr val="BFD6D3"/>
                </a:solidFill>
                <a:latin typeface="Arial"/>
              </a:rPr>
              <a:t>Capturi: panou real, date demo · Telefon: ilustrație</a:t>
            </a:r>
          </a:p>
        </p:txBody>
      </p:sp>
      <p:pic>
        <p:nvPicPr>
          <p:cNvPr id="13" name="Picture 12" descr="logo_white.png"/>
          <p:cNvPicPr>
            <a:picLocks noChangeAspect="1"/>
          </p:cNvPicPr>
          <p:nvPr/>
        </p:nvPicPr>
        <p:blipFill>
          <a:blip r:embed="rId4"/>
          <a:stretch>
            <a:fillRect/>
          </a:stretch>
        </p:blipFill>
        <p:spPr>
          <a:xfrm>
            <a:off x="731520" y="6126480"/>
            <a:ext cx="1169421"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SERVERUL</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Serverul este al clientului</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1 / 7</a:t>
            </a:r>
          </a:p>
        </p:txBody>
      </p:sp>
      <p:sp>
        <p:nvSpPr>
          <p:cNvPr id="6" name="Rounded Rectangle 5"/>
          <p:cNvSpPr/>
          <p:nvPr/>
        </p:nvSpPr>
        <p:spPr>
          <a:xfrm>
            <a:off x="731520" y="1965960"/>
            <a:ext cx="6675120" cy="960120"/>
          </a:xfrm>
          <a:prstGeom prst="roundRect">
            <a:avLst>
              <a:gd name="adj" fmla="val 15238"/>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167128"/>
            <a:ext cx="548640" cy="54864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67128"/>
            <a:ext cx="548640" cy="548640"/>
          </a:xfrm>
          <a:prstGeom prst="rect">
            <a:avLst/>
          </a:prstGeom>
          <a:noFill/>
        </p:spPr>
        <p:txBody>
          <a:bodyPr wrap="square" lIns="45720" rIns="45720" tIns="27432" bIns="27432" anchor="ctr">
            <a:spAutoFit/>
          </a:bodyPr>
          <a:lstStyle/>
          <a:p>
            <a:pPr algn="ctr"/>
            <a:r>
              <a:rPr sz="1800" b="1">
                <a:solidFill>
                  <a:srgbClr val="FFFFFF"/>
                </a:solidFill>
                <a:latin typeface="Arial"/>
              </a:rPr>
              <a:t>1</a:t>
            </a:r>
          </a:p>
        </p:txBody>
      </p:sp>
      <p:sp>
        <p:nvSpPr>
          <p:cNvPr id="9" name="TextBox 8"/>
          <p:cNvSpPr txBox="1"/>
          <p:nvPr/>
        </p:nvSpPr>
        <p:spPr>
          <a:xfrm>
            <a:off x="1737360" y="1965960"/>
            <a:ext cx="5486400" cy="960120"/>
          </a:xfrm>
          <a:prstGeom prst="rect">
            <a:avLst/>
          </a:prstGeom>
          <a:noFill/>
        </p:spPr>
        <p:txBody>
          <a:bodyPr wrap="square" lIns="45720" rIns="45720" tIns="27432" bIns="27432" anchor="ctr">
            <a:spAutoFit/>
          </a:bodyPr>
          <a:lstStyle/>
          <a:p>
            <a:pPr algn="l"/>
            <a:r>
              <a:rPr sz="1900" b="0">
                <a:solidFill>
                  <a:srgbClr val="0E2A2E"/>
                </a:solidFill>
                <a:latin typeface="Arial"/>
              </a:rPr>
              <a:t>Clientul primește de la noi soluția de server, gata de pornit. Este serverul lui.</a:t>
            </a:r>
          </a:p>
        </p:txBody>
      </p:sp>
      <p:sp>
        <p:nvSpPr>
          <p:cNvPr id="10" name="Rounded Rectangle 9"/>
          <p:cNvSpPr/>
          <p:nvPr/>
        </p:nvSpPr>
        <p:spPr>
          <a:xfrm>
            <a:off x="731520" y="3081528"/>
            <a:ext cx="6675120" cy="960120"/>
          </a:xfrm>
          <a:prstGeom prst="roundRect">
            <a:avLst>
              <a:gd name="adj" fmla="val 15238"/>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3282696"/>
            <a:ext cx="548640" cy="54864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282696"/>
            <a:ext cx="548640" cy="548640"/>
          </a:xfrm>
          <a:prstGeom prst="rect">
            <a:avLst/>
          </a:prstGeom>
          <a:noFill/>
        </p:spPr>
        <p:txBody>
          <a:bodyPr wrap="square" lIns="45720" rIns="45720" tIns="27432" bIns="27432" anchor="ctr">
            <a:spAutoFit/>
          </a:bodyPr>
          <a:lstStyle/>
          <a:p>
            <a:pPr algn="ctr"/>
            <a:r>
              <a:rPr sz="1800" b="1">
                <a:solidFill>
                  <a:srgbClr val="FFFFFF"/>
                </a:solidFill>
                <a:latin typeface="Arial"/>
              </a:rPr>
              <a:t>2</a:t>
            </a:r>
          </a:p>
        </p:txBody>
      </p:sp>
      <p:sp>
        <p:nvSpPr>
          <p:cNvPr id="13" name="TextBox 12"/>
          <p:cNvSpPr txBox="1"/>
          <p:nvPr/>
        </p:nvSpPr>
        <p:spPr>
          <a:xfrm>
            <a:off x="1737360" y="3081528"/>
            <a:ext cx="5486400" cy="960120"/>
          </a:xfrm>
          <a:prstGeom prst="rect">
            <a:avLst/>
          </a:prstGeom>
          <a:noFill/>
        </p:spPr>
        <p:txBody>
          <a:bodyPr wrap="square" lIns="45720" rIns="45720" tIns="27432" bIns="27432" anchor="ctr">
            <a:spAutoFit/>
          </a:bodyPr>
          <a:lstStyle/>
          <a:p>
            <a:pPr algn="l"/>
            <a:r>
              <a:rPr sz="1900" b="0">
                <a:solidFill>
                  <a:srgbClr val="0E2A2E"/>
                </a:solidFill>
                <a:latin typeface="Arial"/>
              </a:rPr>
              <a:t>Adrese complet anonime, pe care le cunoaște doar el.</a:t>
            </a:r>
          </a:p>
        </p:txBody>
      </p:sp>
      <p:sp>
        <p:nvSpPr>
          <p:cNvPr id="14" name="Rounded Rectangle 13"/>
          <p:cNvSpPr/>
          <p:nvPr/>
        </p:nvSpPr>
        <p:spPr>
          <a:xfrm>
            <a:off x="731520" y="4197096"/>
            <a:ext cx="6675120" cy="960120"/>
          </a:xfrm>
          <a:prstGeom prst="roundRect">
            <a:avLst>
              <a:gd name="adj" fmla="val 15238"/>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4398264"/>
            <a:ext cx="548640" cy="54864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398264"/>
            <a:ext cx="548640" cy="548640"/>
          </a:xfrm>
          <a:prstGeom prst="rect">
            <a:avLst/>
          </a:prstGeom>
          <a:noFill/>
        </p:spPr>
        <p:txBody>
          <a:bodyPr wrap="square" lIns="45720" rIns="45720" tIns="27432" bIns="27432" anchor="ctr">
            <a:spAutoFit/>
          </a:bodyPr>
          <a:lstStyle/>
          <a:p>
            <a:pPr algn="ctr"/>
            <a:r>
              <a:rPr sz="1800" b="1">
                <a:solidFill>
                  <a:srgbClr val="FFFFFF"/>
                </a:solidFill>
                <a:latin typeface="Arial"/>
              </a:rPr>
              <a:t>3</a:t>
            </a:r>
          </a:p>
        </p:txBody>
      </p:sp>
      <p:sp>
        <p:nvSpPr>
          <p:cNvPr id="17" name="TextBox 16"/>
          <p:cNvSpPr txBox="1"/>
          <p:nvPr/>
        </p:nvSpPr>
        <p:spPr>
          <a:xfrm>
            <a:off x="1737360" y="4197096"/>
            <a:ext cx="5486400" cy="960120"/>
          </a:xfrm>
          <a:prstGeom prst="rect">
            <a:avLst/>
          </a:prstGeom>
          <a:noFill/>
        </p:spPr>
        <p:txBody>
          <a:bodyPr wrap="square" lIns="45720" rIns="45720" tIns="27432" bIns="27432" anchor="ctr">
            <a:spAutoFit/>
          </a:bodyPr>
          <a:lstStyle/>
          <a:p>
            <a:pPr algn="l"/>
            <a:r>
              <a:rPr sz="1900" b="0">
                <a:solidFill>
                  <a:srgbClr val="0E2A2E"/>
                </a:solidFill>
                <a:latin typeface="Arial"/>
              </a:rPr>
              <a:t>Pe server nu rămâne nimic: după cel mult 24 de ore, totul dispare.</a:t>
            </a:r>
          </a:p>
        </p:txBody>
      </p:sp>
      <p:sp>
        <p:nvSpPr>
          <p:cNvPr id="18" name="Rounded Rectangle 17"/>
          <p:cNvSpPr/>
          <p:nvPr/>
        </p:nvSpPr>
        <p:spPr>
          <a:xfrm>
            <a:off x="7772400" y="1965960"/>
            <a:ext cx="3685032" cy="3154680"/>
          </a:xfrm>
          <a:prstGeom prst="roundRect">
            <a:avLst>
              <a:gd name="adj" fmla="val 5797"/>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0" y="2286000"/>
            <a:ext cx="2587752" cy="569305"/>
          </a:xfrm>
          <a:prstGeom prst="roundRect">
            <a:avLst>
              <a:gd name="adj" fmla="val 14455"/>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2182" y="2515788"/>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90345" y="2538648"/>
            <a:ext cx="1293876"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442996" y="2538648"/>
            <a:ext cx="284652"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21040" y="2984693"/>
            <a:ext cx="2587752" cy="569305"/>
          </a:xfrm>
          <a:prstGeom prst="roundRect">
            <a:avLst>
              <a:gd name="adj" fmla="val 14455"/>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502182" y="3214481"/>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890345" y="3237341"/>
            <a:ext cx="1293876"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442996" y="3237341"/>
            <a:ext cx="284652"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321040" y="3683386"/>
            <a:ext cx="2587752" cy="569305"/>
          </a:xfrm>
          <a:prstGeom prst="roundRect">
            <a:avLst>
              <a:gd name="adj" fmla="val 14455"/>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502182" y="3913174"/>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890345" y="3936034"/>
            <a:ext cx="1293876"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442996" y="3936034"/>
            <a:ext cx="284652"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0" y="4023360"/>
            <a:ext cx="3685032" cy="365760"/>
          </a:xfrm>
          <a:prstGeom prst="rect">
            <a:avLst/>
          </a:prstGeom>
          <a:noFill/>
        </p:spPr>
        <p:txBody>
          <a:bodyPr wrap="square" lIns="45720" rIns="45720" tIns="27432" bIns="27432" anchor="t">
            <a:spAutoFit/>
          </a:bodyPr>
          <a:lstStyle/>
          <a:p>
            <a:pPr algn="ctr"/>
            <a:r>
              <a:rPr sz="1700" b="1">
                <a:solidFill>
                  <a:srgbClr val="0E2A2E"/>
                </a:solidFill>
                <a:latin typeface="Arial"/>
              </a:rPr>
              <a:t>Serverul clientului</a:t>
            </a:r>
          </a:p>
        </p:txBody>
      </p:sp>
      <p:sp>
        <p:nvSpPr>
          <p:cNvPr id="32" name="Rounded Rectangle 31"/>
          <p:cNvSpPr/>
          <p:nvPr/>
        </p:nvSpPr>
        <p:spPr>
          <a:xfrm>
            <a:off x="8458200" y="4526280"/>
            <a:ext cx="2331720" cy="365760"/>
          </a:xfrm>
          <a:prstGeom prst="roundRect">
            <a:avLst>
              <a:gd name="adj" fmla="val 50000"/>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4526280"/>
            <a:ext cx="2331720" cy="365760"/>
          </a:xfrm>
          <a:prstGeom prst="rect">
            <a:avLst/>
          </a:prstGeom>
          <a:noFill/>
        </p:spPr>
        <p:txBody>
          <a:bodyPr wrap="square" lIns="45720" rIns="45720" tIns="27432" bIns="27432" anchor="ctr">
            <a:spAutoFit/>
          </a:bodyPr>
          <a:lstStyle/>
          <a:p>
            <a:pPr algn="ctr"/>
            <a:r>
              <a:rPr sz="1200" b="1">
                <a:solidFill>
                  <a:srgbClr val="B95A16"/>
                </a:solidFill>
                <a:latin typeface="Arial"/>
              </a:rPr>
              <a:t>NexonAI: fără acces</a:t>
            </a:r>
          </a:p>
        </p:txBody>
      </p:sp>
      <p:sp>
        <p:nvSpPr>
          <p:cNvPr id="34" name="Rounded Rectangle 33"/>
          <p:cNvSpPr/>
          <p:nvPr/>
        </p:nvSpPr>
        <p:spPr>
          <a:xfrm>
            <a:off x="731520" y="5349240"/>
            <a:ext cx="10725912" cy="685800"/>
          </a:xfrm>
          <a:prstGeom prst="roundRect">
            <a:avLst>
              <a:gd name="adj" fmla="val 18666"/>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349240"/>
            <a:ext cx="10332720" cy="685800"/>
          </a:xfrm>
          <a:prstGeom prst="rect">
            <a:avLst/>
          </a:prstGeom>
          <a:noFill/>
        </p:spPr>
        <p:txBody>
          <a:bodyPr wrap="square" lIns="45720" rIns="45720" tIns="27432" bIns="27432" anchor="ctr">
            <a:spAutoFit/>
          </a:bodyPr>
          <a:lstStyle/>
          <a:p>
            <a:pPr algn="l"/>
            <a:r>
              <a:rPr sz="1500" b="0">
                <a:solidFill>
                  <a:srgbClr val="6B3A0B"/>
                </a:solidFill>
                <a:latin typeface="Arial"/>
              </a:rPr>
              <a:t>Condiția pentru tot: fiecare client își operează propriile servere. Altfel sunt implicați terți. NexonAI nu operează nimic.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PRINCIPIUL</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Principiul: un sistem de cutii poștale</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2 / 7</a:t>
            </a:r>
          </a:p>
        </p:txBody>
      </p:sp>
      <p:sp>
        <p:nvSpPr>
          <p:cNvPr id="6" name="Rounded Rectangle 5"/>
          <p:cNvSpPr/>
          <p:nvPr/>
        </p:nvSpPr>
        <p:spPr>
          <a:xfrm>
            <a:off x="731520" y="1828800"/>
            <a:ext cx="5943600" cy="3291840"/>
          </a:xfrm>
          <a:prstGeom prst="roundRect">
            <a:avLst>
              <a:gd name="adj" fmla="val 555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91840" y="2103120"/>
            <a:ext cx="1554480" cy="2743200"/>
          </a:xfrm>
          <a:prstGeom prst="roundRect">
            <a:avLst>
              <a:gd name="adj" fmla="val 8823"/>
            </a:avLst>
          </a:prstGeom>
          <a:solidFill>
            <a:srgbClr val="EAF2F0"/>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2148840"/>
            <a:ext cx="1554480" cy="274320"/>
          </a:xfrm>
          <a:prstGeom prst="rect">
            <a:avLst/>
          </a:prstGeom>
          <a:noFill/>
        </p:spPr>
        <p:txBody>
          <a:bodyPr wrap="square" lIns="45720" rIns="45720" tIns="27432" bIns="27432" anchor="t">
            <a:spAutoFit/>
          </a:bodyPr>
          <a:lstStyle/>
          <a:p>
            <a:pPr algn="ctr"/>
            <a:r>
              <a:rPr sz="1100" b="1">
                <a:solidFill>
                  <a:srgbClr val="5B6B68"/>
                </a:solidFill>
                <a:latin typeface="Consolas"/>
              </a:rPr>
              <a:t>SERVERUL</a:t>
            </a:r>
          </a:p>
        </p:txBody>
      </p:sp>
      <p:sp>
        <p:nvSpPr>
          <p:cNvPr id="9" name="Rounded Rectangle 8"/>
          <p:cNvSpPr/>
          <p:nvPr/>
        </p:nvSpPr>
        <p:spPr>
          <a:xfrm>
            <a:off x="914400" y="260604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0604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Ana</a:t>
            </a:r>
          </a:p>
        </p:txBody>
      </p:sp>
      <p:cxnSp>
        <p:nvCxnSpPr>
          <p:cNvPr id="11" name="Connector 10"/>
          <p:cNvCxnSpPr/>
          <p:nvPr/>
        </p:nvCxnSpPr>
        <p:spPr>
          <a:xfrm>
            <a:off x="2148840" y="2971800"/>
            <a:ext cx="1600199" cy="0"/>
          </a:xfrm>
          <a:prstGeom prst="line">
            <a:avLst/>
          </a:prstGeom>
          <a:ln w="31750">
            <a:solidFill>
              <a:srgbClr val="0F6B62"/>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148840" y="2496312"/>
            <a:ext cx="1463040" cy="274320"/>
          </a:xfrm>
          <a:prstGeom prst="rect">
            <a:avLst/>
          </a:prstGeom>
          <a:noFill/>
        </p:spPr>
        <p:txBody>
          <a:bodyPr wrap="square" lIns="45720" rIns="45720" tIns="27432" bIns="27432" anchor="t">
            <a:spAutoFit/>
          </a:bodyPr>
          <a:lstStyle/>
          <a:p>
            <a:pPr algn="ctr"/>
            <a:r>
              <a:rPr sz="1200" b="0">
                <a:solidFill>
                  <a:srgbClr val="5B6B68"/>
                </a:solidFill>
                <a:latin typeface="Arial"/>
              </a:rPr>
              <a:t>pune</a:t>
            </a:r>
          </a:p>
        </p:txBody>
      </p:sp>
      <p:sp>
        <p:nvSpPr>
          <p:cNvPr id="13" name="Rounded Rectangle 12"/>
          <p:cNvSpPr/>
          <p:nvPr/>
        </p:nvSpPr>
        <p:spPr>
          <a:xfrm>
            <a:off x="3840480" y="2560320"/>
            <a:ext cx="457200" cy="822960"/>
          </a:xfrm>
          <a:prstGeom prst="roundRect">
            <a:avLst>
              <a:gd name="adj" fmla="val 16000"/>
            </a:avLst>
          </a:prstGeom>
          <a:solidFill>
            <a:srgbClr val="D9F0EB"/>
          </a:solidFill>
          <a:ln w="19050">
            <a:solidFill>
              <a:srgbClr val="0F6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3429000"/>
            <a:ext cx="1554480" cy="274320"/>
          </a:xfrm>
          <a:prstGeom prst="rect">
            <a:avLst/>
          </a:prstGeom>
          <a:noFill/>
        </p:spPr>
        <p:txBody>
          <a:bodyPr wrap="square" lIns="45720" rIns="45720" tIns="27432" bIns="27432" anchor="t">
            <a:spAutoFit/>
          </a:bodyPr>
          <a:lstStyle/>
          <a:p>
            <a:pPr algn="ctr"/>
            <a:r>
              <a:rPr sz="1100" b="0">
                <a:solidFill>
                  <a:srgbClr val="5B6B68"/>
                </a:solidFill>
                <a:latin typeface="Arial"/>
              </a:rPr>
              <a:t>Cutia Anei</a:t>
            </a:r>
          </a:p>
        </p:txBody>
      </p:sp>
      <p:cxnSp>
        <p:nvCxnSpPr>
          <p:cNvPr id="15" name="Connector 14"/>
          <p:cNvCxnSpPr/>
          <p:nvPr/>
        </p:nvCxnSpPr>
        <p:spPr>
          <a:xfrm flipH="1">
            <a:off x="4370832" y="2971800"/>
            <a:ext cx="886968" cy="0"/>
          </a:xfrm>
          <a:prstGeom prst="line">
            <a:avLst/>
          </a:prstGeom>
          <a:ln w="31750">
            <a:solidFill>
              <a:srgbClr val="0F6B6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0" y="2496312"/>
            <a:ext cx="914400" cy="274320"/>
          </a:xfrm>
          <a:prstGeom prst="rect">
            <a:avLst/>
          </a:prstGeom>
          <a:noFill/>
        </p:spPr>
        <p:txBody>
          <a:bodyPr wrap="square" lIns="45720" rIns="45720" tIns="27432" bIns="27432" anchor="t">
            <a:spAutoFit/>
          </a:bodyPr>
          <a:lstStyle/>
          <a:p>
            <a:pPr algn="ctr"/>
            <a:r>
              <a:rPr sz="1200" b="0">
                <a:solidFill>
                  <a:srgbClr val="5B6B68"/>
                </a:solidFill>
                <a:latin typeface="Arial"/>
              </a:rPr>
              <a:t>ridică</a:t>
            </a:r>
          </a:p>
        </p:txBody>
      </p:sp>
      <p:sp>
        <p:nvSpPr>
          <p:cNvPr id="17" name="Rounded Rectangle 16"/>
          <p:cNvSpPr/>
          <p:nvPr/>
        </p:nvSpPr>
        <p:spPr>
          <a:xfrm>
            <a:off x="5303520" y="260604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60604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Ben</a:t>
            </a:r>
          </a:p>
        </p:txBody>
      </p:sp>
      <p:sp>
        <p:nvSpPr>
          <p:cNvPr id="19" name="Rounded Rectangle 18"/>
          <p:cNvSpPr/>
          <p:nvPr/>
        </p:nvSpPr>
        <p:spPr>
          <a:xfrm>
            <a:off x="914400" y="388620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8620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Ben</a:t>
            </a:r>
          </a:p>
        </p:txBody>
      </p:sp>
      <p:cxnSp>
        <p:nvCxnSpPr>
          <p:cNvPr id="21" name="Connector 20"/>
          <p:cNvCxnSpPr/>
          <p:nvPr/>
        </p:nvCxnSpPr>
        <p:spPr>
          <a:xfrm>
            <a:off x="2148840" y="4251960"/>
            <a:ext cx="1600199" cy="0"/>
          </a:xfrm>
          <a:prstGeom prst="line">
            <a:avLst/>
          </a:prstGeom>
          <a:ln w="31750">
            <a:solidFill>
              <a:srgbClr val="B95A16"/>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148840" y="3776472"/>
            <a:ext cx="1463040" cy="274320"/>
          </a:xfrm>
          <a:prstGeom prst="rect">
            <a:avLst/>
          </a:prstGeom>
          <a:noFill/>
        </p:spPr>
        <p:txBody>
          <a:bodyPr wrap="square" lIns="45720" rIns="45720" tIns="27432" bIns="27432" anchor="t">
            <a:spAutoFit/>
          </a:bodyPr>
          <a:lstStyle/>
          <a:p>
            <a:pPr algn="ctr"/>
            <a:r>
              <a:rPr sz="1200" b="0">
                <a:solidFill>
                  <a:srgbClr val="5B6B68"/>
                </a:solidFill>
                <a:latin typeface="Arial"/>
              </a:rPr>
              <a:t>pune</a:t>
            </a:r>
          </a:p>
        </p:txBody>
      </p:sp>
      <p:sp>
        <p:nvSpPr>
          <p:cNvPr id="23" name="Rounded Rectangle 22"/>
          <p:cNvSpPr/>
          <p:nvPr/>
        </p:nvSpPr>
        <p:spPr>
          <a:xfrm>
            <a:off x="3840480" y="3840480"/>
            <a:ext cx="457200" cy="822960"/>
          </a:xfrm>
          <a:prstGeom prst="roundRect">
            <a:avLst>
              <a:gd name="adj" fmla="val 16000"/>
            </a:avLst>
          </a:prstGeom>
          <a:solidFill>
            <a:srgbClr val="FBEBD3"/>
          </a:solidFill>
          <a:ln w="19050">
            <a:solidFill>
              <a:srgbClr val="B95A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709160"/>
            <a:ext cx="1554480" cy="274320"/>
          </a:xfrm>
          <a:prstGeom prst="rect">
            <a:avLst/>
          </a:prstGeom>
          <a:noFill/>
        </p:spPr>
        <p:txBody>
          <a:bodyPr wrap="square" lIns="45720" rIns="45720" tIns="27432" bIns="27432" anchor="t">
            <a:spAutoFit/>
          </a:bodyPr>
          <a:lstStyle/>
          <a:p>
            <a:pPr algn="ctr"/>
            <a:r>
              <a:rPr sz="1100" b="0">
                <a:solidFill>
                  <a:srgbClr val="5B6B68"/>
                </a:solidFill>
                <a:latin typeface="Arial"/>
              </a:rPr>
              <a:t>Cutia lui Ben</a:t>
            </a:r>
          </a:p>
        </p:txBody>
      </p:sp>
      <p:cxnSp>
        <p:nvCxnSpPr>
          <p:cNvPr id="25" name="Connector 24"/>
          <p:cNvCxnSpPr/>
          <p:nvPr/>
        </p:nvCxnSpPr>
        <p:spPr>
          <a:xfrm flipH="1">
            <a:off x="4370832" y="4251960"/>
            <a:ext cx="886968" cy="0"/>
          </a:xfrm>
          <a:prstGeom prst="line">
            <a:avLst/>
          </a:prstGeom>
          <a:ln w="31750">
            <a:solidFill>
              <a:srgbClr val="B95A1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0" y="3776472"/>
            <a:ext cx="914400" cy="274320"/>
          </a:xfrm>
          <a:prstGeom prst="rect">
            <a:avLst/>
          </a:prstGeom>
          <a:noFill/>
        </p:spPr>
        <p:txBody>
          <a:bodyPr wrap="square" lIns="45720" rIns="45720" tIns="27432" bIns="27432" anchor="t">
            <a:spAutoFit/>
          </a:bodyPr>
          <a:lstStyle/>
          <a:p>
            <a:pPr algn="ctr"/>
            <a:r>
              <a:rPr sz="1200" b="0">
                <a:solidFill>
                  <a:srgbClr val="5B6B68"/>
                </a:solidFill>
                <a:latin typeface="Arial"/>
              </a:rPr>
              <a:t>ridică</a:t>
            </a:r>
          </a:p>
        </p:txBody>
      </p:sp>
      <p:sp>
        <p:nvSpPr>
          <p:cNvPr id="27" name="Rounded Rectangle 26"/>
          <p:cNvSpPr/>
          <p:nvPr/>
        </p:nvSpPr>
        <p:spPr>
          <a:xfrm>
            <a:off x="5303520" y="388620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388620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Ana</a:t>
            </a:r>
          </a:p>
        </p:txBody>
      </p:sp>
      <p:sp>
        <p:nvSpPr>
          <p:cNvPr id="29" name="Oval 28"/>
          <p:cNvSpPr/>
          <p:nvPr/>
        </p:nvSpPr>
        <p:spPr>
          <a:xfrm>
            <a:off x="7086600" y="1874519"/>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1874519"/>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1</a:t>
            </a:r>
          </a:p>
        </p:txBody>
      </p:sp>
      <p:sp>
        <p:nvSpPr>
          <p:cNvPr id="31" name="TextBox 30"/>
          <p:cNvSpPr txBox="1"/>
          <p:nvPr/>
        </p:nvSpPr>
        <p:spPr>
          <a:xfrm>
            <a:off x="7726679" y="1810512"/>
            <a:ext cx="3749039" cy="1097280"/>
          </a:xfrm>
          <a:prstGeom prst="rect">
            <a:avLst/>
          </a:prstGeom>
          <a:noFill/>
        </p:spPr>
        <p:txBody>
          <a:bodyPr wrap="square" lIns="45720" rIns="45720" tIns="27432" bIns="27432" anchor="t">
            <a:spAutoFit/>
          </a:bodyPr>
          <a:lstStyle/>
          <a:p>
            <a:pPr algn="l">
              <a:spcAft>
                <a:spcPts val="300"/>
              </a:spcAft>
            </a:pPr>
            <a:r>
              <a:rPr sz="1900" b="1">
                <a:solidFill>
                  <a:srgbClr val="0E2A2E"/>
                </a:solidFill>
                <a:latin typeface="Arial"/>
              </a:rPr>
              <a:t>Fără identități</a:t>
            </a:r>
          </a:p>
          <a:p>
            <a:pPr algn="l"/>
            <a:r>
              <a:rPr sz="1350" b="0">
                <a:solidFill>
                  <a:srgbClr val="5B6B68"/>
                </a:solidFill>
                <a:latin typeface="Arial"/>
              </a:rPr>
              <a:t>Fără conturi, fără nume, fără număr de telefon.</a:t>
            </a:r>
          </a:p>
        </p:txBody>
      </p:sp>
      <p:sp>
        <p:nvSpPr>
          <p:cNvPr id="32" name="Oval 31"/>
          <p:cNvSpPr/>
          <p:nvPr/>
        </p:nvSpPr>
        <p:spPr>
          <a:xfrm>
            <a:off x="7086600" y="2990087"/>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86600" y="2990087"/>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2</a:t>
            </a:r>
          </a:p>
        </p:txBody>
      </p:sp>
      <p:sp>
        <p:nvSpPr>
          <p:cNvPr id="34" name="TextBox 33"/>
          <p:cNvSpPr txBox="1"/>
          <p:nvPr/>
        </p:nvSpPr>
        <p:spPr>
          <a:xfrm>
            <a:off x="7726679" y="2926079"/>
            <a:ext cx="3749039" cy="1097280"/>
          </a:xfrm>
          <a:prstGeom prst="rect">
            <a:avLst/>
          </a:prstGeom>
          <a:noFill/>
        </p:spPr>
        <p:txBody>
          <a:bodyPr wrap="square" lIns="45720" rIns="45720" tIns="27432" bIns="27432" anchor="t">
            <a:spAutoFit/>
          </a:bodyPr>
          <a:lstStyle/>
          <a:p>
            <a:pPr algn="l">
              <a:spcAft>
                <a:spcPts val="300"/>
              </a:spcAft>
            </a:pPr>
            <a:r>
              <a:rPr sz="1900" b="1">
                <a:solidFill>
                  <a:srgbClr val="0E2A2E"/>
                </a:solidFill>
                <a:latin typeface="Arial"/>
              </a:rPr>
              <a:t>Fără legături directe</a:t>
            </a:r>
          </a:p>
          <a:p>
            <a:pPr algn="l"/>
            <a:r>
              <a:rPr sz="1350" b="0">
                <a:solidFill>
                  <a:srgbClr val="5B6B68"/>
                </a:solidFill>
                <a:latin typeface="Arial"/>
              </a:rPr>
              <a:t>Nimeni nu scrie direct cuiva. Nu există nicio linie între două persoane.</a:t>
            </a:r>
          </a:p>
        </p:txBody>
      </p:sp>
      <p:sp>
        <p:nvSpPr>
          <p:cNvPr id="35" name="Oval 34"/>
          <p:cNvSpPr/>
          <p:nvPr/>
        </p:nvSpPr>
        <p:spPr>
          <a:xfrm>
            <a:off x="7086600" y="4105655"/>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4105655"/>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3</a:t>
            </a:r>
          </a:p>
        </p:txBody>
      </p:sp>
      <p:sp>
        <p:nvSpPr>
          <p:cNvPr id="37" name="TextBox 36"/>
          <p:cNvSpPr txBox="1"/>
          <p:nvPr/>
        </p:nvSpPr>
        <p:spPr>
          <a:xfrm>
            <a:off x="7726679" y="4041648"/>
            <a:ext cx="3749039" cy="1097280"/>
          </a:xfrm>
          <a:prstGeom prst="rect">
            <a:avLst/>
          </a:prstGeom>
          <a:noFill/>
        </p:spPr>
        <p:txBody>
          <a:bodyPr wrap="square" lIns="45720" rIns="45720" tIns="27432" bIns="27432" anchor="t">
            <a:spAutoFit/>
          </a:bodyPr>
          <a:lstStyle/>
          <a:p>
            <a:pPr algn="l">
              <a:spcAft>
                <a:spcPts val="300"/>
              </a:spcAft>
            </a:pPr>
            <a:r>
              <a:rPr sz="1900" b="1">
                <a:solidFill>
                  <a:srgbClr val="0E2A2E"/>
                </a:solidFill>
                <a:latin typeface="Arial"/>
              </a:rPr>
              <a:t>Cutia poștală</a:t>
            </a:r>
          </a:p>
          <a:p>
            <a:pPr algn="l"/>
            <a:r>
              <a:rPr sz="1350" b="0">
                <a:solidFill>
                  <a:srgbClr val="5B6B68"/>
                </a:solidFill>
                <a:latin typeface="Arial"/>
              </a:rPr>
              <a:t>Pun mesajul în cutia mea, pe serverul meu, și îi dau contactului datele ca să-l ridice. Invers, la fel.</a:t>
            </a:r>
          </a:p>
        </p:txBody>
      </p:sp>
      <p:sp>
        <p:nvSpPr>
          <p:cNvPr id="38" name="Rounded Rectangle 37"/>
          <p:cNvSpPr/>
          <p:nvPr/>
        </p:nvSpPr>
        <p:spPr>
          <a:xfrm>
            <a:off x="731520" y="5349240"/>
            <a:ext cx="10725912" cy="685800"/>
          </a:xfrm>
          <a:prstGeom prst="roundRect">
            <a:avLst>
              <a:gd name="adj" fmla="val 18666"/>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5349240"/>
            <a:ext cx="10332720" cy="685800"/>
          </a:xfrm>
          <a:prstGeom prst="rect">
            <a:avLst/>
          </a:prstGeom>
          <a:noFill/>
        </p:spPr>
        <p:txBody>
          <a:bodyPr wrap="square" lIns="45720" rIns="45720" tIns="27432" bIns="27432" anchor="ctr">
            <a:spAutoFit/>
          </a:bodyPr>
          <a:lstStyle/>
          <a:p>
            <a:pPr algn="l"/>
            <a:r>
              <a:rPr sz="1700" b="0">
                <a:solidFill>
                  <a:srgbClr val="0E2A2E"/>
                </a:solidFill>
                <a:latin typeface="Arial"/>
              </a:rPr>
              <a:t>Ce rămâne în cutie dispare după cel mult 24 de 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CE ȘTIE SERVERUL</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Ce știe serverul: aproape nimic</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3 / 7</a:t>
            </a:r>
          </a:p>
        </p:txBody>
      </p:sp>
      <p:sp>
        <p:nvSpPr>
          <p:cNvPr id="6" name="Rounded Rectangle 5"/>
          <p:cNvSpPr/>
          <p:nvPr/>
        </p:nvSpPr>
        <p:spPr>
          <a:xfrm>
            <a:off x="731520" y="1828800"/>
            <a:ext cx="5120640" cy="3291840"/>
          </a:xfrm>
          <a:prstGeom prst="roundRect">
            <a:avLst>
              <a:gd name="adj" fmla="val 5555"/>
            </a:avLst>
          </a:prstGeom>
          <a:solidFill>
            <a:srgbClr val="060B0D"/>
          </a:solidFill>
          <a:ln>
            <a:no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663440" cy="2743200"/>
          </a:xfrm>
          <a:prstGeom prst="rect">
            <a:avLst/>
          </a:prstGeom>
          <a:noFill/>
        </p:spPr>
        <p:txBody>
          <a:bodyPr wrap="square" lIns="45720" rIns="45720" tIns="27432" bIns="27432" anchor="t">
            <a:spAutoFit/>
          </a:bodyPr>
          <a:lstStyle/>
          <a:p>
            <a:pPr algn="l">
              <a:spcAft>
                <a:spcPts val="500"/>
              </a:spcAft>
            </a:pPr>
            <a:r>
              <a:rPr sz="1500" b="0">
                <a:solidFill>
                  <a:srgbClr val="8CA3AA"/>
                </a:solidFill>
                <a:latin typeface="Consolas"/>
              </a:rPr>
              <a:t>colet     9f2c71ab04e86d3c5b1a…</a:t>
            </a:r>
          </a:p>
          <a:p>
            <a:pPr algn="l">
              <a:spcAft>
                <a:spcPts val="500"/>
              </a:spcAft>
            </a:pPr>
            <a:r>
              <a:rPr sz="1500" b="0">
                <a:solidFill>
                  <a:srgbClr val="8CA3AA"/>
                </a:solidFill>
                <a:latin typeface="Consolas"/>
              </a:rPr>
              <a:t>mărime    4096 B</a:t>
            </a:r>
          </a:p>
          <a:p>
            <a:pPr algn="l">
              <a:spcAft>
                <a:spcPts val="500"/>
              </a:spcAft>
            </a:pPr>
            <a:r>
              <a:rPr sz="1500" b="0">
                <a:solidFill>
                  <a:srgbClr val="8CA3AA"/>
                </a:solidFill>
                <a:latin typeface="Consolas"/>
              </a:rPr>
              <a:t>expiră    în 5 h 12 min</a:t>
            </a:r>
          </a:p>
          <a:p>
            <a:pPr algn="l">
              <a:spcAft>
                <a:spcPts val="500"/>
              </a:spcAft>
            </a:pPr>
            <a:r>
              <a:rPr sz="1500" b="0">
                <a:solidFill>
                  <a:srgbClr val="8CA3AA"/>
                </a:solidFill>
                <a:latin typeface="Consolas"/>
              </a:rPr>
              <a:t>conținut  ▒▒▒▒▒▒▒▒▒▒▒▒ criptat</a:t>
            </a:r>
          </a:p>
          <a:p>
            <a:pPr algn="l">
              <a:spcAft>
                <a:spcPts val="500"/>
              </a:spcAft>
            </a:pPr>
            <a:r>
              <a:rPr sz="1500" b="0">
                <a:solidFill>
                  <a:srgbClr val="8CA3AA"/>
                </a:solidFill>
                <a:latin typeface="Consolas"/>
              </a:rPr>
              <a:t>de la     nu există</a:t>
            </a:r>
          </a:p>
          <a:p>
            <a:pPr algn="l">
              <a:spcAft>
                <a:spcPts val="500"/>
              </a:spcAft>
            </a:pPr>
            <a:r>
              <a:rPr sz="1500" b="0">
                <a:solidFill>
                  <a:srgbClr val="8CA3AA"/>
                </a:solidFill>
                <a:latin typeface="Consolas"/>
              </a:rPr>
              <a:t>lui       nu există</a:t>
            </a:r>
          </a:p>
          <a:p>
            <a:pPr algn="l">
              <a:spcAft>
                <a:spcPts val="500"/>
              </a:spcAft>
            </a:pPr>
            <a:r>
              <a:rPr sz="1500" b="0">
                <a:solidFill>
                  <a:srgbClr val="8CA3AA"/>
                </a:solidFill>
                <a:latin typeface="Consolas"/>
              </a:rPr>
              <a:t>nume      nu există</a:t>
            </a:r>
          </a:p>
        </p:txBody>
      </p:sp>
      <p:sp>
        <p:nvSpPr>
          <p:cNvPr id="8" name="TextBox 7"/>
          <p:cNvSpPr txBox="1"/>
          <p:nvPr/>
        </p:nvSpPr>
        <p:spPr>
          <a:xfrm>
            <a:off x="731520" y="5166360"/>
            <a:ext cx="5120640" cy="274320"/>
          </a:xfrm>
          <a:prstGeom prst="rect">
            <a:avLst/>
          </a:prstGeom>
          <a:noFill/>
        </p:spPr>
        <p:txBody>
          <a:bodyPr wrap="square" lIns="45720" rIns="45720" tIns="27432" bIns="27432" anchor="t">
            <a:spAutoFit/>
          </a:bodyPr>
          <a:lstStyle/>
          <a:p>
            <a:pPr algn="l"/>
            <a:r>
              <a:rPr sz="1050" b="0">
                <a:solidFill>
                  <a:srgbClr val="5B6B68"/>
                </a:solidFill>
                <a:latin typeface="Arial"/>
              </a:rPr>
              <a:t>Ilustrație, valori aleatorii</a:t>
            </a:r>
          </a:p>
        </p:txBody>
      </p:sp>
      <p:sp>
        <p:nvSpPr>
          <p:cNvPr id="9" name="Rounded Rectangle 8"/>
          <p:cNvSpPr/>
          <p:nvPr/>
        </p:nvSpPr>
        <p:spPr>
          <a:xfrm>
            <a:off x="6263640" y="1828800"/>
            <a:ext cx="5193792" cy="1024128"/>
          </a:xfrm>
          <a:prstGeom prst="roundRect">
            <a:avLst>
              <a:gd name="adj" fmla="val 1428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2084832"/>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084832"/>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1</a:t>
            </a:r>
          </a:p>
        </p:txBody>
      </p:sp>
      <p:sp>
        <p:nvSpPr>
          <p:cNvPr id="12" name="TextBox 11"/>
          <p:cNvSpPr txBox="1"/>
          <p:nvPr/>
        </p:nvSpPr>
        <p:spPr>
          <a:xfrm>
            <a:off x="7132320" y="1865376"/>
            <a:ext cx="4206240" cy="960120"/>
          </a:xfrm>
          <a:prstGeom prst="rect">
            <a:avLst/>
          </a:prstGeom>
          <a:noFill/>
        </p:spPr>
        <p:txBody>
          <a:bodyPr wrap="square" lIns="45720" rIns="45720" tIns="27432" bIns="27432" anchor="ctr">
            <a:spAutoFit/>
          </a:bodyPr>
          <a:lstStyle/>
          <a:p>
            <a:pPr algn="l">
              <a:spcAft>
                <a:spcPts val="300"/>
              </a:spcAft>
            </a:pPr>
            <a:r>
              <a:rPr sz="1550" b="1">
                <a:solidFill>
                  <a:srgbClr val="0E2A2E"/>
                </a:solidFill>
                <a:latin typeface="Arial"/>
              </a:rPr>
              <a:t>Dacă cineva sparge serverul</a:t>
            </a:r>
          </a:p>
          <a:p>
            <a:pPr algn="l"/>
            <a:r>
              <a:rPr sz="1250" b="0">
                <a:solidFill>
                  <a:srgbClr val="5B6B68"/>
                </a:solidFill>
                <a:latin typeface="Arial"/>
              </a:rPr>
              <a:t>Găsește pachete criptate, toate de aceeași mărime, vechi de cel mult 24 de ore. Atât.</a:t>
            </a:r>
          </a:p>
        </p:txBody>
      </p:sp>
      <p:sp>
        <p:nvSpPr>
          <p:cNvPr id="13" name="Rounded Rectangle 12"/>
          <p:cNvSpPr/>
          <p:nvPr/>
        </p:nvSpPr>
        <p:spPr>
          <a:xfrm>
            <a:off x="6263640" y="2971800"/>
            <a:ext cx="5193792" cy="1024128"/>
          </a:xfrm>
          <a:prstGeom prst="roundRect">
            <a:avLst>
              <a:gd name="adj" fmla="val 1428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3227832"/>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227832"/>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2</a:t>
            </a:r>
          </a:p>
        </p:txBody>
      </p:sp>
      <p:sp>
        <p:nvSpPr>
          <p:cNvPr id="16" name="TextBox 15"/>
          <p:cNvSpPr txBox="1"/>
          <p:nvPr/>
        </p:nvSpPr>
        <p:spPr>
          <a:xfrm>
            <a:off x="7132320" y="3008376"/>
            <a:ext cx="4206240" cy="960120"/>
          </a:xfrm>
          <a:prstGeom prst="rect">
            <a:avLst/>
          </a:prstGeom>
          <a:noFill/>
        </p:spPr>
        <p:txBody>
          <a:bodyPr wrap="square" lIns="45720" rIns="45720" tIns="27432" bIns="27432" anchor="ctr">
            <a:spAutoFit/>
          </a:bodyPr>
          <a:lstStyle/>
          <a:p>
            <a:pPr algn="l">
              <a:spcAft>
                <a:spcPts val="300"/>
              </a:spcAft>
            </a:pPr>
            <a:r>
              <a:rPr sz="1550" b="1">
                <a:solidFill>
                  <a:srgbClr val="0E2A2E"/>
                </a:solidFill>
                <a:latin typeface="Arial"/>
              </a:rPr>
              <a:t>Dacă un judecător ordonă confiscarea serverului</a:t>
            </a:r>
          </a:p>
          <a:p>
            <a:pPr algn="l"/>
            <a:r>
              <a:rPr sz="1250" b="0">
                <a:solidFill>
                  <a:srgbClr val="5B6B68"/>
                </a:solidFill>
                <a:latin typeface="Arial"/>
              </a:rPr>
              <a:t>Serverul confiscat dă același lucru: nimic care poate fi citit, fără nume, fără istoric. Dosarele de caz nu sunt pe el.</a:t>
            </a:r>
          </a:p>
        </p:txBody>
      </p:sp>
      <p:sp>
        <p:nvSpPr>
          <p:cNvPr id="17" name="Rounded Rectangle 16"/>
          <p:cNvSpPr/>
          <p:nvPr/>
        </p:nvSpPr>
        <p:spPr>
          <a:xfrm>
            <a:off x="6263640" y="4114800"/>
            <a:ext cx="5193792" cy="1024128"/>
          </a:xfrm>
          <a:prstGeom prst="roundRect">
            <a:avLst>
              <a:gd name="adj" fmla="val 1428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4370832"/>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370832"/>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3</a:t>
            </a:r>
          </a:p>
        </p:txBody>
      </p:sp>
      <p:sp>
        <p:nvSpPr>
          <p:cNvPr id="20" name="TextBox 19"/>
          <p:cNvSpPr txBox="1"/>
          <p:nvPr/>
        </p:nvSpPr>
        <p:spPr>
          <a:xfrm>
            <a:off x="7132320" y="4151376"/>
            <a:ext cx="4206240" cy="960120"/>
          </a:xfrm>
          <a:prstGeom prst="rect">
            <a:avLst/>
          </a:prstGeom>
          <a:noFill/>
        </p:spPr>
        <p:txBody>
          <a:bodyPr wrap="square" lIns="45720" rIns="45720" tIns="27432" bIns="27432" anchor="ctr">
            <a:spAutoFit/>
          </a:bodyPr>
          <a:lstStyle/>
          <a:p>
            <a:pPr algn="l">
              <a:spcAft>
                <a:spcPts val="300"/>
              </a:spcAft>
            </a:pPr>
            <a:r>
              <a:rPr sz="1550" b="1">
                <a:solidFill>
                  <a:srgbClr val="0E2A2E"/>
                </a:solidFill>
                <a:latin typeface="Arial"/>
              </a:rPr>
              <a:t>Dacă cineva întreabă NexonAI</a:t>
            </a:r>
          </a:p>
          <a:p>
            <a:pPr algn="l"/>
            <a:r>
              <a:rPr sz="1250" b="0">
                <a:solidFill>
                  <a:srgbClr val="5B6B68"/>
                </a:solidFill>
                <a:latin typeface="Arial"/>
              </a:rPr>
              <a:t>Nu avem ce preda: nu operăm serverul, nu avem acces și nu avem nicio copie.</a:t>
            </a:r>
          </a:p>
        </p:txBody>
      </p:sp>
      <p:sp>
        <p:nvSpPr>
          <p:cNvPr id="21" name="Rounded Rectangle 20"/>
          <p:cNvSpPr/>
          <p:nvPr/>
        </p:nvSpPr>
        <p:spPr>
          <a:xfrm>
            <a:off x="731520" y="5486400"/>
            <a:ext cx="10725912" cy="548640"/>
          </a:xfrm>
          <a:prstGeom prst="roundRect">
            <a:avLst>
              <a:gd name="adj" fmla="val 23333"/>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486400"/>
            <a:ext cx="10332720" cy="548640"/>
          </a:xfrm>
          <a:prstGeom prst="rect">
            <a:avLst/>
          </a:prstGeom>
          <a:noFill/>
        </p:spPr>
        <p:txBody>
          <a:bodyPr wrap="square" lIns="45720" rIns="45720" tIns="27432" bIns="27432" anchor="ctr">
            <a:spAutoFit/>
          </a:bodyPr>
          <a:lstStyle/>
          <a:p>
            <a:pPr algn="l"/>
            <a:r>
              <a:rPr sz="1600" b="1">
                <a:solidFill>
                  <a:srgbClr val="0E2A2E"/>
                </a:solidFill>
                <a:latin typeface="Arial"/>
              </a:rPr>
              <a:t>Cine sparge găsește gunoi de date. La noi nu există un seif care să merite spart.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SAFELINE</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safeline: trei produse</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4 / 7</a:t>
            </a:r>
          </a:p>
        </p:txBody>
      </p:sp>
      <p:sp>
        <p:nvSpPr>
          <p:cNvPr id="6" name="TextBox 5"/>
          <p:cNvSpPr txBox="1"/>
          <p:nvPr/>
        </p:nvSpPr>
        <p:spPr>
          <a:xfrm>
            <a:off x="5669280" y="530352"/>
            <a:ext cx="5788152" cy="274320"/>
          </a:xfrm>
          <a:prstGeom prst="rect">
            <a:avLst/>
          </a:prstGeom>
          <a:noFill/>
        </p:spPr>
        <p:txBody>
          <a:bodyPr wrap="square" lIns="45720" rIns="45720" tIns="27432" bIns="27432" anchor="t">
            <a:spAutoFit/>
          </a:bodyPr>
          <a:lstStyle/>
          <a:p>
            <a:pPr algn="r"/>
            <a:r>
              <a:rPr sz="1050" b="0">
                <a:solidFill>
                  <a:srgbClr val="5B6B68"/>
                </a:solidFill>
                <a:latin typeface="Arial"/>
              </a:rPr>
              <a:t>Capturi: panou real, date demo · Telefon: ilustrație</a:t>
            </a:r>
          </a:p>
        </p:txBody>
      </p:sp>
      <p:sp>
        <p:nvSpPr>
          <p:cNvPr id="7" name="Rounded Rectangle 6"/>
          <p:cNvSpPr/>
          <p:nvPr/>
        </p:nvSpPr>
        <p:spPr>
          <a:xfrm>
            <a:off x="731520" y="1737360"/>
            <a:ext cx="3429000" cy="2971800"/>
          </a:xfrm>
          <a:prstGeom prst="roundRect">
            <a:avLst>
              <a:gd name="adj" fmla="val 615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19"/>
            <a:ext cx="3154680" cy="1783080"/>
          </a:xfrm>
          <a:prstGeom prst="roundRect">
            <a:avLst>
              <a:gd name="adj" fmla="val 7179"/>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hone_RO_1.png"/>
          <p:cNvPicPr>
            <a:picLocks noChangeAspect="1"/>
          </p:cNvPicPr>
          <p:nvPr/>
        </p:nvPicPr>
        <p:blipFill>
          <a:blip r:embed="rId3"/>
          <a:stretch>
            <a:fillRect/>
          </a:stretch>
        </p:blipFill>
        <p:spPr>
          <a:xfrm>
            <a:off x="2065742" y="1938528"/>
            <a:ext cx="779567" cy="1645920"/>
          </a:xfrm>
          <a:prstGeom prst="rect">
            <a:avLst/>
          </a:prstGeom>
        </p:spPr>
      </p:pic>
      <p:sp>
        <p:nvSpPr>
          <p:cNvPr id="10" name="TextBox 9"/>
          <p:cNvSpPr txBox="1"/>
          <p:nvPr/>
        </p:nvSpPr>
        <p:spPr>
          <a:xfrm>
            <a:off x="914400" y="3749039"/>
            <a:ext cx="3063240" cy="365760"/>
          </a:xfrm>
          <a:prstGeom prst="rect">
            <a:avLst/>
          </a:prstGeom>
          <a:noFill/>
        </p:spPr>
        <p:txBody>
          <a:bodyPr wrap="square" lIns="45720" rIns="45720" tIns="27432" bIns="27432" anchor="t">
            <a:spAutoFit/>
          </a:bodyPr>
          <a:lstStyle/>
          <a:p>
            <a:pPr algn="l"/>
            <a:r>
              <a:rPr sz="1900" b="1">
                <a:solidFill>
                  <a:srgbClr val="0E2A2E"/>
                </a:solidFill>
                <a:latin typeface="Arial"/>
              </a:rPr>
              <a:t>Aplicația mobilă</a:t>
            </a:r>
          </a:p>
        </p:txBody>
      </p:sp>
      <p:sp>
        <p:nvSpPr>
          <p:cNvPr id="11" name="TextBox 10"/>
          <p:cNvSpPr txBox="1"/>
          <p:nvPr/>
        </p:nvSpPr>
        <p:spPr>
          <a:xfrm>
            <a:off x="914400" y="4114800"/>
            <a:ext cx="3063240" cy="548640"/>
          </a:xfrm>
          <a:prstGeom prst="rect">
            <a:avLst/>
          </a:prstGeom>
          <a:noFill/>
        </p:spPr>
        <p:txBody>
          <a:bodyPr wrap="square" lIns="45720" rIns="45720" tIns="27432" bIns="27432" anchor="t">
            <a:spAutoFit/>
          </a:bodyPr>
          <a:lstStyle/>
          <a:p>
            <a:pPr algn="l"/>
            <a:r>
              <a:rPr sz="1350" b="0">
                <a:solidFill>
                  <a:srgbClr val="5B6B68"/>
                </a:solidFill>
                <a:latin typeface="Arial"/>
              </a:rPr>
              <a:t>pentru angajați</a:t>
            </a:r>
          </a:p>
        </p:txBody>
      </p:sp>
      <p:sp>
        <p:nvSpPr>
          <p:cNvPr id="12" name="Rounded Rectangle 11"/>
          <p:cNvSpPr/>
          <p:nvPr/>
        </p:nvSpPr>
        <p:spPr>
          <a:xfrm>
            <a:off x="4370832" y="1737360"/>
            <a:ext cx="3429000" cy="2971800"/>
          </a:xfrm>
          <a:prstGeom prst="roundRect">
            <a:avLst>
              <a:gd name="adj" fmla="val 615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07992" y="1874519"/>
            <a:ext cx="3154680" cy="1783080"/>
          </a:xfrm>
          <a:prstGeom prst="roundRect">
            <a:avLst>
              <a:gd name="adj" fmla="val 7179"/>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39512" y="2084831"/>
            <a:ext cx="1691640" cy="372160"/>
          </a:xfrm>
          <a:prstGeom prst="roundRect">
            <a:avLst>
              <a:gd name="adj" fmla="val 22113"/>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57926" y="2216048"/>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11672" y="2238908"/>
            <a:ext cx="84582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26656" y="2238908"/>
            <a:ext cx="18608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39512" y="2541574"/>
            <a:ext cx="1691640" cy="372160"/>
          </a:xfrm>
          <a:prstGeom prst="roundRect">
            <a:avLst>
              <a:gd name="adj" fmla="val 22113"/>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357926" y="2672791"/>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11672" y="2695651"/>
            <a:ext cx="84582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26656" y="2695651"/>
            <a:ext cx="18608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39512" y="2998317"/>
            <a:ext cx="1691640" cy="372160"/>
          </a:xfrm>
          <a:prstGeom prst="roundRect">
            <a:avLst>
              <a:gd name="adj" fmla="val 22113"/>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357926" y="3129534"/>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11672" y="3152394"/>
            <a:ext cx="84582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26656" y="3152394"/>
            <a:ext cx="18608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3749039"/>
            <a:ext cx="3063240" cy="365760"/>
          </a:xfrm>
          <a:prstGeom prst="rect">
            <a:avLst/>
          </a:prstGeom>
          <a:noFill/>
        </p:spPr>
        <p:txBody>
          <a:bodyPr wrap="square" lIns="45720" rIns="45720" tIns="27432" bIns="27432" anchor="t">
            <a:spAutoFit/>
          </a:bodyPr>
          <a:lstStyle/>
          <a:p>
            <a:pPr algn="l"/>
            <a:r>
              <a:rPr sz="1900" b="1">
                <a:solidFill>
                  <a:srgbClr val="0E2A2E"/>
                </a:solidFill>
                <a:latin typeface="Arial"/>
              </a:rPr>
              <a:t>Serverul</a:t>
            </a:r>
          </a:p>
        </p:txBody>
      </p:sp>
      <p:sp>
        <p:nvSpPr>
          <p:cNvPr id="27" name="TextBox 26"/>
          <p:cNvSpPr txBox="1"/>
          <p:nvPr/>
        </p:nvSpPr>
        <p:spPr>
          <a:xfrm>
            <a:off x="4553712" y="4114800"/>
            <a:ext cx="3063240" cy="548640"/>
          </a:xfrm>
          <a:prstGeom prst="rect">
            <a:avLst/>
          </a:prstGeom>
          <a:noFill/>
        </p:spPr>
        <p:txBody>
          <a:bodyPr wrap="square" lIns="45720" rIns="45720" tIns="27432" bIns="27432" anchor="t">
            <a:spAutoFit/>
          </a:bodyPr>
          <a:lstStyle/>
          <a:p>
            <a:pPr algn="l"/>
            <a:r>
              <a:rPr sz="1350" b="0">
                <a:solidFill>
                  <a:srgbClr val="5B6B68"/>
                </a:solidFill>
                <a:latin typeface="Arial"/>
              </a:rPr>
              <a:t>al organizației</a:t>
            </a:r>
          </a:p>
        </p:txBody>
      </p:sp>
      <p:sp>
        <p:nvSpPr>
          <p:cNvPr id="28" name="Rounded Rectangle 27"/>
          <p:cNvSpPr/>
          <p:nvPr/>
        </p:nvSpPr>
        <p:spPr>
          <a:xfrm>
            <a:off x="8010144" y="1737360"/>
            <a:ext cx="3429000" cy="2971800"/>
          </a:xfrm>
          <a:prstGeom prst="roundRect">
            <a:avLst>
              <a:gd name="adj" fmla="val 615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7304" y="1874519"/>
            <a:ext cx="3154680" cy="1783080"/>
          </a:xfrm>
          <a:prstGeom prst="roundRect">
            <a:avLst>
              <a:gd name="adj" fmla="val 7179"/>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dash_overview_RO.png"/>
          <p:cNvPicPr>
            <a:picLocks noChangeAspect="1"/>
          </p:cNvPicPr>
          <p:nvPr/>
        </p:nvPicPr>
        <p:blipFill>
          <a:blip r:embed="rId4"/>
          <a:stretch>
            <a:fillRect/>
          </a:stretch>
        </p:blipFill>
        <p:spPr>
          <a:xfrm>
            <a:off x="8284464" y="1920240"/>
            <a:ext cx="2788920" cy="1743075"/>
          </a:xfrm>
          <a:prstGeom prst="rect">
            <a:avLst/>
          </a:prstGeom>
        </p:spPr>
      </p:pic>
      <p:sp>
        <p:nvSpPr>
          <p:cNvPr id="31" name="TextBox 30"/>
          <p:cNvSpPr txBox="1"/>
          <p:nvPr/>
        </p:nvSpPr>
        <p:spPr>
          <a:xfrm>
            <a:off x="8193023" y="3749039"/>
            <a:ext cx="3063240" cy="365760"/>
          </a:xfrm>
          <a:prstGeom prst="rect">
            <a:avLst/>
          </a:prstGeom>
          <a:noFill/>
        </p:spPr>
        <p:txBody>
          <a:bodyPr wrap="square" lIns="45720" rIns="45720" tIns="27432" bIns="27432" anchor="t">
            <a:spAutoFit/>
          </a:bodyPr>
          <a:lstStyle/>
          <a:p>
            <a:pPr algn="l"/>
            <a:r>
              <a:rPr sz="1900" b="1">
                <a:solidFill>
                  <a:srgbClr val="0E2A2E"/>
                </a:solidFill>
                <a:latin typeface="Arial"/>
              </a:rPr>
              <a:t>Panoul</a:t>
            </a:r>
          </a:p>
        </p:txBody>
      </p:sp>
      <p:sp>
        <p:nvSpPr>
          <p:cNvPr id="32" name="TextBox 31"/>
          <p:cNvSpPr txBox="1"/>
          <p:nvPr/>
        </p:nvSpPr>
        <p:spPr>
          <a:xfrm>
            <a:off x="8193023" y="4114800"/>
            <a:ext cx="3063240" cy="548640"/>
          </a:xfrm>
          <a:prstGeom prst="rect">
            <a:avLst/>
          </a:prstGeom>
          <a:noFill/>
        </p:spPr>
        <p:txBody>
          <a:bodyPr wrap="square" lIns="45720" rIns="45720" tIns="27432" bIns="27432" anchor="t">
            <a:spAutoFit/>
          </a:bodyPr>
          <a:lstStyle/>
          <a:p>
            <a:pPr algn="l"/>
            <a:r>
              <a:rPr sz="1350" b="0">
                <a:solidFill>
                  <a:srgbClr val="5B6B68"/>
                </a:solidFill>
                <a:latin typeface="Arial"/>
              </a:rPr>
              <a:t>pentru responsabilul de conformitate</a:t>
            </a:r>
          </a:p>
        </p:txBody>
      </p:sp>
      <p:sp>
        <p:nvSpPr>
          <p:cNvPr id="33" name="TextBox 32"/>
          <p:cNvSpPr txBox="1"/>
          <p:nvPr/>
        </p:nvSpPr>
        <p:spPr>
          <a:xfrm>
            <a:off x="731520" y="4873752"/>
            <a:ext cx="5486400" cy="274320"/>
          </a:xfrm>
          <a:prstGeom prst="rect">
            <a:avLst/>
          </a:prstGeom>
          <a:noFill/>
        </p:spPr>
        <p:txBody>
          <a:bodyPr wrap="square" lIns="45720" rIns="45720" tIns="27432" bIns="27432" anchor="t">
            <a:spAutoFit/>
          </a:bodyPr>
          <a:lstStyle/>
          <a:p>
            <a:pPr algn="l"/>
            <a:r>
              <a:rPr sz="1200" b="1">
                <a:solidFill>
                  <a:srgbClr val="0F6B62"/>
                </a:solidFill>
                <a:latin typeface="Consolas"/>
              </a:rPr>
              <a:t>GATA LIVRAT DE LA NOI</a:t>
            </a:r>
          </a:p>
        </p:txBody>
      </p:sp>
      <p:sp>
        <p:nvSpPr>
          <p:cNvPr id="34" name="Rounded Rectangle 33"/>
          <p:cNvSpPr/>
          <p:nvPr/>
        </p:nvSpPr>
        <p:spPr>
          <a:xfrm>
            <a:off x="731520"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59536"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37" name="TextBox 36"/>
          <p:cNvSpPr txBox="1"/>
          <p:nvPr/>
        </p:nvSpPr>
        <p:spPr>
          <a:xfrm>
            <a:off x="1188720"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Termenele legale, deja în panou: 7 zile și 3 luni</a:t>
            </a:r>
          </a:p>
        </p:txBody>
      </p:sp>
      <p:sp>
        <p:nvSpPr>
          <p:cNvPr id="38" name="Rounded Rectangle 37"/>
          <p:cNvSpPr/>
          <p:nvPr/>
        </p:nvSpPr>
        <p:spPr>
          <a:xfrm>
            <a:off x="3456432"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84448"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84448"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41" name="TextBox 40"/>
          <p:cNvSpPr txBox="1"/>
          <p:nvPr/>
        </p:nvSpPr>
        <p:spPr>
          <a:xfrm>
            <a:off x="3913632"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Număr de caz pentru fiecare raportare</a:t>
            </a:r>
          </a:p>
        </p:txBody>
      </p:sp>
      <p:sp>
        <p:nvSpPr>
          <p:cNvPr id="42" name="Rounded Rectangle 41"/>
          <p:cNvSpPr/>
          <p:nvPr/>
        </p:nvSpPr>
        <p:spPr>
          <a:xfrm>
            <a:off x="6181344"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09359"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59"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45" name="TextBox 44"/>
          <p:cNvSpPr txBox="1"/>
          <p:nvPr/>
        </p:nvSpPr>
        <p:spPr>
          <a:xfrm>
            <a:off x="6638544"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Confirmarea de primire pleacă singură</a:t>
            </a:r>
          </a:p>
        </p:txBody>
      </p:sp>
      <p:sp>
        <p:nvSpPr>
          <p:cNvPr id="46" name="Rounded Rectangle 45"/>
          <p:cNvSpPr/>
          <p:nvPr/>
        </p:nvSpPr>
        <p:spPr>
          <a:xfrm>
            <a:off x="8906256"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034272"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34272"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49" name="TextBox 48"/>
          <p:cNvSpPr txBox="1"/>
          <p:nvPr/>
        </p:nvSpPr>
        <p:spPr>
          <a:xfrm>
            <a:off x="9363456"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Codul QR al organizației, gata de distribuit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CUM FUNCȚIONEAZĂ</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Un cod QR. Un caz în panou.</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5 / 7</a:t>
            </a:r>
          </a:p>
        </p:txBody>
      </p:sp>
      <p:sp>
        <p:nvSpPr>
          <p:cNvPr id="6" name="TextBox 5"/>
          <p:cNvSpPr txBox="1"/>
          <p:nvPr/>
        </p:nvSpPr>
        <p:spPr>
          <a:xfrm>
            <a:off x="5669280" y="530352"/>
            <a:ext cx="5788152" cy="274320"/>
          </a:xfrm>
          <a:prstGeom prst="rect">
            <a:avLst/>
          </a:prstGeom>
          <a:noFill/>
        </p:spPr>
        <p:txBody>
          <a:bodyPr wrap="square" lIns="45720" rIns="45720" tIns="27432" bIns="27432" anchor="t">
            <a:spAutoFit/>
          </a:bodyPr>
          <a:lstStyle/>
          <a:p>
            <a:pPr algn="r"/>
            <a:r>
              <a:rPr sz="1050" b="0">
                <a:solidFill>
                  <a:srgbClr val="5B6B68"/>
                </a:solidFill>
                <a:latin typeface="Arial"/>
              </a:rPr>
              <a:t>Capturi: panou real, date demo · Telefon: ilustrație</a:t>
            </a:r>
          </a:p>
        </p:txBody>
      </p:sp>
      <p:sp>
        <p:nvSpPr>
          <p:cNvPr id="7" name="Rounded Rectangle 6"/>
          <p:cNvSpPr/>
          <p:nvPr/>
        </p:nvSpPr>
        <p:spPr>
          <a:xfrm>
            <a:off x="731520" y="1783080"/>
            <a:ext cx="3429000" cy="352044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920240"/>
            <a:ext cx="3154680" cy="2011680"/>
          </a:xfrm>
          <a:prstGeom prst="roundRect">
            <a:avLst>
              <a:gd name="adj" fmla="val 6363"/>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code_RO.png"/>
          <p:cNvPicPr>
            <a:picLocks noChangeAspect="1"/>
          </p:cNvPicPr>
          <p:nvPr/>
        </p:nvPicPr>
        <p:blipFill>
          <a:blip r:embed="rId3"/>
          <a:stretch>
            <a:fillRect/>
          </a:stretch>
        </p:blipFill>
        <p:spPr>
          <a:xfrm>
            <a:off x="960120" y="2011680"/>
            <a:ext cx="2971800" cy="1857375"/>
          </a:xfrm>
          <a:prstGeom prst="rect">
            <a:avLst/>
          </a:prstGeom>
        </p:spPr>
      </p:pic>
      <p:sp>
        <p:nvSpPr>
          <p:cNvPr id="10" name="TextBox 9"/>
          <p:cNvSpPr txBox="1"/>
          <p:nvPr/>
        </p:nvSpPr>
        <p:spPr>
          <a:xfrm>
            <a:off x="914400" y="4023360"/>
            <a:ext cx="3063240" cy="457200"/>
          </a:xfrm>
          <a:prstGeom prst="rect">
            <a:avLst/>
          </a:prstGeom>
          <a:noFill/>
        </p:spPr>
        <p:txBody>
          <a:bodyPr wrap="square" lIns="45720" rIns="45720" tIns="27432" bIns="27432" anchor="t">
            <a:spAutoFit/>
          </a:bodyPr>
          <a:lstStyle/>
          <a:p>
            <a:pPr algn="l"/>
            <a:r>
              <a:rPr sz="1800" b="1">
                <a:solidFill>
                  <a:srgbClr val="0E2A2E"/>
                </a:solidFill>
                <a:latin typeface="Arial"/>
              </a:rPr>
              <a:t>1 · Codul QR</a:t>
            </a:r>
          </a:p>
        </p:txBody>
      </p:sp>
      <p:sp>
        <p:nvSpPr>
          <p:cNvPr id="11" name="TextBox 10"/>
          <p:cNvSpPr txBox="1"/>
          <p:nvPr/>
        </p:nvSpPr>
        <p:spPr>
          <a:xfrm>
            <a:off x="914400" y="4480560"/>
            <a:ext cx="3063240" cy="777240"/>
          </a:xfrm>
          <a:prstGeom prst="rect">
            <a:avLst/>
          </a:prstGeom>
          <a:noFill/>
        </p:spPr>
        <p:txBody>
          <a:bodyPr wrap="square" lIns="45720" rIns="45720" tIns="27432" bIns="27432" anchor="t">
            <a:spAutoFit/>
          </a:bodyPr>
          <a:lstStyle/>
          <a:p>
            <a:pPr algn="l"/>
            <a:r>
              <a:rPr sz="1350" b="0">
                <a:solidFill>
                  <a:srgbClr val="5B6B68"/>
                </a:solidFill>
                <a:latin typeface="Arial"/>
              </a:rPr>
              <a:t>responsabilul îl generează, angajații îl primesc</a:t>
            </a:r>
          </a:p>
        </p:txBody>
      </p:sp>
      <p:sp>
        <p:nvSpPr>
          <p:cNvPr id="12" name="Oval 11"/>
          <p:cNvSpPr/>
          <p:nvPr/>
        </p:nvSpPr>
        <p:spPr>
          <a:xfrm>
            <a:off x="4062222" y="2743200"/>
            <a:ext cx="402336" cy="402336"/>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2222" y="2743200"/>
            <a:ext cx="402336" cy="402336"/>
          </a:xfrm>
          <a:prstGeom prst="rect">
            <a:avLst/>
          </a:prstGeom>
          <a:noFill/>
        </p:spPr>
        <p:txBody>
          <a:bodyPr wrap="square" lIns="45720" rIns="45720" tIns="27432" bIns="27432" anchor="ctr">
            <a:spAutoFit/>
          </a:bodyPr>
          <a:lstStyle/>
          <a:p>
            <a:pPr algn="ctr"/>
            <a:r>
              <a:rPr sz="2000" b="1">
                <a:solidFill>
                  <a:srgbClr val="FFFFFF"/>
                </a:solidFill>
                <a:latin typeface="Arial"/>
              </a:rPr>
              <a:t>›</a:t>
            </a:r>
          </a:p>
        </p:txBody>
      </p:sp>
      <p:sp>
        <p:nvSpPr>
          <p:cNvPr id="14" name="Rounded Rectangle 13"/>
          <p:cNvSpPr/>
          <p:nvPr/>
        </p:nvSpPr>
        <p:spPr>
          <a:xfrm>
            <a:off x="4370832" y="1783080"/>
            <a:ext cx="3429000" cy="352044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07992" y="1920240"/>
            <a:ext cx="3154680" cy="2011680"/>
          </a:xfrm>
          <a:prstGeom prst="roundRect">
            <a:avLst>
              <a:gd name="adj" fmla="val 6363"/>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hone_RO_1.png"/>
          <p:cNvPicPr>
            <a:picLocks noChangeAspect="1"/>
          </p:cNvPicPr>
          <p:nvPr/>
        </p:nvPicPr>
        <p:blipFill>
          <a:blip r:embed="rId4"/>
          <a:stretch>
            <a:fillRect/>
          </a:stretch>
        </p:blipFill>
        <p:spPr>
          <a:xfrm>
            <a:off x="5662801" y="2011680"/>
            <a:ext cx="866186" cy="1828800"/>
          </a:xfrm>
          <a:prstGeom prst="rect">
            <a:avLst/>
          </a:prstGeom>
        </p:spPr>
      </p:pic>
      <p:sp>
        <p:nvSpPr>
          <p:cNvPr id="17" name="TextBox 16"/>
          <p:cNvSpPr txBox="1"/>
          <p:nvPr/>
        </p:nvSpPr>
        <p:spPr>
          <a:xfrm>
            <a:off x="4553712" y="4023360"/>
            <a:ext cx="3063240" cy="457200"/>
          </a:xfrm>
          <a:prstGeom prst="rect">
            <a:avLst/>
          </a:prstGeom>
          <a:noFill/>
        </p:spPr>
        <p:txBody>
          <a:bodyPr wrap="square" lIns="45720" rIns="45720" tIns="27432" bIns="27432" anchor="t">
            <a:spAutoFit/>
          </a:bodyPr>
          <a:lstStyle/>
          <a:p>
            <a:pPr algn="l"/>
            <a:r>
              <a:rPr sz="1800" b="1">
                <a:solidFill>
                  <a:srgbClr val="0E2A2E"/>
                </a:solidFill>
                <a:latin typeface="Arial"/>
              </a:rPr>
              <a:t>2 · Scanează și trimite</a:t>
            </a:r>
          </a:p>
        </p:txBody>
      </p:sp>
      <p:sp>
        <p:nvSpPr>
          <p:cNvPr id="18" name="TextBox 17"/>
          <p:cNvSpPr txBox="1"/>
          <p:nvPr/>
        </p:nvSpPr>
        <p:spPr>
          <a:xfrm>
            <a:off x="4553712" y="4480560"/>
            <a:ext cx="3063240" cy="777240"/>
          </a:xfrm>
          <a:prstGeom prst="rect">
            <a:avLst/>
          </a:prstGeom>
          <a:noFill/>
        </p:spPr>
        <p:txBody>
          <a:bodyPr wrap="square" lIns="45720" rIns="45720" tIns="27432" bIns="27432" anchor="t">
            <a:spAutoFit/>
          </a:bodyPr>
          <a:lstStyle/>
          <a:p>
            <a:pPr algn="l"/>
            <a:r>
              <a:rPr sz="1350" b="0">
                <a:solidFill>
                  <a:srgbClr val="5B6B68"/>
                </a:solidFill>
                <a:latin typeface="Arial"/>
              </a:rPr>
              <a:t>un caz nou, fără nume și fără cont</a:t>
            </a:r>
          </a:p>
        </p:txBody>
      </p:sp>
      <p:sp>
        <p:nvSpPr>
          <p:cNvPr id="19" name="Oval 18"/>
          <p:cNvSpPr/>
          <p:nvPr/>
        </p:nvSpPr>
        <p:spPr>
          <a:xfrm>
            <a:off x="7701534" y="2743200"/>
            <a:ext cx="402336" cy="402336"/>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01534" y="2743200"/>
            <a:ext cx="402336" cy="402336"/>
          </a:xfrm>
          <a:prstGeom prst="rect">
            <a:avLst/>
          </a:prstGeom>
          <a:noFill/>
        </p:spPr>
        <p:txBody>
          <a:bodyPr wrap="square" lIns="45720" rIns="45720" tIns="27432" bIns="27432" anchor="ctr">
            <a:spAutoFit/>
          </a:bodyPr>
          <a:lstStyle/>
          <a:p>
            <a:pPr algn="ctr"/>
            <a:r>
              <a:rPr sz="2000" b="1">
                <a:solidFill>
                  <a:srgbClr val="FFFFFF"/>
                </a:solidFill>
                <a:latin typeface="Arial"/>
              </a:rPr>
              <a:t>›</a:t>
            </a:r>
          </a:p>
        </p:txBody>
      </p:sp>
      <p:sp>
        <p:nvSpPr>
          <p:cNvPr id="21" name="Rounded Rectangle 20"/>
          <p:cNvSpPr/>
          <p:nvPr/>
        </p:nvSpPr>
        <p:spPr>
          <a:xfrm>
            <a:off x="8010144" y="1783080"/>
            <a:ext cx="3429000" cy="352044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47304" y="1920240"/>
            <a:ext cx="3154680" cy="2011680"/>
          </a:xfrm>
          <a:prstGeom prst="roundRect">
            <a:avLst>
              <a:gd name="adj" fmla="val 6363"/>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dash_case_RO.png"/>
          <p:cNvPicPr>
            <a:picLocks noChangeAspect="1"/>
          </p:cNvPicPr>
          <p:nvPr/>
        </p:nvPicPr>
        <p:blipFill>
          <a:blip r:embed="rId5"/>
          <a:stretch>
            <a:fillRect/>
          </a:stretch>
        </p:blipFill>
        <p:spPr>
          <a:xfrm>
            <a:off x="8238744" y="2011680"/>
            <a:ext cx="2971800" cy="1857375"/>
          </a:xfrm>
          <a:prstGeom prst="rect">
            <a:avLst/>
          </a:prstGeom>
        </p:spPr>
      </p:pic>
      <p:sp>
        <p:nvSpPr>
          <p:cNvPr id="24" name="TextBox 23"/>
          <p:cNvSpPr txBox="1"/>
          <p:nvPr/>
        </p:nvSpPr>
        <p:spPr>
          <a:xfrm>
            <a:off x="8193023" y="4023360"/>
            <a:ext cx="3063240" cy="457200"/>
          </a:xfrm>
          <a:prstGeom prst="rect">
            <a:avLst/>
          </a:prstGeom>
          <a:noFill/>
        </p:spPr>
        <p:txBody>
          <a:bodyPr wrap="square" lIns="45720" rIns="45720" tIns="27432" bIns="27432" anchor="t">
            <a:spAutoFit/>
          </a:bodyPr>
          <a:lstStyle/>
          <a:p>
            <a:pPr algn="l"/>
            <a:r>
              <a:rPr sz="1800" b="1">
                <a:solidFill>
                  <a:srgbClr val="0E2A2E"/>
                </a:solidFill>
                <a:latin typeface="Arial"/>
              </a:rPr>
              <a:t>3 · Apare în panou</a:t>
            </a:r>
          </a:p>
        </p:txBody>
      </p:sp>
      <p:sp>
        <p:nvSpPr>
          <p:cNvPr id="25" name="TextBox 24"/>
          <p:cNvSpPr txBox="1"/>
          <p:nvPr/>
        </p:nvSpPr>
        <p:spPr>
          <a:xfrm>
            <a:off x="8193023" y="4480560"/>
            <a:ext cx="3063240" cy="777240"/>
          </a:xfrm>
          <a:prstGeom prst="rect">
            <a:avLst/>
          </a:prstGeom>
          <a:noFill/>
        </p:spPr>
        <p:txBody>
          <a:bodyPr wrap="square" lIns="45720" rIns="45720" tIns="27432" bIns="27432" anchor="t">
            <a:spAutoFit/>
          </a:bodyPr>
          <a:lstStyle/>
          <a:p>
            <a:pPr algn="l"/>
            <a:r>
              <a:rPr sz="1350" b="0">
                <a:solidFill>
                  <a:srgbClr val="5B6B68"/>
                </a:solidFill>
                <a:latin typeface="Arial"/>
              </a:rPr>
              <a:t>cu număr de caz, păstrat la primire</a:t>
            </a:r>
          </a:p>
        </p:txBody>
      </p:sp>
      <p:sp>
        <p:nvSpPr>
          <p:cNvPr id="26" name="Rounded Rectangle 25"/>
          <p:cNvSpPr/>
          <p:nvPr/>
        </p:nvSpPr>
        <p:spPr>
          <a:xfrm>
            <a:off x="731520" y="5468112"/>
            <a:ext cx="10725912" cy="640080"/>
          </a:xfrm>
          <a:prstGeom prst="roundRect">
            <a:avLst>
              <a:gd name="adj" fmla="val 20000"/>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5468112"/>
            <a:ext cx="10332720" cy="640080"/>
          </a:xfrm>
          <a:prstGeom prst="rect">
            <a:avLst/>
          </a:prstGeom>
          <a:noFill/>
        </p:spPr>
        <p:txBody>
          <a:bodyPr wrap="square" lIns="45720" rIns="45720" tIns="27432" bIns="27432" anchor="ctr">
            <a:spAutoFit/>
          </a:bodyPr>
          <a:lstStyle/>
          <a:p>
            <a:pPr algn="l"/>
            <a:r>
              <a:rPr sz="1450" b="0">
                <a:solidFill>
                  <a:srgbClr val="0E2A2E"/>
                </a:solidFill>
                <a:latin typeface="Arial"/>
              </a:rPr>
              <a:t>Confirmarea de primire pleacă singură, cu numărul cazului. În panou nu există funcție de ștergere.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DATELE</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Doar clientul își are datele</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6 / 7</a:t>
            </a:r>
          </a:p>
        </p:txBody>
      </p:sp>
      <p:sp>
        <p:nvSpPr>
          <p:cNvPr id="6" name="Rounded Rectangle 5"/>
          <p:cNvSpPr/>
          <p:nvPr/>
        </p:nvSpPr>
        <p:spPr>
          <a:xfrm>
            <a:off x="731520" y="1783080"/>
            <a:ext cx="3429000" cy="342900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329184"/>
          </a:xfrm>
          <a:prstGeom prst="roundRect">
            <a:avLst>
              <a:gd name="adj" fmla="val 50000"/>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2194560" cy="329184"/>
          </a:xfrm>
          <a:prstGeom prst="rect">
            <a:avLst/>
          </a:prstGeom>
          <a:noFill/>
        </p:spPr>
        <p:txBody>
          <a:bodyPr wrap="square" lIns="45720" rIns="45720" tIns="27432" bIns="27432" anchor="ctr">
            <a:spAutoFit/>
          </a:bodyPr>
          <a:lstStyle/>
          <a:p>
            <a:pPr algn="ctr"/>
            <a:r>
              <a:rPr sz="1150" b="1">
                <a:solidFill>
                  <a:srgbClr val="0F6B62"/>
                </a:solidFill>
                <a:latin typeface="Consolas"/>
              </a:rPr>
              <a:t>GDPR</a:t>
            </a:r>
          </a:p>
        </p:txBody>
      </p:sp>
      <p:sp>
        <p:nvSpPr>
          <p:cNvPr id="9" name="TextBox 8"/>
          <p:cNvSpPr txBox="1"/>
          <p:nvPr/>
        </p:nvSpPr>
        <p:spPr>
          <a:xfrm>
            <a:off x="932688" y="2468880"/>
            <a:ext cx="3063240" cy="2743200"/>
          </a:xfrm>
          <a:prstGeom prst="rect">
            <a:avLst/>
          </a:prstGeom>
          <a:noFill/>
        </p:spPr>
        <p:txBody>
          <a:bodyPr wrap="square" lIns="45720" rIns="45720" tIns="27432" bIns="27432" anchor="t">
            <a:spAutoFit/>
          </a:bodyPr>
          <a:lstStyle/>
          <a:p>
            <a:pPr algn="l">
              <a:spcAft>
                <a:spcPts val="800"/>
              </a:spcAft>
            </a:pPr>
            <a:r>
              <a:rPr sz="1350" b="0">
                <a:solidFill>
                  <a:srgbClr val="0E2A2E"/>
                </a:solidFill>
                <a:latin typeface="Arial"/>
              </a:rPr>
              <a:t>•  Organizația este operatorul de date. Datele sunt într-un singur loc, la ea.</a:t>
            </a:r>
          </a:p>
          <a:p>
            <a:pPr algn="l">
              <a:spcAft>
                <a:spcPts val="800"/>
              </a:spcAft>
            </a:pPr>
            <a:r>
              <a:rPr sz="1350" b="0">
                <a:solidFill>
                  <a:srgbClr val="0E2A2E"/>
                </a:solidFill>
                <a:latin typeface="Arial"/>
              </a:rPr>
              <a:t>•  NexonAI nu are acces și, în mod normal, nu este persoană împuternicită.</a:t>
            </a:r>
          </a:p>
          <a:p>
            <a:pPr algn="l">
              <a:spcAft>
                <a:spcPts val="800"/>
              </a:spcAft>
            </a:pPr>
            <a:r>
              <a:rPr sz="1350" b="0">
                <a:solidFill>
                  <a:srgbClr val="0E2A2E"/>
                </a:solidFill>
                <a:latin typeface="Arial"/>
              </a:rPr>
              <a:t>•  Obligațiile rămân la organizație: temeiul, informarea, registrul, păstrarea, notificarea în 72 de ore.</a:t>
            </a:r>
          </a:p>
        </p:txBody>
      </p:sp>
      <p:sp>
        <p:nvSpPr>
          <p:cNvPr id="10" name="Rounded Rectangle 9"/>
          <p:cNvSpPr/>
          <p:nvPr/>
        </p:nvSpPr>
        <p:spPr>
          <a:xfrm>
            <a:off x="4370832" y="1783080"/>
            <a:ext cx="3429000" cy="342900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1965960"/>
            <a:ext cx="2194560" cy="329184"/>
          </a:xfrm>
          <a:prstGeom prst="roundRect">
            <a:avLst>
              <a:gd name="adj" fmla="val 50000"/>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65960"/>
            <a:ext cx="2194560" cy="329184"/>
          </a:xfrm>
          <a:prstGeom prst="rect">
            <a:avLst/>
          </a:prstGeom>
          <a:noFill/>
        </p:spPr>
        <p:txBody>
          <a:bodyPr wrap="square" lIns="45720" rIns="45720" tIns="27432" bIns="27432" anchor="ctr">
            <a:spAutoFit/>
          </a:bodyPr>
          <a:lstStyle/>
          <a:p>
            <a:pPr algn="ctr"/>
            <a:r>
              <a:rPr sz="1150" b="1">
                <a:solidFill>
                  <a:srgbClr val="0F6B62"/>
                </a:solidFill>
                <a:latin typeface="Consolas"/>
              </a:rPr>
              <a:t>AUDITURI INTERNE</a:t>
            </a:r>
          </a:p>
        </p:txBody>
      </p:sp>
      <p:sp>
        <p:nvSpPr>
          <p:cNvPr id="13" name="TextBox 12"/>
          <p:cNvSpPr txBox="1"/>
          <p:nvPr/>
        </p:nvSpPr>
        <p:spPr>
          <a:xfrm>
            <a:off x="4572000" y="2468880"/>
            <a:ext cx="3063240" cy="2743200"/>
          </a:xfrm>
          <a:prstGeom prst="rect">
            <a:avLst/>
          </a:prstGeom>
          <a:noFill/>
        </p:spPr>
        <p:txBody>
          <a:bodyPr wrap="square" lIns="45720" rIns="45720" tIns="27432" bIns="27432" anchor="t">
            <a:spAutoFit/>
          </a:bodyPr>
          <a:lstStyle/>
          <a:p>
            <a:pPr algn="l">
              <a:spcAft>
                <a:spcPts val="800"/>
              </a:spcAft>
            </a:pPr>
            <a:r>
              <a:rPr sz="1350" b="0">
                <a:solidFill>
                  <a:srgbClr val="0E2A2E"/>
                </a:solidFill>
                <a:latin typeface="Arial"/>
              </a:rPr>
              <a:t>•  Un singur loc de verificat: serverul, panoul și laptopul responsabilului, toate la client.</a:t>
            </a:r>
          </a:p>
          <a:p>
            <a:pPr algn="l">
              <a:spcAft>
                <a:spcPts val="800"/>
              </a:spcAft>
            </a:pPr>
            <a:r>
              <a:rPr sz="1350" b="0">
                <a:solidFill>
                  <a:srgbClr val="0E2A2E"/>
                </a:solidFill>
                <a:latin typeface="Arial"/>
              </a:rPr>
              <a:t>•  Cazurile se păstrează la primire. În panou nu există funcție de ștergere.</a:t>
            </a:r>
          </a:p>
          <a:p>
            <a:pPr algn="l">
              <a:spcAft>
                <a:spcPts val="800"/>
              </a:spcAft>
            </a:pPr>
            <a:r>
              <a:rPr sz="1350" b="0">
                <a:solidFill>
                  <a:srgbClr val="0E2A2E"/>
                </a:solidFill>
                <a:latin typeface="Arial"/>
              </a:rPr>
              <a:t>•  Nu trebuie cerut nimic unui terț.</a:t>
            </a:r>
          </a:p>
        </p:txBody>
      </p:sp>
      <p:sp>
        <p:nvSpPr>
          <p:cNvPr id="14" name="Rounded Rectangle 13"/>
          <p:cNvSpPr/>
          <p:nvPr/>
        </p:nvSpPr>
        <p:spPr>
          <a:xfrm>
            <a:off x="8010144" y="1783080"/>
            <a:ext cx="3429000" cy="342900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3023" y="1965960"/>
            <a:ext cx="2194560" cy="329184"/>
          </a:xfrm>
          <a:prstGeom prst="roundRect">
            <a:avLst>
              <a:gd name="adj" fmla="val 50000"/>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3" y="1965960"/>
            <a:ext cx="2194560" cy="329184"/>
          </a:xfrm>
          <a:prstGeom prst="rect">
            <a:avLst/>
          </a:prstGeom>
          <a:noFill/>
        </p:spPr>
        <p:txBody>
          <a:bodyPr wrap="square" lIns="45720" rIns="45720" tIns="27432" bIns="27432" anchor="ctr">
            <a:spAutoFit/>
          </a:bodyPr>
          <a:lstStyle/>
          <a:p>
            <a:pPr algn="ctr"/>
            <a:r>
              <a:rPr sz="1150" b="1">
                <a:solidFill>
                  <a:srgbClr val="B95A16"/>
                </a:solidFill>
                <a:latin typeface="Consolas"/>
              </a:rPr>
              <a:t>ÎN GENERAL</a:t>
            </a:r>
          </a:p>
        </p:txBody>
      </p:sp>
      <p:sp>
        <p:nvSpPr>
          <p:cNvPr id="17" name="TextBox 16"/>
          <p:cNvSpPr txBox="1"/>
          <p:nvPr/>
        </p:nvSpPr>
        <p:spPr>
          <a:xfrm>
            <a:off x="8211312" y="2468880"/>
            <a:ext cx="3063240" cy="2743200"/>
          </a:xfrm>
          <a:prstGeom prst="rect">
            <a:avLst/>
          </a:prstGeom>
          <a:noFill/>
        </p:spPr>
        <p:txBody>
          <a:bodyPr wrap="square" lIns="45720" rIns="45720" tIns="27432" bIns="27432" anchor="t">
            <a:spAutoFit/>
          </a:bodyPr>
          <a:lstStyle/>
          <a:p>
            <a:pPr algn="l">
              <a:spcAft>
                <a:spcPts val="800"/>
              </a:spcAft>
            </a:pPr>
            <a:r>
              <a:rPr sz="1350" b="0">
                <a:solidFill>
                  <a:srgbClr val="0E2A2E"/>
                </a:solidFill>
                <a:latin typeface="Arial"/>
              </a:rPr>
              <a:t>•  Între raportor și responsabil nu stă nicio terță parte.</a:t>
            </a:r>
          </a:p>
          <a:p>
            <a:pPr algn="l">
              <a:spcAft>
                <a:spcPts val="800"/>
              </a:spcAft>
            </a:pPr>
            <a:r>
              <a:rPr sz="1350" b="0">
                <a:solidFill>
                  <a:srgbClr val="0E2A2E"/>
                </a:solidFill>
                <a:latin typeface="Arial"/>
              </a:rPr>
              <a:t>•  O cerere a autorităților se adresează organizației, singura care are datele.</a:t>
            </a:r>
          </a:p>
          <a:p>
            <a:pPr algn="l">
              <a:spcAft>
                <a:spcPts val="800"/>
              </a:spcAft>
            </a:pPr>
            <a:r>
              <a:rPr sz="1350" b="0">
                <a:solidFill>
                  <a:srgbClr val="0E2A2E"/>
                </a:solidFill>
                <a:latin typeface="Arial"/>
              </a:rPr>
              <a:t>•  Nu există un cont central care să poată fi spart.</a:t>
            </a:r>
          </a:p>
        </p:txBody>
      </p:sp>
      <p:sp>
        <p:nvSpPr>
          <p:cNvPr id="18" name="TextBox 17"/>
          <p:cNvSpPr txBox="1"/>
          <p:nvPr/>
        </p:nvSpPr>
        <p:spPr>
          <a:xfrm>
            <a:off x="731520" y="5394960"/>
            <a:ext cx="10698480" cy="548640"/>
          </a:xfrm>
          <a:prstGeom prst="rect">
            <a:avLst/>
          </a:prstGeom>
          <a:noFill/>
        </p:spPr>
        <p:txBody>
          <a:bodyPr wrap="square" lIns="45720" rIns="45720" tIns="27432" bIns="27432" anchor="t">
            <a:spAutoFit/>
          </a:bodyPr>
          <a:lstStyle/>
          <a:p>
            <a:pPr algn="l"/>
            <a:r>
              <a:rPr sz="1500" b="1">
                <a:solidFill>
                  <a:srgbClr val="5B6B68"/>
                </a:solidFill>
                <a:latin typeface="Arial"/>
              </a:rPr>
              <a:t>Nu pretindem conformitate cu GDPR. O confirmă responsabilul cu protecția datelor sau un jurist.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SINCER</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Ce nu pot să vă promit</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7 / 7</a:t>
            </a:r>
          </a:p>
        </p:txBody>
      </p:sp>
      <p:sp>
        <p:nvSpPr>
          <p:cNvPr id="6" name="Rounded Rectangle 5"/>
          <p:cNvSpPr/>
          <p:nvPr/>
        </p:nvSpPr>
        <p:spPr>
          <a:xfrm>
            <a:off x="731520" y="1874519"/>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225856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5856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9" name="TextBox 8"/>
          <p:cNvSpPr txBox="1"/>
          <p:nvPr/>
        </p:nvSpPr>
        <p:spPr>
          <a:xfrm>
            <a:off x="1783080" y="1874519"/>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Este un pilot, nu un produs finalizat și certificat.</a:t>
            </a:r>
          </a:p>
        </p:txBody>
      </p:sp>
      <p:sp>
        <p:nvSpPr>
          <p:cNvPr id="10" name="Rounded Rectangle 9"/>
          <p:cNvSpPr/>
          <p:nvPr/>
        </p:nvSpPr>
        <p:spPr>
          <a:xfrm>
            <a:off x="6199632" y="1874519"/>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73952" y="225856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25856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13" name="TextBox 12"/>
          <p:cNvSpPr txBox="1"/>
          <p:nvPr/>
        </p:nvSpPr>
        <p:spPr>
          <a:xfrm>
            <a:off x="7251192" y="1874519"/>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Nu a fost încă auditat de o parte independentă.</a:t>
            </a:r>
          </a:p>
        </p:txBody>
      </p:sp>
      <p:sp>
        <p:nvSpPr>
          <p:cNvPr id="14" name="Rounded Rectangle 13"/>
          <p:cNvSpPr/>
          <p:nvPr/>
        </p:nvSpPr>
        <p:spPr>
          <a:xfrm>
            <a:off x="731520" y="3429000"/>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381304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81304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17" name="TextBox 16"/>
          <p:cNvSpPr txBox="1"/>
          <p:nvPr/>
        </p:nvSpPr>
        <p:spPr>
          <a:xfrm>
            <a:off x="1783080" y="3429000"/>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Nu înlocuiește consilierea juridică.</a:t>
            </a:r>
          </a:p>
        </p:txBody>
      </p:sp>
      <p:sp>
        <p:nvSpPr>
          <p:cNvPr id="18" name="Rounded Rectangle 17"/>
          <p:cNvSpPr/>
          <p:nvPr/>
        </p:nvSpPr>
        <p:spPr>
          <a:xfrm>
            <a:off x="6199632" y="3429000"/>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73952" y="381304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81304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21" name="TextBox 20"/>
          <p:cNvSpPr txBox="1"/>
          <p:nvPr/>
        </p:nvSpPr>
        <p:spPr>
          <a:xfrm>
            <a:off x="7251192" y="3429000"/>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Unele părți le-am testat în laborator.</a:t>
            </a:r>
          </a:p>
        </p:txBody>
      </p:sp>
      <p:sp>
        <p:nvSpPr>
          <p:cNvPr id="22" name="TextBox 21"/>
          <p:cNvSpPr txBox="1"/>
          <p:nvPr/>
        </p:nvSpPr>
        <p:spPr>
          <a:xfrm>
            <a:off x="731520" y="5166360"/>
            <a:ext cx="10698480" cy="457200"/>
          </a:xfrm>
          <a:prstGeom prst="rect">
            <a:avLst/>
          </a:prstGeom>
          <a:noFill/>
        </p:spPr>
        <p:txBody>
          <a:bodyPr wrap="square" lIns="45720" rIns="45720" tIns="27432" bIns="27432" anchor="t">
            <a:spAutoFit/>
          </a:bodyPr>
          <a:lstStyle/>
          <a:p>
            <a:pPr algn="l"/>
            <a:r>
              <a:rPr sz="1800" b="0">
                <a:solidFill>
                  <a:srgbClr val="5B6B68"/>
                </a:solidFill>
                <a:latin typeface="Arial"/>
              </a:rPr>
              <a:t>Vă spun asta deschis. Încrederea începe cu ce nu pot.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2A2E"/>
        </a:solidFill>
        <a:effectLst/>
      </p:bgPr>
    </p:bg>
    <p:spTree>
      <p:nvGrpSpPr>
        <p:cNvPr id="1" name=""/>
        <p:cNvGrpSpPr/>
        <p:nvPr/>
      </p:nvGrpSpPr>
      <p:grpSpPr/>
      <p:sp>
        <p:nvSpPr>
          <p:cNvPr id="2" name="Oval 1"/>
          <p:cNvSpPr/>
          <p:nvPr/>
        </p:nvSpPr>
        <p:spPr>
          <a:xfrm>
            <a:off x="8503920" y="-2011680"/>
            <a:ext cx="5852160" cy="585216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24160" y="4572000"/>
            <a:ext cx="3291840" cy="329184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7772400" cy="365760"/>
          </a:xfrm>
          <a:prstGeom prst="rect">
            <a:avLst/>
          </a:prstGeom>
          <a:noFill/>
        </p:spPr>
        <p:txBody>
          <a:bodyPr wrap="square" lIns="45720" rIns="45720" tIns="27432" bIns="27432" anchor="t">
            <a:spAutoFit/>
          </a:bodyPr>
          <a:lstStyle/>
          <a:p>
            <a:pPr algn="l"/>
            <a:r>
              <a:rPr sz="1200" b="1">
                <a:solidFill>
                  <a:srgbClr val="45D0BB"/>
                </a:solidFill>
                <a:latin typeface="Consolas"/>
              </a:rPr>
              <a:t>PILOTUL ȘI INVITAȚIA</a:t>
            </a:r>
          </a:p>
        </p:txBody>
      </p:sp>
      <p:sp>
        <p:nvSpPr>
          <p:cNvPr id="5" name="TextBox 4"/>
          <p:cNvSpPr txBox="1"/>
          <p:nvPr/>
        </p:nvSpPr>
        <p:spPr>
          <a:xfrm>
            <a:off x="731520" y="1371600"/>
            <a:ext cx="6675120" cy="2194560"/>
          </a:xfrm>
          <a:prstGeom prst="rect">
            <a:avLst/>
          </a:prstGeom>
          <a:noFill/>
        </p:spPr>
        <p:txBody>
          <a:bodyPr wrap="square" lIns="45720" rIns="45720" tIns="27432" bIns="27432" anchor="t">
            <a:spAutoFit/>
          </a:bodyPr>
          <a:lstStyle/>
          <a:p>
            <a:pPr algn="l"/>
            <a:r>
              <a:rPr sz="3600" b="1">
                <a:solidFill>
                  <a:srgbClr val="FFFFFF"/>
                </a:solidFill>
                <a:latin typeface="Arial"/>
              </a:rPr>
              <a:t>Începem la Universitatea „1 Decembrie 1918” din Alba Iulia</a:t>
            </a:r>
          </a:p>
        </p:txBody>
      </p:sp>
      <p:sp>
        <p:nvSpPr>
          <p:cNvPr id="6" name="TextBox 5"/>
          <p:cNvSpPr txBox="1"/>
          <p:nvPr/>
        </p:nvSpPr>
        <p:spPr>
          <a:xfrm>
            <a:off x="731520" y="3657600"/>
            <a:ext cx="6400800" cy="1188720"/>
          </a:xfrm>
          <a:prstGeom prst="rect">
            <a:avLst/>
          </a:prstGeom>
          <a:noFill/>
        </p:spPr>
        <p:txBody>
          <a:bodyPr wrap="square" lIns="45720" rIns="45720" tIns="27432" bIns="27432" anchor="t">
            <a:spAutoFit/>
          </a:bodyPr>
          <a:lstStyle/>
          <a:p>
            <a:pPr algn="l"/>
            <a:r>
              <a:rPr sz="1800" b="0">
                <a:solidFill>
                  <a:srgbClr val="BFD6D3"/>
                </a:solidFill>
                <a:latin typeface="Arial"/>
              </a:rPr>
              <a:t>Căutăm 2–3 parteneri pilot din profesii cu obligație de confidențialitate. Începem mic, măsurăm, ajustăm împreună.</a:t>
            </a:r>
          </a:p>
        </p:txBody>
      </p:sp>
      <p:sp>
        <p:nvSpPr>
          <p:cNvPr id="7" name="TextBox 6"/>
          <p:cNvSpPr txBox="1"/>
          <p:nvPr/>
        </p:nvSpPr>
        <p:spPr>
          <a:xfrm>
            <a:off x="731520" y="4892040"/>
            <a:ext cx="6400800" cy="1097280"/>
          </a:xfrm>
          <a:prstGeom prst="rect">
            <a:avLst/>
          </a:prstGeom>
          <a:noFill/>
        </p:spPr>
        <p:txBody>
          <a:bodyPr wrap="square" lIns="45720" rIns="45720" tIns="27432" bIns="27432" anchor="t">
            <a:spAutoFit/>
          </a:bodyPr>
          <a:lstStyle/>
          <a:p>
            <a:pPr algn="l"/>
            <a:r>
              <a:rPr sz="1700" b="0">
                <a:solidFill>
                  <a:srgbClr val="FFFFFF"/>
                </a:solidFill>
                <a:latin typeface="Arial"/>
              </a:rPr>
              <a:t>Gabriel Hategan · NexonAI Consulting SRL</a:t>
            </a:r>
          </a:p>
          <a:p>
            <a:pPr algn="l"/>
            <a:r>
              <a:rPr sz="1700" b="0">
                <a:solidFill>
                  <a:srgbClr val="FFFFFF"/>
                </a:solidFill>
                <a:latin typeface="Arial"/>
              </a:rPr>
              <a:t>gabriel@nexonai.ro</a:t>
            </a:r>
          </a:p>
          <a:p>
            <a:pPr algn="l"/>
            <a:r>
              <a:rPr sz="1700" b="0">
                <a:solidFill>
                  <a:srgbClr val="FFFFFF"/>
                </a:solidFill>
                <a:latin typeface="Arial"/>
              </a:rPr>
              <a:t>+40 773 829646</a:t>
            </a:r>
          </a:p>
        </p:txBody>
      </p:sp>
      <p:pic>
        <p:nvPicPr>
          <p:cNvPr id="8" name="Picture 7" descr="qr_card.png"/>
          <p:cNvPicPr>
            <a:picLocks noChangeAspect="1"/>
          </p:cNvPicPr>
          <p:nvPr/>
        </p:nvPicPr>
        <p:blipFill>
          <a:blip r:embed="rId2"/>
          <a:stretch>
            <a:fillRect/>
          </a:stretch>
        </p:blipFill>
        <p:spPr>
          <a:xfrm>
            <a:off x="8046720" y="1371600"/>
            <a:ext cx="3200400" cy="3200400"/>
          </a:xfrm>
          <a:prstGeom prst="rect">
            <a:avLst/>
          </a:prstGeom>
        </p:spPr>
      </p:pic>
      <p:sp>
        <p:nvSpPr>
          <p:cNvPr id="9" name="TextBox 8"/>
          <p:cNvSpPr txBox="1"/>
          <p:nvPr/>
        </p:nvSpPr>
        <p:spPr>
          <a:xfrm>
            <a:off x="8046720" y="4663440"/>
            <a:ext cx="3200400" cy="365760"/>
          </a:xfrm>
          <a:prstGeom prst="rect">
            <a:avLst/>
          </a:prstGeom>
          <a:noFill/>
        </p:spPr>
        <p:txBody>
          <a:bodyPr wrap="square" lIns="45720" rIns="45720" tIns="27432" bIns="27432" anchor="t">
            <a:spAutoFit/>
          </a:bodyPr>
          <a:lstStyle/>
          <a:p>
            <a:pPr algn="ctr"/>
            <a:r>
              <a:rPr sz="1200" b="0">
                <a:solidFill>
                  <a:srgbClr val="BFD6D3"/>
                </a:solidFill>
                <a:latin typeface="Arial"/>
              </a:rPr>
              <a:t>Scanați pentru a salva contactul</a:t>
            </a:r>
          </a:p>
        </p:txBody>
      </p:sp>
      <p:pic>
        <p:nvPicPr>
          <p:cNvPr id="10" name="Picture 9" descr="logo_white.png"/>
          <p:cNvPicPr>
            <a:picLocks noChangeAspect="1"/>
          </p:cNvPicPr>
          <p:nvPr/>
        </p:nvPicPr>
        <p:blipFill>
          <a:blip r:embed="rId3"/>
          <a:stretch>
            <a:fillRect/>
          </a:stretch>
        </p:blipFill>
        <p:spPr>
          <a:xfrm>
            <a:off x="731520" y="6126480"/>
            <a:ext cx="1169421"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