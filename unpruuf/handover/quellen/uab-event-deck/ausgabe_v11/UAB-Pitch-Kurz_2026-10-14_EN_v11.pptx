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page · 0:00–0:20</a:t>
            </a:r>
          </a:p>
          <a:p>
            <a:r>
              <a:t>Good day, and thank you for the invitation.</a:t>
            </a:r>
          </a:p>
          <a:p>
            <a:r>
              <a:t>I will show you briefly what we are building: a communication solution without identities and, on top of it, a whistleblower channel.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 0:20–1:20</a:t>
            </a:r>
          </a:p>
          <a:p>
            <a:r>
              <a:t>Our customer gets the server solution from us, ready to start. It is their server: they run it themselves.</a:t>
            </a:r>
          </a:p>
          <a:p>
            <a:r>
              <a:t>The precondition for everything: every customer runs their own servers. Otherwise third parties are involved. NexonAI runs nothing and has no access.</a:t>
            </a:r>
          </a:p>
          <a:p>
            <a:r>
              <a:t>The server works with completely anonymous addresses that only the customer knows and decides who gets them.</a:t>
            </a:r>
          </a:p>
          <a:p>
            <a:r>
              <a:t>And nothing stays there: whatever arrives on the server is gone after 24 hours at most.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 1:20–2:50</a:t>
            </a:r>
          </a:p>
          <a:p>
            <a:r>
              <a:t>The principle is simple and has three parts.</a:t>
            </a:r>
          </a:p>
          <a:p>
            <a:r>
              <a:t>First: no identities. No accounts, no names, no phone numbers.</a:t>
            </a:r>
          </a:p>
          <a:p>
            <a:r>
              <a:t>Second: no direct connections. Nobody writes directly to anyone, so there is no line between two people.</a:t>
            </a:r>
          </a:p>
          <a:p>
            <a:r>
              <a:t>Third: the mailbox principle. I never write directly. I put the message into my mailbox, on my server, and give my contact the details to find the server, pick up the message and read it. The same happens the other way round: Anna puts into her mailbox, Ben picks up from there. Ben puts into his, Anna picks up.</a:t>
            </a:r>
          </a:p>
          <a:p>
            <a:r>
              <a:t>What stays in the mailbox is gone after 24 hours at most.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 2:50–4:00</a:t>
            </a:r>
          </a:p>
          <a:p>
            <a:r>
              <a:t>What does the server know? Almost nothing.</a:t>
            </a:r>
          </a:p>
          <a:p>
            <a:r>
              <a:t>On it sit encrypted packets, all the same size, each with an expiry time. From whom, to whom, with what content, what names: that is not there.</a:t>
            </a:r>
          </a:p>
          <a:p>
            <a:r>
              <a:t>If someone breaks into the server, they find encrypted packets at most 24 hours old. Data junk. With us there is no vault worth cracking.</a:t>
            </a:r>
          </a:p>
          <a:p>
            <a:r>
              <a:t>If a court orders the server seized, it gets the same: nothing readable, no names, no history. The case files are not on the server.</a:t>
            </a:r>
          </a:p>
          <a:p>
            <a:r>
              <a:t>If someone asks NexonAI: we have nothing to hand over. We do not run the server, we have no access and we have no copy.</a:t>
            </a:r>
          </a:p>
          <a:p>
            <a:r>
              <a:t>[If someone asks: a server sees that and when a packet arrives and how big it is, not the content. If a request is about content, it goes to the organisation, which has the data.]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 4:00–4:50</a:t>
            </a:r>
          </a:p>
          <a:p>
            <a:r>
              <a:t>Our compliance solution is called safeline. It has three products: the mobile app for employees, the organisation's server and the dashboard for the compliance officer.</a:t>
            </a:r>
          </a:p>
          <a:p>
            <a:r>
              <a:t>No accounts, no names, no phone numbers.</a:t>
            </a:r>
          </a:p>
          <a:p>
            <a:r>
              <a:t>And it comes ready from us: the legal deadlines are already in the dashboard, receipt within 7 days and an answer within 3 months. Every report gets a case number by itself, the confirmation of receipt goes out automatically, and the organisation's QR code is ready to hand out. The customer does not have to set up any of this.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 4:50–6:00</a:t>
            </a:r>
          </a:p>
          <a:p>
            <a:r>
              <a:t>The compliance officer generates a QR code, which is handed out to the employees. They scan it with the app, create a new case right away and send it, without a name and without an account.</a:t>
            </a:r>
          </a:p>
          <a:p>
            <a:r>
              <a:t>The case appears in the dashboard with a case number. Received cases are stored on receipt. The dashboard has no delete function.</a:t>
            </a:r>
          </a:p>
          <a:p>
            <a:r>
              <a:t>The legal deadlines are already loaded, nobody sets them: receipt within 7 days, an answer within 3 months, under Law 361/2022, for organisations with at least 50 employees.</a:t>
            </a:r>
          </a:p>
          <a:p>
            <a:r>
              <a:t>[If someone asks about deletion: today a case stays as it was received. A delete function with a retention period is next.]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 · 6:00–7:00</a:t>
            </a:r>
          </a:p>
          <a:p>
            <a:r>
              <a:t>What does this mean for GDPR, for internal audits and in general? That this time only the customer has their data.</a:t>
            </a:r>
          </a:p>
          <a:p>
            <a:r>
              <a:t>GDPR: the organisation is the data controller, and the data is in one place, with it. NexonAI has no access and is normally not a processor. If the server runs at a hosting provider, that provider is the customer's processor. The duties stay with the organisation: the legal basis, informing people, the record of processing, a possible impact assessment, how long a case is kept, and reporting a breach within 72 hours.</a:t>
            </a:r>
          </a:p>
          <a:p>
            <a:r>
              <a:t>Internal audits: one place to check, the server, the dashboard and the officer's laptop, all with the customer. Cases are stored on receipt and the dashboard has no delete function. Nothing needs to be requested from a third party.</a:t>
            </a:r>
          </a:p>
          <a:p>
            <a:r>
              <a:t>In general: no third party sits between the reporter and the officer. A request from the authorities goes to the organisation, the only one that has the data. And there is no central account that could be broken into.</a:t>
            </a:r>
          </a:p>
          <a:p>
            <a:r>
              <a:t>I do not claim GDPR compliance. Your data protection officer or a lawyer confirms 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 7:00–7:40</a:t>
            </a:r>
          </a:p>
          <a:p>
            <a:r>
              <a:t>We close with what I cannot promise you, because that is how trust starts.</a:t>
            </a:r>
          </a:p>
          <a:p>
            <a:r>
              <a:t>This is a pilot, not a finished, certified product. It has not yet been audited by an independent party. It does not replace legal advice. And some parts I have tested in the lab.</a:t>
            </a:r>
          </a:p>
          <a:p>
            <a:r>
              <a:t>[Update the last sentence after the real test this week.]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 page · 7:40–8:10</a:t>
            </a:r>
          </a:p>
          <a:p>
            <a:r>
              <a:t>We start the pilot at the University “1 Decembrie 1918” of Alba Iulia.</a:t>
            </a:r>
          </a:p>
          <a:p>
            <a:r>
              <a:t>[Before naming it: the university's written yes.]</a:t>
            </a:r>
          </a:p>
          <a:p>
            <a:r>
              <a:t>We are looking for two or three pilot partners from professions with a duty of confidentiality. We start small, measure, adjust together.</a:t>
            </a:r>
          </a:p>
          <a:p>
            <a:r>
              <a:t>Scan the code to save my contact.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7.png"/><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3.png"/><Relationship Id="rId4"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E2A2E"/>
        </a:solidFill>
        <a:effectLst/>
      </p:bgPr>
    </p:bg>
    <p:spTree>
      <p:nvGrpSpPr>
        <p:cNvPr id="1" name=""/>
        <p:cNvGrpSpPr/>
        <p:nvPr/>
      </p:nvGrpSpPr>
      <p:grpSpPr/>
      <p:sp>
        <p:nvSpPr>
          <p:cNvPr id="2" name="Oval 1"/>
          <p:cNvSpPr/>
          <p:nvPr/>
        </p:nvSpPr>
        <p:spPr>
          <a:xfrm>
            <a:off x="8503920" y="-2011680"/>
            <a:ext cx="5852160" cy="5852160"/>
          </a:xfrm>
          <a:prstGeom prst="ellipse">
            <a:avLst/>
          </a:prstGeom>
          <a:solidFill>
            <a:srgbClr val="123D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424160" y="4572000"/>
            <a:ext cx="3291840" cy="3291840"/>
          </a:xfrm>
          <a:prstGeom prst="ellipse">
            <a:avLst/>
          </a:prstGeom>
          <a:solidFill>
            <a:srgbClr val="123D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0080"/>
            <a:ext cx="7772400" cy="365760"/>
          </a:xfrm>
          <a:prstGeom prst="rect">
            <a:avLst/>
          </a:prstGeom>
          <a:noFill/>
        </p:spPr>
        <p:txBody>
          <a:bodyPr wrap="square" lIns="45720" rIns="45720" tIns="27432" bIns="27432" anchor="t">
            <a:spAutoFit/>
          </a:bodyPr>
          <a:lstStyle/>
          <a:p>
            <a:pPr algn="l"/>
            <a:r>
              <a:rPr sz="1200" b="1">
                <a:solidFill>
                  <a:srgbClr val="45D0BB"/>
                </a:solidFill>
                <a:latin typeface="Consolas"/>
              </a:rPr>
              <a:t>UPDATES AND PERSPECTIVES · 14 OCTOBER 2026</a:t>
            </a:r>
          </a:p>
        </p:txBody>
      </p:sp>
      <p:sp>
        <p:nvSpPr>
          <p:cNvPr id="5" name="TextBox 4"/>
          <p:cNvSpPr txBox="1"/>
          <p:nvPr/>
        </p:nvSpPr>
        <p:spPr>
          <a:xfrm>
            <a:off x="731520" y="1737360"/>
            <a:ext cx="5212080" cy="2286000"/>
          </a:xfrm>
          <a:prstGeom prst="rect">
            <a:avLst/>
          </a:prstGeom>
          <a:noFill/>
        </p:spPr>
        <p:txBody>
          <a:bodyPr wrap="square" lIns="45720" rIns="45720" tIns="27432" bIns="27432" anchor="t">
            <a:spAutoFit/>
          </a:bodyPr>
          <a:lstStyle/>
          <a:p>
            <a:pPr algn="l"/>
            <a:r>
              <a:rPr sz="4400" b="1">
                <a:solidFill>
                  <a:srgbClr val="FFFFFF"/>
                </a:solidFill>
                <a:latin typeface="Arial"/>
              </a:rPr>
              <a:t>Communication without identities</a:t>
            </a:r>
          </a:p>
        </p:txBody>
      </p:sp>
      <p:sp>
        <p:nvSpPr>
          <p:cNvPr id="6" name="TextBox 5"/>
          <p:cNvSpPr txBox="1"/>
          <p:nvPr/>
        </p:nvSpPr>
        <p:spPr>
          <a:xfrm>
            <a:off x="731520" y="4069080"/>
            <a:ext cx="5120640" cy="1188720"/>
          </a:xfrm>
          <a:prstGeom prst="rect">
            <a:avLst/>
          </a:prstGeom>
          <a:noFill/>
        </p:spPr>
        <p:txBody>
          <a:bodyPr wrap="square" lIns="45720" rIns="45720" tIns="27432" bIns="27432" anchor="t">
            <a:spAutoFit/>
          </a:bodyPr>
          <a:lstStyle/>
          <a:p>
            <a:pPr algn="l"/>
            <a:r>
              <a:rPr sz="2000" b="1">
                <a:solidFill>
                  <a:srgbClr val="45D0BB"/>
                </a:solidFill>
                <a:latin typeface="Arial"/>
              </a:rPr>
              <a:t>unpruuf and safeline: the whistleblower channel for your organisation</a:t>
            </a:r>
          </a:p>
        </p:txBody>
      </p:sp>
      <p:sp>
        <p:nvSpPr>
          <p:cNvPr id="7" name="TextBox 6"/>
          <p:cNvSpPr txBox="1"/>
          <p:nvPr/>
        </p:nvSpPr>
        <p:spPr>
          <a:xfrm>
            <a:off x="731520" y="5440680"/>
            <a:ext cx="5486400" cy="365760"/>
          </a:xfrm>
          <a:prstGeom prst="rect">
            <a:avLst/>
          </a:prstGeom>
          <a:noFill/>
        </p:spPr>
        <p:txBody>
          <a:bodyPr wrap="square" lIns="45720" rIns="45720" tIns="27432" bIns="27432" anchor="t">
            <a:spAutoFit/>
          </a:bodyPr>
          <a:lstStyle/>
          <a:p>
            <a:pPr algn="l"/>
            <a:r>
              <a:rPr sz="1600" b="0">
                <a:solidFill>
                  <a:srgbClr val="BFD6D3"/>
                </a:solidFill>
                <a:latin typeface="Arial"/>
              </a:rPr>
              <a:t>Gabriel Hategan · NexonAI Consulting SRL</a:t>
            </a:r>
          </a:p>
        </p:txBody>
      </p:sp>
      <p:sp>
        <p:nvSpPr>
          <p:cNvPr id="8" name="Rounded Rectangle 7"/>
          <p:cNvSpPr/>
          <p:nvPr/>
        </p:nvSpPr>
        <p:spPr>
          <a:xfrm>
            <a:off x="6748272" y="1005840"/>
            <a:ext cx="4974336" cy="3088386"/>
          </a:xfrm>
          <a:prstGeom prst="roundRect">
            <a:avLst>
              <a:gd name="adj" fmla="val 5921"/>
            </a:avLst>
          </a:prstGeom>
          <a:solidFill>
            <a:srgbClr val="FFFFFF"/>
          </a:solidFill>
          <a:ln>
            <a:noFill/>
          </a:ln>
          <a:effectLst>
            <a:outerShdw blurRad="228600" dist="50800" dir="5400000" algn="t" rotWithShape="0">
              <a:srgbClr val="0E2A2E">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dash_overview_EN.png"/>
          <p:cNvPicPr>
            <a:picLocks noChangeAspect="1"/>
          </p:cNvPicPr>
          <p:nvPr/>
        </p:nvPicPr>
        <p:blipFill>
          <a:blip r:embed="rId2"/>
          <a:stretch>
            <a:fillRect/>
          </a:stretch>
        </p:blipFill>
        <p:spPr>
          <a:xfrm>
            <a:off x="6720840" y="960120"/>
            <a:ext cx="5029200" cy="3143250"/>
          </a:xfrm>
          <a:prstGeom prst="rect">
            <a:avLst/>
          </a:prstGeom>
        </p:spPr>
      </p:pic>
      <p:sp>
        <p:nvSpPr>
          <p:cNvPr id="10" name="Rounded Rectangle 9"/>
          <p:cNvSpPr/>
          <p:nvPr/>
        </p:nvSpPr>
        <p:spPr>
          <a:xfrm>
            <a:off x="6291072" y="3063239"/>
            <a:ext cx="1460961" cy="3145536"/>
          </a:xfrm>
          <a:prstGeom prst="roundRect">
            <a:avLst>
              <a:gd name="adj" fmla="val 12517"/>
            </a:avLst>
          </a:prstGeom>
          <a:solidFill>
            <a:srgbClr val="FFFFFF"/>
          </a:solidFill>
          <a:ln>
            <a:noFill/>
          </a:ln>
          <a:effectLst>
            <a:outerShdw blurRad="228600" dist="50800" dir="5400000" algn="t" rotWithShape="0">
              <a:srgbClr val="0E2A2E">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phone_EN_3.png"/>
          <p:cNvPicPr>
            <a:picLocks noChangeAspect="1"/>
          </p:cNvPicPr>
          <p:nvPr/>
        </p:nvPicPr>
        <p:blipFill>
          <a:blip r:embed="rId3"/>
          <a:stretch>
            <a:fillRect/>
          </a:stretch>
        </p:blipFill>
        <p:spPr>
          <a:xfrm>
            <a:off x="6263640" y="3017520"/>
            <a:ext cx="1515825" cy="3200400"/>
          </a:xfrm>
          <a:prstGeom prst="rect">
            <a:avLst/>
          </a:prstGeom>
        </p:spPr>
      </p:pic>
      <p:sp>
        <p:nvSpPr>
          <p:cNvPr id="12" name="TextBox 11"/>
          <p:cNvSpPr txBox="1"/>
          <p:nvPr/>
        </p:nvSpPr>
        <p:spPr>
          <a:xfrm>
            <a:off x="7863840" y="4434840"/>
            <a:ext cx="4023360" cy="274320"/>
          </a:xfrm>
          <a:prstGeom prst="rect">
            <a:avLst/>
          </a:prstGeom>
          <a:noFill/>
        </p:spPr>
        <p:txBody>
          <a:bodyPr wrap="square" lIns="45720" rIns="45720" tIns="27432" bIns="27432" anchor="t">
            <a:spAutoFit/>
          </a:bodyPr>
          <a:lstStyle/>
          <a:p>
            <a:pPr algn="l"/>
            <a:r>
              <a:rPr sz="1050" b="0">
                <a:solidFill>
                  <a:srgbClr val="BFD6D3"/>
                </a:solidFill>
                <a:latin typeface="Arial"/>
              </a:rPr>
              <a:t>Screens: real dashboard, demo data · Phone: illustration</a:t>
            </a:r>
          </a:p>
        </p:txBody>
      </p:sp>
      <p:pic>
        <p:nvPicPr>
          <p:cNvPr id="13" name="Picture 12" descr="logo_white.png"/>
          <p:cNvPicPr>
            <a:picLocks noChangeAspect="1"/>
          </p:cNvPicPr>
          <p:nvPr/>
        </p:nvPicPr>
        <p:blipFill>
          <a:blip r:embed="rId4"/>
          <a:stretch>
            <a:fillRect/>
          </a:stretch>
        </p:blipFill>
        <p:spPr>
          <a:xfrm>
            <a:off x="731520" y="6126480"/>
            <a:ext cx="1169421" cy="4572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2F5F4"/>
        </a:solidFill>
        <a:effectLst/>
      </p:bgPr>
    </p:bg>
    <p:spTree>
      <p:nvGrpSpPr>
        <p:cNvPr id="1" name=""/>
        <p:cNvGrpSpPr/>
        <p:nvPr/>
      </p:nvGrpSpPr>
      <p:grpSpPr/>
      <p:sp>
        <p:nvSpPr>
          <p:cNvPr id="2" name="TextBox 1"/>
          <p:cNvSpPr txBox="1"/>
          <p:nvPr/>
        </p:nvSpPr>
        <p:spPr>
          <a:xfrm>
            <a:off x="731520" y="502920"/>
            <a:ext cx="7772400" cy="365760"/>
          </a:xfrm>
          <a:prstGeom prst="rect">
            <a:avLst/>
          </a:prstGeom>
          <a:noFill/>
        </p:spPr>
        <p:txBody>
          <a:bodyPr wrap="square" lIns="45720" rIns="45720" tIns="27432" bIns="27432" anchor="t">
            <a:spAutoFit/>
          </a:bodyPr>
          <a:lstStyle/>
          <a:p>
            <a:pPr algn="l"/>
            <a:r>
              <a:rPr sz="1200" b="1">
                <a:solidFill>
                  <a:srgbClr val="0F6B62"/>
                </a:solidFill>
                <a:latin typeface="Consolas"/>
              </a:rPr>
              <a:t>THE SERVER</a:t>
            </a:r>
          </a:p>
        </p:txBody>
      </p:sp>
      <p:sp>
        <p:nvSpPr>
          <p:cNvPr id="3" name="TextBox 2"/>
          <p:cNvSpPr txBox="1"/>
          <p:nvPr/>
        </p:nvSpPr>
        <p:spPr>
          <a:xfrm>
            <a:off x="731520" y="822960"/>
            <a:ext cx="10698480" cy="914400"/>
          </a:xfrm>
          <a:prstGeom prst="rect">
            <a:avLst/>
          </a:prstGeom>
          <a:noFill/>
        </p:spPr>
        <p:txBody>
          <a:bodyPr wrap="square" lIns="45720" rIns="45720" tIns="27432" bIns="27432" anchor="t">
            <a:spAutoFit/>
          </a:bodyPr>
          <a:lstStyle/>
          <a:p>
            <a:pPr algn="l"/>
            <a:r>
              <a:rPr sz="3600" b="1">
                <a:solidFill>
                  <a:srgbClr val="0E2A2E"/>
                </a:solidFill>
                <a:latin typeface="Arial"/>
              </a:rPr>
              <a:t>The server belongs to the customer</a:t>
            </a:r>
          </a:p>
        </p:txBody>
      </p:sp>
      <p:pic>
        <p:nvPicPr>
          <p:cNvPr id="4" name="Picture 3" descr="logo.png"/>
          <p:cNvPicPr>
            <a:picLocks noChangeAspect="1"/>
          </p:cNvPicPr>
          <p:nvPr/>
        </p:nvPicPr>
        <p:blipFill>
          <a:blip r:embed="rId2"/>
          <a:stretch>
            <a:fillRect/>
          </a:stretch>
        </p:blipFill>
        <p:spPr>
          <a:xfrm>
            <a:off x="731520" y="6126480"/>
            <a:ext cx="1169421" cy="457200"/>
          </a:xfrm>
          <a:prstGeom prst="rect">
            <a:avLst/>
          </a:prstGeom>
        </p:spPr>
      </p:pic>
      <p:sp>
        <p:nvSpPr>
          <p:cNvPr id="5" name="TextBox 4"/>
          <p:cNvSpPr txBox="1"/>
          <p:nvPr/>
        </p:nvSpPr>
        <p:spPr>
          <a:xfrm>
            <a:off x="10058400" y="6309360"/>
            <a:ext cx="1417320" cy="274320"/>
          </a:xfrm>
          <a:prstGeom prst="rect">
            <a:avLst/>
          </a:prstGeom>
          <a:noFill/>
        </p:spPr>
        <p:txBody>
          <a:bodyPr wrap="square" lIns="45720" rIns="45720" tIns="27432" bIns="27432" anchor="t">
            <a:spAutoFit/>
          </a:bodyPr>
          <a:lstStyle/>
          <a:p>
            <a:pPr algn="r"/>
            <a:r>
              <a:rPr sz="1200" b="0">
                <a:solidFill>
                  <a:srgbClr val="5B6B68"/>
                </a:solidFill>
                <a:latin typeface="Consolas"/>
              </a:rPr>
              <a:t>1 / 7</a:t>
            </a:r>
          </a:p>
        </p:txBody>
      </p:sp>
      <p:sp>
        <p:nvSpPr>
          <p:cNvPr id="6" name="Rounded Rectangle 5"/>
          <p:cNvSpPr/>
          <p:nvPr/>
        </p:nvSpPr>
        <p:spPr>
          <a:xfrm>
            <a:off x="731520" y="1965960"/>
            <a:ext cx="6675120" cy="960120"/>
          </a:xfrm>
          <a:prstGeom prst="roundRect">
            <a:avLst>
              <a:gd name="adj" fmla="val 15238"/>
            </a:avLst>
          </a:prstGeom>
          <a:solidFill>
            <a:srgbClr val="FFFFFF"/>
          </a:solidFill>
          <a:ln w="12700">
            <a:solidFill>
              <a:srgbClr val="D5DE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60120" y="2167128"/>
            <a:ext cx="548640" cy="548640"/>
          </a:xfrm>
          <a:prstGeom prst="ellipse">
            <a:avLst/>
          </a:prstGeom>
          <a:solidFill>
            <a:srgbClr val="0F6B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167128"/>
            <a:ext cx="548640" cy="548640"/>
          </a:xfrm>
          <a:prstGeom prst="rect">
            <a:avLst/>
          </a:prstGeom>
          <a:noFill/>
        </p:spPr>
        <p:txBody>
          <a:bodyPr wrap="square" lIns="45720" rIns="45720" tIns="27432" bIns="27432" anchor="ctr">
            <a:spAutoFit/>
          </a:bodyPr>
          <a:lstStyle/>
          <a:p>
            <a:pPr algn="ctr"/>
            <a:r>
              <a:rPr sz="1800" b="1">
                <a:solidFill>
                  <a:srgbClr val="FFFFFF"/>
                </a:solidFill>
                <a:latin typeface="Arial"/>
              </a:rPr>
              <a:t>1</a:t>
            </a:r>
          </a:p>
        </p:txBody>
      </p:sp>
      <p:sp>
        <p:nvSpPr>
          <p:cNvPr id="9" name="TextBox 8"/>
          <p:cNvSpPr txBox="1"/>
          <p:nvPr/>
        </p:nvSpPr>
        <p:spPr>
          <a:xfrm>
            <a:off x="1737360" y="1965960"/>
            <a:ext cx="5486400" cy="960120"/>
          </a:xfrm>
          <a:prstGeom prst="rect">
            <a:avLst/>
          </a:prstGeom>
          <a:noFill/>
        </p:spPr>
        <p:txBody>
          <a:bodyPr wrap="square" lIns="45720" rIns="45720" tIns="27432" bIns="27432" anchor="ctr">
            <a:spAutoFit/>
          </a:bodyPr>
          <a:lstStyle/>
          <a:p>
            <a:pPr algn="l"/>
            <a:r>
              <a:rPr sz="1900" b="0">
                <a:solidFill>
                  <a:srgbClr val="0E2A2E"/>
                </a:solidFill>
                <a:latin typeface="Arial"/>
              </a:rPr>
              <a:t>The customer gets the server solution from us, ready to start. It is their server.</a:t>
            </a:r>
          </a:p>
        </p:txBody>
      </p:sp>
      <p:sp>
        <p:nvSpPr>
          <p:cNvPr id="10" name="Rounded Rectangle 9"/>
          <p:cNvSpPr/>
          <p:nvPr/>
        </p:nvSpPr>
        <p:spPr>
          <a:xfrm>
            <a:off x="731520" y="3081528"/>
            <a:ext cx="6675120" cy="960120"/>
          </a:xfrm>
          <a:prstGeom prst="roundRect">
            <a:avLst>
              <a:gd name="adj" fmla="val 15238"/>
            </a:avLst>
          </a:prstGeom>
          <a:solidFill>
            <a:srgbClr val="FFFFFF"/>
          </a:solidFill>
          <a:ln w="12700">
            <a:solidFill>
              <a:srgbClr val="D5DE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960120" y="3282696"/>
            <a:ext cx="548640" cy="548640"/>
          </a:xfrm>
          <a:prstGeom prst="ellipse">
            <a:avLst/>
          </a:prstGeom>
          <a:solidFill>
            <a:srgbClr val="0F6B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3282696"/>
            <a:ext cx="548640" cy="548640"/>
          </a:xfrm>
          <a:prstGeom prst="rect">
            <a:avLst/>
          </a:prstGeom>
          <a:noFill/>
        </p:spPr>
        <p:txBody>
          <a:bodyPr wrap="square" lIns="45720" rIns="45720" tIns="27432" bIns="27432" anchor="ctr">
            <a:spAutoFit/>
          </a:bodyPr>
          <a:lstStyle/>
          <a:p>
            <a:pPr algn="ctr"/>
            <a:r>
              <a:rPr sz="1800" b="1">
                <a:solidFill>
                  <a:srgbClr val="FFFFFF"/>
                </a:solidFill>
                <a:latin typeface="Arial"/>
              </a:rPr>
              <a:t>2</a:t>
            </a:r>
          </a:p>
        </p:txBody>
      </p:sp>
      <p:sp>
        <p:nvSpPr>
          <p:cNvPr id="13" name="TextBox 12"/>
          <p:cNvSpPr txBox="1"/>
          <p:nvPr/>
        </p:nvSpPr>
        <p:spPr>
          <a:xfrm>
            <a:off x="1737360" y="3081528"/>
            <a:ext cx="5486400" cy="960120"/>
          </a:xfrm>
          <a:prstGeom prst="rect">
            <a:avLst/>
          </a:prstGeom>
          <a:noFill/>
        </p:spPr>
        <p:txBody>
          <a:bodyPr wrap="square" lIns="45720" rIns="45720" tIns="27432" bIns="27432" anchor="ctr">
            <a:spAutoFit/>
          </a:bodyPr>
          <a:lstStyle/>
          <a:p>
            <a:pPr algn="l"/>
            <a:r>
              <a:rPr sz="1900" b="0">
                <a:solidFill>
                  <a:srgbClr val="0E2A2E"/>
                </a:solidFill>
                <a:latin typeface="Arial"/>
              </a:rPr>
              <a:t>Completely anonymous addresses that only they know.</a:t>
            </a:r>
          </a:p>
        </p:txBody>
      </p:sp>
      <p:sp>
        <p:nvSpPr>
          <p:cNvPr id="14" name="Rounded Rectangle 13"/>
          <p:cNvSpPr/>
          <p:nvPr/>
        </p:nvSpPr>
        <p:spPr>
          <a:xfrm>
            <a:off x="731520" y="4197096"/>
            <a:ext cx="6675120" cy="960120"/>
          </a:xfrm>
          <a:prstGeom prst="roundRect">
            <a:avLst>
              <a:gd name="adj" fmla="val 15238"/>
            </a:avLst>
          </a:prstGeom>
          <a:solidFill>
            <a:srgbClr val="FFFFFF"/>
          </a:solidFill>
          <a:ln w="12700">
            <a:solidFill>
              <a:srgbClr val="D5DE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60120" y="4398264"/>
            <a:ext cx="548640" cy="548640"/>
          </a:xfrm>
          <a:prstGeom prst="ellipse">
            <a:avLst/>
          </a:prstGeom>
          <a:solidFill>
            <a:srgbClr val="0F6B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4398264"/>
            <a:ext cx="548640" cy="548640"/>
          </a:xfrm>
          <a:prstGeom prst="rect">
            <a:avLst/>
          </a:prstGeom>
          <a:noFill/>
        </p:spPr>
        <p:txBody>
          <a:bodyPr wrap="square" lIns="45720" rIns="45720" tIns="27432" bIns="27432" anchor="ctr">
            <a:spAutoFit/>
          </a:bodyPr>
          <a:lstStyle/>
          <a:p>
            <a:pPr algn="ctr"/>
            <a:r>
              <a:rPr sz="1800" b="1">
                <a:solidFill>
                  <a:srgbClr val="FFFFFF"/>
                </a:solidFill>
                <a:latin typeface="Arial"/>
              </a:rPr>
              <a:t>3</a:t>
            </a:r>
          </a:p>
        </p:txBody>
      </p:sp>
      <p:sp>
        <p:nvSpPr>
          <p:cNvPr id="17" name="TextBox 16"/>
          <p:cNvSpPr txBox="1"/>
          <p:nvPr/>
        </p:nvSpPr>
        <p:spPr>
          <a:xfrm>
            <a:off x="1737360" y="4197096"/>
            <a:ext cx="5486400" cy="960120"/>
          </a:xfrm>
          <a:prstGeom prst="rect">
            <a:avLst/>
          </a:prstGeom>
          <a:noFill/>
        </p:spPr>
        <p:txBody>
          <a:bodyPr wrap="square" lIns="45720" rIns="45720" tIns="27432" bIns="27432" anchor="ctr">
            <a:spAutoFit/>
          </a:bodyPr>
          <a:lstStyle/>
          <a:p>
            <a:pPr algn="l"/>
            <a:r>
              <a:rPr sz="1900" b="0">
                <a:solidFill>
                  <a:srgbClr val="0E2A2E"/>
                </a:solidFill>
                <a:latin typeface="Arial"/>
              </a:rPr>
              <a:t>Nothing stays on the server: after 24 hours at most, everything is gone.</a:t>
            </a:r>
          </a:p>
        </p:txBody>
      </p:sp>
      <p:sp>
        <p:nvSpPr>
          <p:cNvPr id="18" name="Rounded Rectangle 17"/>
          <p:cNvSpPr/>
          <p:nvPr/>
        </p:nvSpPr>
        <p:spPr>
          <a:xfrm>
            <a:off x="7772400" y="1965960"/>
            <a:ext cx="3685032" cy="3154680"/>
          </a:xfrm>
          <a:prstGeom prst="roundRect">
            <a:avLst>
              <a:gd name="adj" fmla="val 5797"/>
            </a:avLst>
          </a:prstGeom>
          <a:solidFill>
            <a:srgbClr val="FFFFFF"/>
          </a:solidFill>
          <a:ln w="12700">
            <a:solidFill>
              <a:srgbClr val="D5DEDB"/>
            </a:solidFill>
          </a:ln>
          <a:effectLst>
            <a:outerShdw blurRad="228600" dist="50800" dir="5400000" algn="t" rotWithShape="0">
              <a:srgbClr val="0E2A2E">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321040" y="2286000"/>
            <a:ext cx="2587752" cy="569305"/>
          </a:xfrm>
          <a:prstGeom prst="roundRect">
            <a:avLst>
              <a:gd name="adj" fmla="val 14455"/>
            </a:avLst>
          </a:prstGeom>
          <a:solidFill>
            <a:srgbClr val="0E2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502182" y="2515788"/>
            <a:ext cx="109728" cy="109728"/>
          </a:xfrm>
          <a:prstGeom prst="ellipse">
            <a:avLst/>
          </a:prstGeom>
          <a:solidFill>
            <a:srgbClr val="45D0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890345" y="2538648"/>
            <a:ext cx="1293876" cy="64008"/>
          </a:xfrm>
          <a:prstGeom prst="roundRect">
            <a:avLst>
              <a:gd name="adj" fmla="val 42857"/>
            </a:avLst>
          </a:prstGeom>
          <a:solidFill>
            <a:srgbClr val="2A4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442996" y="2538648"/>
            <a:ext cx="284652" cy="64008"/>
          </a:xfrm>
          <a:prstGeom prst="roundRect">
            <a:avLst>
              <a:gd name="adj" fmla="val 42857"/>
            </a:avLst>
          </a:prstGeom>
          <a:solidFill>
            <a:srgbClr val="2A4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321040" y="2984693"/>
            <a:ext cx="2587752" cy="569305"/>
          </a:xfrm>
          <a:prstGeom prst="roundRect">
            <a:avLst>
              <a:gd name="adj" fmla="val 14455"/>
            </a:avLst>
          </a:prstGeom>
          <a:solidFill>
            <a:srgbClr val="0E2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502182" y="3214481"/>
            <a:ext cx="109728" cy="109728"/>
          </a:xfrm>
          <a:prstGeom prst="ellipse">
            <a:avLst/>
          </a:prstGeom>
          <a:solidFill>
            <a:srgbClr val="45D0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8890345" y="3237341"/>
            <a:ext cx="1293876" cy="64008"/>
          </a:xfrm>
          <a:prstGeom prst="roundRect">
            <a:avLst>
              <a:gd name="adj" fmla="val 42857"/>
            </a:avLst>
          </a:prstGeom>
          <a:solidFill>
            <a:srgbClr val="2A4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10442996" y="3237341"/>
            <a:ext cx="284652" cy="64008"/>
          </a:xfrm>
          <a:prstGeom prst="roundRect">
            <a:avLst>
              <a:gd name="adj" fmla="val 42857"/>
            </a:avLst>
          </a:prstGeom>
          <a:solidFill>
            <a:srgbClr val="2A4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321040" y="3683386"/>
            <a:ext cx="2587752" cy="569305"/>
          </a:xfrm>
          <a:prstGeom prst="roundRect">
            <a:avLst>
              <a:gd name="adj" fmla="val 14455"/>
            </a:avLst>
          </a:prstGeom>
          <a:solidFill>
            <a:srgbClr val="0E2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502182" y="3913174"/>
            <a:ext cx="109728" cy="109728"/>
          </a:xfrm>
          <a:prstGeom prst="ellipse">
            <a:avLst/>
          </a:prstGeom>
          <a:solidFill>
            <a:srgbClr val="45D0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8890345" y="3936034"/>
            <a:ext cx="1293876" cy="64008"/>
          </a:xfrm>
          <a:prstGeom prst="roundRect">
            <a:avLst>
              <a:gd name="adj" fmla="val 42857"/>
            </a:avLst>
          </a:prstGeom>
          <a:solidFill>
            <a:srgbClr val="2A4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10442996" y="3936034"/>
            <a:ext cx="284652" cy="64008"/>
          </a:xfrm>
          <a:prstGeom prst="roundRect">
            <a:avLst>
              <a:gd name="adj" fmla="val 42857"/>
            </a:avLst>
          </a:prstGeom>
          <a:solidFill>
            <a:srgbClr val="2A4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772400" y="4023360"/>
            <a:ext cx="3685032" cy="365760"/>
          </a:xfrm>
          <a:prstGeom prst="rect">
            <a:avLst/>
          </a:prstGeom>
          <a:noFill/>
        </p:spPr>
        <p:txBody>
          <a:bodyPr wrap="square" lIns="45720" rIns="45720" tIns="27432" bIns="27432" anchor="t">
            <a:spAutoFit/>
          </a:bodyPr>
          <a:lstStyle/>
          <a:p>
            <a:pPr algn="ctr"/>
            <a:r>
              <a:rPr sz="1700" b="1">
                <a:solidFill>
                  <a:srgbClr val="0E2A2E"/>
                </a:solidFill>
                <a:latin typeface="Arial"/>
              </a:rPr>
              <a:t>The customer's server</a:t>
            </a:r>
          </a:p>
        </p:txBody>
      </p:sp>
      <p:sp>
        <p:nvSpPr>
          <p:cNvPr id="32" name="Rounded Rectangle 31"/>
          <p:cNvSpPr/>
          <p:nvPr/>
        </p:nvSpPr>
        <p:spPr>
          <a:xfrm>
            <a:off x="8458200" y="4526280"/>
            <a:ext cx="2331720" cy="365760"/>
          </a:xfrm>
          <a:prstGeom prst="roundRect">
            <a:avLst>
              <a:gd name="adj" fmla="val 50000"/>
            </a:avLst>
          </a:prstGeom>
          <a:solidFill>
            <a:srgbClr val="FBEB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458200" y="4526280"/>
            <a:ext cx="2331720" cy="365760"/>
          </a:xfrm>
          <a:prstGeom prst="rect">
            <a:avLst/>
          </a:prstGeom>
          <a:noFill/>
        </p:spPr>
        <p:txBody>
          <a:bodyPr wrap="square" lIns="45720" rIns="45720" tIns="27432" bIns="27432" anchor="ctr">
            <a:spAutoFit/>
          </a:bodyPr>
          <a:lstStyle/>
          <a:p>
            <a:pPr algn="ctr"/>
            <a:r>
              <a:rPr sz="1200" b="1">
                <a:solidFill>
                  <a:srgbClr val="B95A16"/>
                </a:solidFill>
                <a:latin typeface="Arial"/>
              </a:rPr>
              <a:t>NexonAI: no access</a:t>
            </a:r>
          </a:p>
        </p:txBody>
      </p:sp>
      <p:sp>
        <p:nvSpPr>
          <p:cNvPr id="34" name="Rounded Rectangle 33"/>
          <p:cNvSpPr/>
          <p:nvPr/>
        </p:nvSpPr>
        <p:spPr>
          <a:xfrm>
            <a:off x="731520" y="5349240"/>
            <a:ext cx="10725912" cy="685800"/>
          </a:xfrm>
          <a:prstGeom prst="roundRect">
            <a:avLst>
              <a:gd name="adj" fmla="val 18666"/>
            </a:avLst>
          </a:prstGeom>
          <a:solidFill>
            <a:srgbClr val="FBEB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60120" y="5349240"/>
            <a:ext cx="10332720" cy="685800"/>
          </a:xfrm>
          <a:prstGeom prst="rect">
            <a:avLst/>
          </a:prstGeom>
          <a:noFill/>
        </p:spPr>
        <p:txBody>
          <a:bodyPr wrap="square" lIns="45720" rIns="45720" tIns="27432" bIns="27432" anchor="ctr">
            <a:spAutoFit/>
          </a:bodyPr>
          <a:lstStyle/>
          <a:p>
            <a:pPr algn="l"/>
            <a:r>
              <a:rPr sz="1500" b="0">
                <a:solidFill>
                  <a:srgbClr val="6B3A0B"/>
                </a:solidFill>
                <a:latin typeface="Arial"/>
              </a:rPr>
              <a:t>The precondition for everything: every customer runs their own servers. Otherwise third parties are involved. NexonAI runs nothing.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2F5F4"/>
        </a:solidFill>
        <a:effectLst/>
      </p:bgPr>
    </p:bg>
    <p:spTree>
      <p:nvGrpSpPr>
        <p:cNvPr id="1" name=""/>
        <p:cNvGrpSpPr/>
        <p:nvPr/>
      </p:nvGrpSpPr>
      <p:grpSpPr/>
      <p:sp>
        <p:nvSpPr>
          <p:cNvPr id="2" name="TextBox 1"/>
          <p:cNvSpPr txBox="1"/>
          <p:nvPr/>
        </p:nvSpPr>
        <p:spPr>
          <a:xfrm>
            <a:off x="731520" y="502920"/>
            <a:ext cx="7772400" cy="365760"/>
          </a:xfrm>
          <a:prstGeom prst="rect">
            <a:avLst/>
          </a:prstGeom>
          <a:noFill/>
        </p:spPr>
        <p:txBody>
          <a:bodyPr wrap="square" lIns="45720" rIns="45720" tIns="27432" bIns="27432" anchor="t">
            <a:spAutoFit/>
          </a:bodyPr>
          <a:lstStyle/>
          <a:p>
            <a:pPr algn="l"/>
            <a:r>
              <a:rPr sz="1200" b="1">
                <a:solidFill>
                  <a:srgbClr val="0F6B62"/>
                </a:solidFill>
                <a:latin typeface="Consolas"/>
              </a:rPr>
              <a:t>THE PRINCIPLE</a:t>
            </a:r>
          </a:p>
        </p:txBody>
      </p:sp>
      <p:sp>
        <p:nvSpPr>
          <p:cNvPr id="3" name="TextBox 2"/>
          <p:cNvSpPr txBox="1"/>
          <p:nvPr/>
        </p:nvSpPr>
        <p:spPr>
          <a:xfrm>
            <a:off x="731520" y="822960"/>
            <a:ext cx="10698480" cy="914400"/>
          </a:xfrm>
          <a:prstGeom prst="rect">
            <a:avLst/>
          </a:prstGeom>
          <a:noFill/>
        </p:spPr>
        <p:txBody>
          <a:bodyPr wrap="square" lIns="45720" rIns="45720" tIns="27432" bIns="27432" anchor="t">
            <a:spAutoFit/>
          </a:bodyPr>
          <a:lstStyle/>
          <a:p>
            <a:pPr algn="l"/>
            <a:r>
              <a:rPr sz="3600" b="1">
                <a:solidFill>
                  <a:srgbClr val="0E2A2E"/>
                </a:solidFill>
                <a:latin typeface="Arial"/>
              </a:rPr>
              <a:t>The principle: a mailbox system</a:t>
            </a:r>
          </a:p>
        </p:txBody>
      </p:sp>
      <p:pic>
        <p:nvPicPr>
          <p:cNvPr id="4" name="Picture 3" descr="logo.png"/>
          <p:cNvPicPr>
            <a:picLocks noChangeAspect="1"/>
          </p:cNvPicPr>
          <p:nvPr/>
        </p:nvPicPr>
        <p:blipFill>
          <a:blip r:embed="rId2"/>
          <a:stretch>
            <a:fillRect/>
          </a:stretch>
        </p:blipFill>
        <p:spPr>
          <a:xfrm>
            <a:off x="731520" y="6126480"/>
            <a:ext cx="1169421" cy="457200"/>
          </a:xfrm>
          <a:prstGeom prst="rect">
            <a:avLst/>
          </a:prstGeom>
        </p:spPr>
      </p:pic>
      <p:sp>
        <p:nvSpPr>
          <p:cNvPr id="5" name="TextBox 4"/>
          <p:cNvSpPr txBox="1"/>
          <p:nvPr/>
        </p:nvSpPr>
        <p:spPr>
          <a:xfrm>
            <a:off x="10058400" y="6309360"/>
            <a:ext cx="1417320" cy="274320"/>
          </a:xfrm>
          <a:prstGeom prst="rect">
            <a:avLst/>
          </a:prstGeom>
          <a:noFill/>
        </p:spPr>
        <p:txBody>
          <a:bodyPr wrap="square" lIns="45720" rIns="45720" tIns="27432" bIns="27432" anchor="t">
            <a:spAutoFit/>
          </a:bodyPr>
          <a:lstStyle/>
          <a:p>
            <a:pPr algn="r"/>
            <a:r>
              <a:rPr sz="1200" b="0">
                <a:solidFill>
                  <a:srgbClr val="5B6B68"/>
                </a:solidFill>
                <a:latin typeface="Consolas"/>
              </a:rPr>
              <a:t>2 / 7</a:t>
            </a:r>
          </a:p>
        </p:txBody>
      </p:sp>
      <p:sp>
        <p:nvSpPr>
          <p:cNvPr id="6" name="Rounded Rectangle 5"/>
          <p:cNvSpPr/>
          <p:nvPr/>
        </p:nvSpPr>
        <p:spPr>
          <a:xfrm>
            <a:off x="731520" y="1828800"/>
            <a:ext cx="5943600" cy="3291840"/>
          </a:xfrm>
          <a:prstGeom prst="roundRect">
            <a:avLst>
              <a:gd name="adj" fmla="val 5555"/>
            </a:avLst>
          </a:prstGeom>
          <a:solidFill>
            <a:srgbClr val="FFFFFF"/>
          </a:solidFill>
          <a:ln w="12700">
            <a:solidFill>
              <a:srgbClr val="D5DEDB"/>
            </a:solidFill>
          </a:ln>
          <a:effectLst>
            <a:outerShdw blurRad="228600" dist="50800" dir="5400000" algn="t" rotWithShape="0">
              <a:srgbClr val="0E2A2E">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291840" y="2103120"/>
            <a:ext cx="1554480" cy="2743200"/>
          </a:xfrm>
          <a:prstGeom prst="roundRect">
            <a:avLst>
              <a:gd name="adj" fmla="val 8823"/>
            </a:avLst>
          </a:prstGeom>
          <a:solidFill>
            <a:srgbClr val="EAF2F0"/>
          </a:solidFill>
          <a:ln w="12700">
            <a:solidFill>
              <a:srgbClr val="D5DE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91840" y="2148840"/>
            <a:ext cx="1554480" cy="274320"/>
          </a:xfrm>
          <a:prstGeom prst="rect">
            <a:avLst/>
          </a:prstGeom>
          <a:noFill/>
        </p:spPr>
        <p:txBody>
          <a:bodyPr wrap="square" lIns="45720" rIns="45720" tIns="27432" bIns="27432" anchor="t">
            <a:spAutoFit/>
          </a:bodyPr>
          <a:lstStyle/>
          <a:p>
            <a:pPr algn="ctr"/>
            <a:r>
              <a:rPr sz="1100" b="1">
                <a:solidFill>
                  <a:srgbClr val="5B6B68"/>
                </a:solidFill>
                <a:latin typeface="Consolas"/>
              </a:rPr>
              <a:t>THE SERVER</a:t>
            </a:r>
          </a:p>
        </p:txBody>
      </p:sp>
      <p:sp>
        <p:nvSpPr>
          <p:cNvPr id="9" name="Rounded Rectangle 8"/>
          <p:cNvSpPr/>
          <p:nvPr/>
        </p:nvSpPr>
        <p:spPr>
          <a:xfrm>
            <a:off x="914400" y="2606040"/>
            <a:ext cx="1188720" cy="731520"/>
          </a:xfrm>
          <a:prstGeom prst="roundRect">
            <a:avLst>
              <a:gd name="adj" fmla="val 17500"/>
            </a:avLst>
          </a:prstGeom>
          <a:solidFill>
            <a:srgbClr val="EA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606040"/>
            <a:ext cx="1188720" cy="731520"/>
          </a:xfrm>
          <a:prstGeom prst="rect">
            <a:avLst/>
          </a:prstGeom>
          <a:noFill/>
        </p:spPr>
        <p:txBody>
          <a:bodyPr wrap="square" lIns="45720" rIns="45720" tIns="27432" bIns="27432" anchor="ctr">
            <a:spAutoFit/>
          </a:bodyPr>
          <a:lstStyle/>
          <a:p>
            <a:pPr algn="ctr"/>
            <a:r>
              <a:rPr sz="1900" b="1">
                <a:solidFill>
                  <a:srgbClr val="0E2A2E"/>
                </a:solidFill>
                <a:latin typeface="Arial"/>
              </a:rPr>
              <a:t>Anna</a:t>
            </a:r>
          </a:p>
        </p:txBody>
      </p:sp>
      <p:cxnSp>
        <p:nvCxnSpPr>
          <p:cNvPr id="11" name="Connector 10"/>
          <p:cNvCxnSpPr/>
          <p:nvPr/>
        </p:nvCxnSpPr>
        <p:spPr>
          <a:xfrm>
            <a:off x="2148840" y="2971800"/>
            <a:ext cx="1600199" cy="0"/>
          </a:xfrm>
          <a:prstGeom prst="line">
            <a:avLst/>
          </a:prstGeom>
          <a:ln w="31750">
            <a:solidFill>
              <a:srgbClr val="0F6B62"/>
            </a:solidFill>
            <a:tailEnd type="triangle"/>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148840" y="2496312"/>
            <a:ext cx="1463040" cy="274320"/>
          </a:xfrm>
          <a:prstGeom prst="rect">
            <a:avLst/>
          </a:prstGeom>
          <a:noFill/>
        </p:spPr>
        <p:txBody>
          <a:bodyPr wrap="square" lIns="45720" rIns="45720" tIns="27432" bIns="27432" anchor="t">
            <a:spAutoFit/>
          </a:bodyPr>
          <a:lstStyle/>
          <a:p>
            <a:pPr algn="ctr"/>
            <a:r>
              <a:rPr sz="1200" b="0">
                <a:solidFill>
                  <a:srgbClr val="5B6B68"/>
                </a:solidFill>
                <a:latin typeface="Arial"/>
              </a:rPr>
              <a:t>puts in</a:t>
            </a:r>
          </a:p>
        </p:txBody>
      </p:sp>
      <p:sp>
        <p:nvSpPr>
          <p:cNvPr id="13" name="Rounded Rectangle 12"/>
          <p:cNvSpPr/>
          <p:nvPr/>
        </p:nvSpPr>
        <p:spPr>
          <a:xfrm>
            <a:off x="3840480" y="2560320"/>
            <a:ext cx="457200" cy="822960"/>
          </a:xfrm>
          <a:prstGeom prst="roundRect">
            <a:avLst>
              <a:gd name="adj" fmla="val 16000"/>
            </a:avLst>
          </a:prstGeom>
          <a:solidFill>
            <a:srgbClr val="D9F0EB"/>
          </a:solidFill>
          <a:ln w="19050">
            <a:solidFill>
              <a:srgbClr val="0F6B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91840" y="3429000"/>
            <a:ext cx="1554480" cy="274320"/>
          </a:xfrm>
          <a:prstGeom prst="rect">
            <a:avLst/>
          </a:prstGeom>
          <a:noFill/>
        </p:spPr>
        <p:txBody>
          <a:bodyPr wrap="square" lIns="45720" rIns="45720" tIns="27432" bIns="27432" anchor="t">
            <a:spAutoFit/>
          </a:bodyPr>
          <a:lstStyle/>
          <a:p>
            <a:pPr algn="ctr"/>
            <a:r>
              <a:rPr sz="1100" b="0">
                <a:solidFill>
                  <a:srgbClr val="5B6B68"/>
                </a:solidFill>
                <a:latin typeface="Arial"/>
              </a:rPr>
              <a:t>Anna's mailbox</a:t>
            </a:r>
          </a:p>
        </p:txBody>
      </p:sp>
      <p:cxnSp>
        <p:nvCxnSpPr>
          <p:cNvPr id="15" name="Connector 14"/>
          <p:cNvCxnSpPr/>
          <p:nvPr/>
        </p:nvCxnSpPr>
        <p:spPr>
          <a:xfrm flipH="1">
            <a:off x="4370832" y="2971800"/>
            <a:ext cx="886968" cy="0"/>
          </a:xfrm>
          <a:prstGeom prst="line">
            <a:avLst/>
          </a:prstGeom>
          <a:ln w="31750">
            <a:solidFill>
              <a:srgbClr val="0F6B62"/>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572000" y="2496312"/>
            <a:ext cx="914400" cy="274320"/>
          </a:xfrm>
          <a:prstGeom prst="rect">
            <a:avLst/>
          </a:prstGeom>
          <a:noFill/>
        </p:spPr>
        <p:txBody>
          <a:bodyPr wrap="square" lIns="45720" rIns="45720" tIns="27432" bIns="27432" anchor="t">
            <a:spAutoFit/>
          </a:bodyPr>
          <a:lstStyle/>
          <a:p>
            <a:pPr algn="ctr"/>
            <a:r>
              <a:rPr sz="1200" b="0">
                <a:solidFill>
                  <a:srgbClr val="5B6B68"/>
                </a:solidFill>
                <a:latin typeface="Arial"/>
              </a:rPr>
              <a:t>picks up</a:t>
            </a:r>
          </a:p>
        </p:txBody>
      </p:sp>
      <p:sp>
        <p:nvSpPr>
          <p:cNvPr id="17" name="Rounded Rectangle 16"/>
          <p:cNvSpPr/>
          <p:nvPr/>
        </p:nvSpPr>
        <p:spPr>
          <a:xfrm>
            <a:off x="5303520" y="2606040"/>
            <a:ext cx="1188720" cy="731520"/>
          </a:xfrm>
          <a:prstGeom prst="roundRect">
            <a:avLst>
              <a:gd name="adj" fmla="val 17500"/>
            </a:avLst>
          </a:prstGeom>
          <a:solidFill>
            <a:srgbClr val="EA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303520" y="2606040"/>
            <a:ext cx="1188720" cy="731520"/>
          </a:xfrm>
          <a:prstGeom prst="rect">
            <a:avLst/>
          </a:prstGeom>
          <a:noFill/>
        </p:spPr>
        <p:txBody>
          <a:bodyPr wrap="square" lIns="45720" rIns="45720" tIns="27432" bIns="27432" anchor="ctr">
            <a:spAutoFit/>
          </a:bodyPr>
          <a:lstStyle/>
          <a:p>
            <a:pPr algn="ctr"/>
            <a:r>
              <a:rPr sz="1900" b="1">
                <a:solidFill>
                  <a:srgbClr val="0E2A2E"/>
                </a:solidFill>
                <a:latin typeface="Arial"/>
              </a:rPr>
              <a:t>Ben</a:t>
            </a:r>
          </a:p>
        </p:txBody>
      </p:sp>
      <p:sp>
        <p:nvSpPr>
          <p:cNvPr id="19" name="Rounded Rectangle 18"/>
          <p:cNvSpPr/>
          <p:nvPr/>
        </p:nvSpPr>
        <p:spPr>
          <a:xfrm>
            <a:off x="914400" y="3886200"/>
            <a:ext cx="1188720" cy="731520"/>
          </a:xfrm>
          <a:prstGeom prst="roundRect">
            <a:avLst>
              <a:gd name="adj" fmla="val 17500"/>
            </a:avLst>
          </a:prstGeom>
          <a:solidFill>
            <a:srgbClr val="EA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886200"/>
            <a:ext cx="1188720" cy="731520"/>
          </a:xfrm>
          <a:prstGeom prst="rect">
            <a:avLst/>
          </a:prstGeom>
          <a:noFill/>
        </p:spPr>
        <p:txBody>
          <a:bodyPr wrap="square" lIns="45720" rIns="45720" tIns="27432" bIns="27432" anchor="ctr">
            <a:spAutoFit/>
          </a:bodyPr>
          <a:lstStyle/>
          <a:p>
            <a:pPr algn="ctr"/>
            <a:r>
              <a:rPr sz="1900" b="1">
                <a:solidFill>
                  <a:srgbClr val="0E2A2E"/>
                </a:solidFill>
                <a:latin typeface="Arial"/>
              </a:rPr>
              <a:t>Ben</a:t>
            </a:r>
          </a:p>
        </p:txBody>
      </p:sp>
      <p:cxnSp>
        <p:nvCxnSpPr>
          <p:cNvPr id="21" name="Connector 20"/>
          <p:cNvCxnSpPr/>
          <p:nvPr/>
        </p:nvCxnSpPr>
        <p:spPr>
          <a:xfrm>
            <a:off x="2148840" y="4251960"/>
            <a:ext cx="1600199" cy="0"/>
          </a:xfrm>
          <a:prstGeom prst="line">
            <a:avLst/>
          </a:prstGeom>
          <a:ln w="31750">
            <a:solidFill>
              <a:srgbClr val="B95A16"/>
            </a:solidFill>
            <a:tailEnd type="triangle"/>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2148840" y="3776472"/>
            <a:ext cx="1463040" cy="274320"/>
          </a:xfrm>
          <a:prstGeom prst="rect">
            <a:avLst/>
          </a:prstGeom>
          <a:noFill/>
        </p:spPr>
        <p:txBody>
          <a:bodyPr wrap="square" lIns="45720" rIns="45720" tIns="27432" bIns="27432" anchor="t">
            <a:spAutoFit/>
          </a:bodyPr>
          <a:lstStyle/>
          <a:p>
            <a:pPr algn="ctr"/>
            <a:r>
              <a:rPr sz="1200" b="0">
                <a:solidFill>
                  <a:srgbClr val="5B6B68"/>
                </a:solidFill>
                <a:latin typeface="Arial"/>
              </a:rPr>
              <a:t>puts in</a:t>
            </a:r>
          </a:p>
        </p:txBody>
      </p:sp>
      <p:sp>
        <p:nvSpPr>
          <p:cNvPr id="23" name="Rounded Rectangle 22"/>
          <p:cNvSpPr/>
          <p:nvPr/>
        </p:nvSpPr>
        <p:spPr>
          <a:xfrm>
            <a:off x="3840480" y="3840480"/>
            <a:ext cx="457200" cy="822960"/>
          </a:xfrm>
          <a:prstGeom prst="roundRect">
            <a:avLst>
              <a:gd name="adj" fmla="val 16000"/>
            </a:avLst>
          </a:prstGeom>
          <a:solidFill>
            <a:srgbClr val="FBEBD3"/>
          </a:solidFill>
          <a:ln w="19050">
            <a:solidFill>
              <a:srgbClr val="B95A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291840" y="4709160"/>
            <a:ext cx="1554480" cy="274320"/>
          </a:xfrm>
          <a:prstGeom prst="rect">
            <a:avLst/>
          </a:prstGeom>
          <a:noFill/>
        </p:spPr>
        <p:txBody>
          <a:bodyPr wrap="square" lIns="45720" rIns="45720" tIns="27432" bIns="27432" anchor="t">
            <a:spAutoFit/>
          </a:bodyPr>
          <a:lstStyle/>
          <a:p>
            <a:pPr algn="ctr"/>
            <a:r>
              <a:rPr sz="1100" b="0">
                <a:solidFill>
                  <a:srgbClr val="5B6B68"/>
                </a:solidFill>
                <a:latin typeface="Arial"/>
              </a:rPr>
              <a:t>Ben's mailbox</a:t>
            </a:r>
          </a:p>
        </p:txBody>
      </p:sp>
      <p:cxnSp>
        <p:nvCxnSpPr>
          <p:cNvPr id="25" name="Connector 24"/>
          <p:cNvCxnSpPr/>
          <p:nvPr/>
        </p:nvCxnSpPr>
        <p:spPr>
          <a:xfrm flipH="1">
            <a:off x="4370832" y="4251960"/>
            <a:ext cx="886968" cy="0"/>
          </a:xfrm>
          <a:prstGeom prst="line">
            <a:avLst/>
          </a:prstGeom>
          <a:ln w="31750">
            <a:solidFill>
              <a:srgbClr val="B95A16"/>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4572000" y="3776472"/>
            <a:ext cx="914400" cy="274320"/>
          </a:xfrm>
          <a:prstGeom prst="rect">
            <a:avLst/>
          </a:prstGeom>
          <a:noFill/>
        </p:spPr>
        <p:txBody>
          <a:bodyPr wrap="square" lIns="45720" rIns="45720" tIns="27432" bIns="27432" anchor="t">
            <a:spAutoFit/>
          </a:bodyPr>
          <a:lstStyle/>
          <a:p>
            <a:pPr algn="ctr"/>
            <a:r>
              <a:rPr sz="1200" b="0">
                <a:solidFill>
                  <a:srgbClr val="5B6B68"/>
                </a:solidFill>
                <a:latin typeface="Arial"/>
              </a:rPr>
              <a:t>picks up</a:t>
            </a:r>
          </a:p>
        </p:txBody>
      </p:sp>
      <p:sp>
        <p:nvSpPr>
          <p:cNvPr id="27" name="Rounded Rectangle 26"/>
          <p:cNvSpPr/>
          <p:nvPr/>
        </p:nvSpPr>
        <p:spPr>
          <a:xfrm>
            <a:off x="5303520" y="3886200"/>
            <a:ext cx="1188720" cy="731520"/>
          </a:xfrm>
          <a:prstGeom prst="roundRect">
            <a:avLst>
              <a:gd name="adj" fmla="val 17500"/>
            </a:avLst>
          </a:prstGeom>
          <a:solidFill>
            <a:srgbClr val="EA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303520" y="3886200"/>
            <a:ext cx="1188720" cy="731520"/>
          </a:xfrm>
          <a:prstGeom prst="rect">
            <a:avLst/>
          </a:prstGeom>
          <a:noFill/>
        </p:spPr>
        <p:txBody>
          <a:bodyPr wrap="square" lIns="45720" rIns="45720" tIns="27432" bIns="27432" anchor="ctr">
            <a:spAutoFit/>
          </a:bodyPr>
          <a:lstStyle/>
          <a:p>
            <a:pPr algn="ctr"/>
            <a:r>
              <a:rPr sz="1900" b="1">
                <a:solidFill>
                  <a:srgbClr val="0E2A2E"/>
                </a:solidFill>
                <a:latin typeface="Arial"/>
              </a:rPr>
              <a:t>Anna</a:t>
            </a:r>
          </a:p>
        </p:txBody>
      </p:sp>
      <p:sp>
        <p:nvSpPr>
          <p:cNvPr id="29" name="Oval 28"/>
          <p:cNvSpPr/>
          <p:nvPr/>
        </p:nvSpPr>
        <p:spPr>
          <a:xfrm>
            <a:off x="7086600" y="1874519"/>
            <a:ext cx="502920" cy="502920"/>
          </a:xfrm>
          <a:prstGeom prst="ellipse">
            <a:avLst/>
          </a:prstGeom>
          <a:solidFill>
            <a:srgbClr val="0F6B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086600" y="1874519"/>
            <a:ext cx="502920" cy="502920"/>
          </a:xfrm>
          <a:prstGeom prst="rect">
            <a:avLst/>
          </a:prstGeom>
          <a:noFill/>
        </p:spPr>
        <p:txBody>
          <a:bodyPr wrap="square" lIns="45720" rIns="45720" tIns="27432" bIns="27432" anchor="ctr">
            <a:spAutoFit/>
          </a:bodyPr>
          <a:lstStyle/>
          <a:p>
            <a:pPr algn="ctr"/>
            <a:r>
              <a:rPr sz="1700" b="1">
                <a:solidFill>
                  <a:srgbClr val="FFFFFF"/>
                </a:solidFill>
                <a:latin typeface="Arial"/>
              </a:rPr>
              <a:t>1</a:t>
            </a:r>
          </a:p>
        </p:txBody>
      </p:sp>
      <p:sp>
        <p:nvSpPr>
          <p:cNvPr id="31" name="TextBox 30"/>
          <p:cNvSpPr txBox="1"/>
          <p:nvPr/>
        </p:nvSpPr>
        <p:spPr>
          <a:xfrm>
            <a:off x="7726679" y="1810512"/>
            <a:ext cx="3749039" cy="1097280"/>
          </a:xfrm>
          <a:prstGeom prst="rect">
            <a:avLst/>
          </a:prstGeom>
          <a:noFill/>
        </p:spPr>
        <p:txBody>
          <a:bodyPr wrap="square" lIns="45720" rIns="45720" tIns="27432" bIns="27432" anchor="t">
            <a:spAutoFit/>
          </a:bodyPr>
          <a:lstStyle/>
          <a:p>
            <a:pPr algn="l">
              <a:spcAft>
                <a:spcPts val="300"/>
              </a:spcAft>
            </a:pPr>
            <a:r>
              <a:rPr sz="1900" b="1">
                <a:solidFill>
                  <a:srgbClr val="0E2A2E"/>
                </a:solidFill>
                <a:latin typeface="Arial"/>
              </a:rPr>
              <a:t>No identities</a:t>
            </a:r>
          </a:p>
          <a:p>
            <a:pPr algn="l"/>
            <a:r>
              <a:rPr sz="1350" b="0">
                <a:solidFill>
                  <a:srgbClr val="5B6B68"/>
                </a:solidFill>
                <a:latin typeface="Arial"/>
              </a:rPr>
              <a:t>No accounts, no names, no phone numbers.</a:t>
            </a:r>
          </a:p>
        </p:txBody>
      </p:sp>
      <p:sp>
        <p:nvSpPr>
          <p:cNvPr id="32" name="Oval 31"/>
          <p:cNvSpPr/>
          <p:nvPr/>
        </p:nvSpPr>
        <p:spPr>
          <a:xfrm>
            <a:off x="7086600" y="2990087"/>
            <a:ext cx="502920" cy="502920"/>
          </a:xfrm>
          <a:prstGeom prst="ellipse">
            <a:avLst/>
          </a:prstGeom>
          <a:solidFill>
            <a:srgbClr val="0F6B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086600" y="2990087"/>
            <a:ext cx="502920" cy="502920"/>
          </a:xfrm>
          <a:prstGeom prst="rect">
            <a:avLst/>
          </a:prstGeom>
          <a:noFill/>
        </p:spPr>
        <p:txBody>
          <a:bodyPr wrap="square" lIns="45720" rIns="45720" tIns="27432" bIns="27432" anchor="ctr">
            <a:spAutoFit/>
          </a:bodyPr>
          <a:lstStyle/>
          <a:p>
            <a:pPr algn="ctr"/>
            <a:r>
              <a:rPr sz="1700" b="1">
                <a:solidFill>
                  <a:srgbClr val="FFFFFF"/>
                </a:solidFill>
                <a:latin typeface="Arial"/>
              </a:rPr>
              <a:t>2</a:t>
            </a:r>
          </a:p>
        </p:txBody>
      </p:sp>
      <p:sp>
        <p:nvSpPr>
          <p:cNvPr id="34" name="TextBox 33"/>
          <p:cNvSpPr txBox="1"/>
          <p:nvPr/>
        </p:nvSpPr>
        <p:spPr>
          <a:xfrm>
            <a:off x="7726679" y="2926079"/>
            <a:ext cx="3749039" cy="1097280"/>
          </a:xfrm>
          <a:prstGeom prst="rect">
            <a:avLst/>
          </a:prstGeom>
          <a:noFill/>
        </p:spPr>
        <p:txBody>
          <a:bodyPr wrap="square" lIns="45720" rIns="45720" tIns="27432" bIns="27432" anchor="t">
            <a:spAutoFit/>
          </a:bodyPr>
          <a:lstStyle/>
          <a:p>
            <a:pPr algn="l">
              <a:spcAft>
                <a:spcPts val="300"/>
              </a:spcAft>
            </a:pPr>
            <a:r>
              <a:rPr sz="1900" b="1">
                <a:solidFill>
                  <a:srgbClr val="0E2A2E"/>
                </a:solidFill>
                <a:latin typeface="Arial"/>
              </a:rPr>
              <a:t>No direct connections</a:t>
            </a:r>
          </a:p>
          <a:p>
            <a:pPr algn="l"/>
            <a:r>
              <a:rPr sz="1350" b="0">
                <a:solidFill>
                  <a:srgbClr val="5B6B68"/>
                </a:solidFill>
                <a:latin typeface="Arial"/>
              </a:rPr>
              <a:t>Nobody writes directly to anyone. There is no line between two people.</a:t>
            </a:r>
          </a:p>
        </p:txBody>
      </p:sp>
      <p:sp>
        <p:nvSpPr>
          <p:cNvPr id="35" name="Oval 34"/>
          <p:cNvSpPr/>
          <p:nvPr/>
        </p:nvSpPr>
        <p:spPr>
          <a:xfrm>
            <a:off x="7086600" y="4105655"/>
            <a:ext cx="502920" cy="502920"/>
          </a:xfrm>
          <a:prstGeom prst="ellipse">
            <a:avLst/>
          </a:prstGeom>
          <a:solidFill>
            <a:srgbClr val="0F6B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086600" y="4105655"/>
            <a:ext cx="502920" cy="502920"/>
          </a:xfrm>
          <a:prstGeom prst="rect">
            <a:avLst/>
          </a:prstGeom>
          <a:noFill/>
        </p:spPr>
        <p:txBody>
          <a:bodyPr wrap="square" lIns="45720" rIns="45720" tIns="27432" bIns="27432" anchor="ctr">
            <a:spAutoFit/>
          </a:bodyPr>
          <a:lstStyle/>
          <a:p>
            <a:pPr algn="ctr"/>
            <a:r>
              <a:rPr sz="1700" b="1">
                <a:solidFill>
                  <a:srgbClr val="FFFFFF"/>
                </a:solidFill>
                <a:latin typeface="Arial"/>
              </a:rPr>
              <a:t>3</a:t>
            </a:r>
          </a:p>
        </p:txBody>
      </p:sp>
      <p:sp>
        <p:nvSpPr>
          <p:cNvPr id="37" name="TextBox 36"/>
          <p:cNvSpPr txBox="1"/>
          <p:nvPr/>
        </p:nvSpPr>
        <p:spPr>
          <a:xfrm>
            <a:off x="7726679" y="4041648"/>
            <a:ext cx="3749039" cy="1097280"/>
          </a:xfrm>
          <a:prstGeom prst="rect">
            <a:avLst/>
          </a:prstGeom>
          <a:noFill/>
        </p:spPr>
        <p:txBody>
          <a:bodyPr wrap="square" lIns="45720" rIns="45720" tIns="27432" bIns="27432" anchor="t">
            <a:spAutoFit/>
          </a:bodyPr>
          <a:lstStyle/>
          <a:p>
            <a:pPr algn="l">
              <a:spcAft>
                <a:spcPts val="300"/>
              </a:spcAft>
            </a:pPr>
            <a:r>
              <a:rPr sz="1900" b="1">
                <a:solidFill>
                  <a:srgbClr val="0E2A2E"/>
                </a:solidFill>
                <a:latin typeface="Arial"/>
              </a:rPr>
              <a:t>The mailbox</a:t>
            </a:r>
          </a:p>
          <a:p>
            <a:pPr algn="l"/>
            <a:r>
              <a:rPr sz="1350" b="0">
                <a:solidFill>
                  <a:srgbClr val="5B6B68"/>
                </a:solidFill>
                <a:latin typeface="Arial"/>
              </a:rPr>
              <a:t>I put the message into my mailbox, on my server, and give my contact the details to pick it up. The same the other way round.</a:t>
            </a:r>
          </a:p>
        </p:txBody>
      </p:sp>
      <p:sp>
        <p:nvSpPr>
          <p:cNvPr id="38" name="Rounded Rectangle 37"/>
          <p:cNvSpPr/>
          <p:nvPr/>
        </p:nvSpPr>
        <p:spPr>
          <a:xfrm>
            <a:off x="731520" y="5349240"/>
            <a:ext cx="10725912" cy="685800"/>
          </a:xfrm>
          <a:prstGeom prst="roundRect">
            <a:avLst>
              <a:gd name="adj" fmla="val 18666"/>
            </a:avLst>
          </a:prstGeom>
          <a:solidFill>
            <a:srgbClr val="D9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60120" y="5349240"/>
            <a:ext cx="10332720" cy="685800"/>
          </a:xfrm>
          <a:prstGeom prst="rect">
            <a:avLst/>
          </a:prstGeom>
          <a:noFill/>
        </p:spPr>
        <p:txBody>
          <a:bodyPr wrap="square" lIns="45720" rIns="45720" tIns="27432" bIns="27432" anchor="ctr">
            <a:spAutoFit/>
          </a:bodyPr>
          <a:lstStyle/>
          <a:p>
            <a:pPr algn="l"/>
            <a:r>
              <a:rPr sz="1700" b="0">
                <a:solidFill>
                  <a:srgbClr val="0E2A2E"/>
                </a:solidFill>
                <a:latin typeface="Arial"/>
              </a:rPr>
              <a:t>What stays in the mailbox is gone after 24 hours at most.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2F5F4"/>
        </a:solidFill>
        <a:effectLst/>
      </p:bgPr>
    </p:bg>
    <p:spTree>
      <p:nvGrpSpPr>
        <p:cNvPr id="1" name=""/>
        <p:cNvGrpSpPr/>
        <p:nvPr/>
      </p:nvGrpSpPr>
      <p:grpSpPr/>
      <p:sp>
        <p:nvSpPr>
          <p:cNvPr id="2" name="TextBox 1"/>
          <p:cNvSpPr txBox="1"/>
          <p:nvPr/>
        </p:nvSpPr>
        <p:spPr>
          <a:xfrm>
            <a:off x="731520" y="502920"/>
            <a:ext cx="7772400" cy="365760"/>
          </a:xfrm>
          <a:prstGeom prst="rect">
            <a:avLst/>
          </a:prstGeom>
          <a:noFill/>
        </p:spPr>
        <p:txBody>
          <a:bodyPr wrap="square" lIns="45720" rIns="45720" tIns="27432" bIns="27432" anchor="t">
            <a:spAutoFit/>
          </a:bodyPr>
          <a:lstStyle/>
          <a:p>
            <a:pPr algn="l"/>
            <a:r>
              <a:rPr sz="1200" b="1">
                <a:solidFill>
                  <a:srgbClr val="0F6B62"/>
                </a:solidFill>
                <a:latin typeface="Consolas"/>
              </a:rPr>
              <a:t>WHAT THE SERVER KNOWS</a:t>
            </a:r>
          </a:p>
        </p:txBody>
      </p:sp>
      <p:sp>
        <p:nvSpPr>
          <p:cNvPr id="3" name="TextBox 2"/>
          <p:cNvSpPr txBox="1"/>
          <p:nvPr/>
        </p:nvSpPr>
        <p:spPr>
          <a:xfrm>
            <a:off x="731520" y="822960"/>
            <a:ext cx="10698480" cy="914400"/>
          </a:xfrm>
          <a:prstGeom prst="rect">
            <a:avLst/>
          </a:prstGeom>
          <a:noFill/>
        </p:spPr>
        <p:txBody>
          <a:bodyPr wrap="square" lIns="45720" rIns="45720" tIns="27432" bIns="27432" anchor="t">
            <a:spAutoFit/>
          </a:bodyPr>
          <a:lstStyle/>
          <a:p>
            <a:pPr algn="l"/>
            <a:r>
              <a:rPr sz="3600" b="1">
                <a:solidFill>
                  <a:srgbClr val="0E2A2E"/>
                </a:solidFill>
                <a:latin typeface="Arial"/>
              </a:rPr>
              <a:t>What the server knows: almost nothing</a:t>
            </a:r>
          </a:p>
        </p:txBody>
      </p:sp>
      <p:pic>
        <p:nvPicPr>
          <p:cNvPr id="4" name="Picture 3" descr="logo.png"/>
          <p:cNvPicPr>
            <a:picLocks noChangeAspect="1"/>
          </p:cNvPicPr>
          <p:nvPr/>
        </p:nvPicPr>
        <p:blipFill>
          <a:blip r:embed="rId2"/>
          <a:stretch>
            <a:fillRect/>
          </a:stretch>
        </p:blipFill>
        <p:spPr>
          <a:xfrm>
            <a:off x="731520" y="6126480"/>
            <a:ext cx="1169421" cy="457200"/>
          </a:xfrm>
          <a:prstGeom prst="rect">
            <a:avLst/>
          </a:prstGeom>
        </p:spPr>
      </p:pic>
      <p:sp>
        <p:nvSpPr>
          <p:cNvPr id="5" name="TextBox 4"/>
          <p:cNvSpPr txBox="1"/>
          <p:nvPr/>
        </p:nvSpPr>
        <p:spPr>
          <a:xfrm>
            <a:off x="10058400" y="6309360"/>
            <a:ext cx="1417320" cy="274320"/>
          </a:xfrm>
          <a:prstGeom prst="rect">
            <a:avLst/>
          </a:prstGeom>
          <a:noFill/>
        </p:spPr>
        <p:txBody>
          <a:bodyPr wrap="square" lIns="45720" rIns="45720" tIns="27432" bIns="27432" anchor="t">
            <a:spAutoFit/>
          </a:bodyPr>
          <a:lstStyle/>
          <a:p>
            <a:pPr algn="r"/>
            <a:r>
              <a:rPr sz="1200" b="0">
                <a:solidFill>
                  <a:srgbClr val="5B6B68"/>
                </a:solidFill>
                <a:latin typeface="Consolas"/>
              </a:rPr>
              <a:t>3 / 7</a:t>
            </a:r>
          </a:p>
        </p:txBody>
      </p:sp>
      <p:sp>
        <p:nvSpPr>
          <p:cNvPr id="6" name="Rounded Rectangle 5"/>
          <p:cNvSpPr/>
          <p:nvPr/>
        </p:nvSpPr>
        <p:spPr>
          <a:xfrm>
            <a:off x="731520" y="1828800"/>
            <a:ext cx="5120640" cy="3291840"/>
          </a:xfrm>
          <a:prstGeom prst="roundRect">
            <a:avLst>
              <a:gd name="adj" fmla="val 5555"/>
            </a:avLst>
          </a:prstGeom>
          <a:solidFill>
            <a:srgbClr val="060B0D"/>
          </a:solidFill>
          <a:ln>
            <a:noFill/>
          </a:ln>
          <a:effectLst>
            <a:outerShdw blurRad="228600" dist="50800" dir="5400000" algn="t" rotWithShape="0">
              <a:srgbClr val="0E2A2E">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103120"/>
            <a:ext cx="4663440" cy="2743200"/>
          </a:xfrm>
          <a:prstGeom prst="rect">
            <a:avLst/>
          </a:prstGeom>
          <a:noFill/>
        </p:spPr>
        <p:txBody>
          <a:bodyPr wrap="square" lIns="45720" rIns="45720" tIns="27432" bIns="27432" anchor="t">
            <a:spAutoFit/>
          </a:bodyPr>
          <a:lstStyle/>
          <a:p>
            <a:pPr algn="l">
              <a:spcAft>
                <a:spcPts val="500"/>
              </a:spcAft>
            </a:pPr>
            <a:r>
              <a:rPr sz="1500" b="0">
                <a:solidFill>
                  <a:srgbClr val="8CA3AA"/>
                </a:solidFill>
                <a:latin typeface="Consolas"/>
              </a:rPr>
              <a:t>packet    9f2c71ab04e86d3c5b1a…</a:t>
            </a:r>
          </a:p>
          <a:p>
            <a:pPr algn="l">
              <a:spcAft>
                <a:spcPts val="500"/>
              </a:spcAft>
            </a:pPr>
            <a:r>
              <a:rPr sz="1500" b="0">
                <a:solidFill>
                  <a:srgbClr val="8CA3AA"/>
                </a:solidFill>
                <a:latin typeface="Consolas"/>
              </a:rPr>
              <a:t>size      4096 B</a:t>
            </a:r>
          </a:p>
          <a:p>
            <a:pPr algn="l">
              <a:spcAft>
                <a:spcPts val="500"/>
              </a:spcAft>
            </a:pPr>
            <a:r>
              <a:rPr sz="1500" b="0">
                <a:solidFill>
                  <a:srgbClr val="8CA3AA"/>
                </a:solidFill>
                <a:latin typeface="Consolas"/>
              </a:rPr>
              <a:t>expires   in 5 h 12 min</a:t>
            </a:r>
          </a:p>
          <a:p>
            <a:pPr algn="l">
              <a:spcAft>
                <a:spcPts val="500"/>
              </a:spcAft>
            </a:pPr>
            <a:r>
              <a:rPr sz="1500" b="0">
                <a:solidFill>
                  <a:srgbClr val="8CA3AA"/>
                </a:solidFill>
                <a:latin typeface="Consolas"/>
              </a:rPr>
              <a:t>content   ▒▒▒▒▒▒▒▒▒▒▒▒ encrypted</a:t>
            </a:r>
          </a:p>
          <a:p>
            <a:pPr algn="l">
              <a:spcAft>
                <a:spcPts val="500"/>
              </a:spcAft>
            </a:pPr>
            <a:r>
              <a:rPr sz="1500" b="0">
                <a:solidFill>
                  <a:srgbClr val="8CA3AA"/>
                </a:solidFill>
                <a:latin typeface="Consolas"/>
              </a:rPr>
              <a:t>from      does not exist</a:t>
            </a:r>
          </a:p>
          <a:p>
            <a:pPr algn="l">
              <a:spcAft>
                <a:spcPts val="500"/>
              </a:spcAft>
            </a:pPr>
            <a:r>
              <a:rPr sz="1500" b="0">
                <a:solidFill>
                  <a:srgbClr val="8CA3AA"/>
                </a:solidFill>
                <a:latin typeface="Consolas"/>
              </a:rPr>
              <a:t>to        does not exist</a:t>
            </a:r>
          </a:p>
          <a:p>
            <a:pPr algn="l">
              <a:spcAft>
                <a:spcPts val="500"/>
              </a:spcAft>
            </a:pPr>
            <a:r>
              <a:rPr sz="1500" b="0">
                <a:solidFill>
                  <a:srgbClr val="8CA3AA"/>
                </a:solidFill>
                <a:latin typeface="Consolas"/>
              </a:rPr>
              <a:t>name      does not exist</a:t>
            </a:r>
          </a:p>
        </p:txBody>
      </p:sp>
      <p:sp>
        <p:nvSpPr>
          <p:cNvPr id="8" name="TextBox 7"/>
          <p:cNvSpPr txBox="1"/>
          <p:nvPr/>
        </p:nvSpPr>
        <p:spPr>
          <a:xfrm>
            <a:off x="731520" y="5166360"/>
            <a:ext cx="5120640" cy="274320"/>
          </a:xfrm>
          <a:prstGeom prst="rect">
            <a:avLst/>
          </a:prstGeom>
          <a:noFill/>
        </p:spPr>
        <p:txBody>
          <a:bodyPr wrap="square" lIns="45720" rIns="45720" tIns="27432" bIns="27432" anchor="t">
            <a:spAutoFit/>
          </a:bodyPr>
          <a:lstStyle/>
          <a:p>
            <a:pPr algn="l"/>
            <a:r>
              <a:rPr sz="1050" b="0">
                <a:solidFill>
                  <a:srgbClr val="5B6B68"/>
                </a:solidFill>
                <a:latin typeface="Arial"/>
              </a:rPr>
              <a:t>Illustration, random values</a:t>
            </a:r>
          </a:p>
        </p:txBody>
      </p:sp>
      <p:sp>
        <p:nvSpPr>
          <p:cNvPr id="9" name="Rounded Rectangle 8"/>
          <p:cNvSpPr/>
          <p:nvPr/>
        </p:nvSpPr>
        <p:spPr>
          <a:xfrm>
            <a:off x="6263640" y="1828800"/>
            <a:ext cx="5193792" cy="1024128"/>
          </a:xfrm>
          <a:prstGeom prst="roundRect">
            <a:avLst>
              <a:gd name="adj" fmla="val 14285"/>
            </a:avLst>
          </a:prstGeom>
          <a:solidFill>
            <a:srgbClr val="FFFFFF"/>
          </a:solidFill>
          <a:ln w="12700">
            <a:solidFill>
              <a:srgbClr val="D5DEDB"/>
            </a:solidFill>
          </a:ln>
          <a:effectLst>
            <a:outerShdw blurRad="228600" dist="50800" dir="5400000" algn="t" rotWithShape="0">
              <a:srgbClr val="0E2A2E">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446520" y="2084832"/>
            <a:ext cx="502920" cy="502920"/>
          </a:xfrm>
          <a:prstGeom prst="ellipse">
            <a:avLst/>
          </a:prstGeom>
          <a:solidFill>
            <a:srgbClr val="0F6B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2084832"/>
            <a:ext cx="502920" cy="502920"/>
          </a:xfrm>
          <a:prstGeom prst="rect">
            <a:avLst/>
          </a:prstGeom>
          <a:noFill/>
        </p:spPr>
        <p:txBody>
          <a:bodyPr wrap="square" lIns="45720" rIns="45720" tIns="27432" bIns="27432" anchor="ctr">
            <a:spAutoFit/>
          </a:bodyPr>
          <a:lstStyle/>
          <a:p>
            <a:pPr algn="ctr"/>
            <a:r>
              <a:rPr sz="1700" b="1">
                <a:solidFill>
                  <a:srgbClr val="FFFFFF"/>
                </a:solidFill>
                <a:latin typeface="Arial"/>
              </a:rPr>
              <a:t>1</a:t>
            </a:r>
          </a:p>
        </p:txBody>
      </p:sp>
      <p:sp>
        <p:nvSpPr>
          <p:cNvPr id="12" name="TextBox 11"/>
          <p:cNvSpPr txBox="1"/>
          <p:nvPr/>
        </p:nvSpPr>
        <p:spPr>
          <a:xfrm>
            <a:off x="7132320" y="1865376"/>
            <a:ext cx="4206240" cy="960120"/>
          </a:xfrm>
          <a:prstGeom prst="rect">
            <a:avLst/>
          </a:prstGeom>
          <a:noFill/>
        </p:spPr>
        <p:txBody>
          <a:bodyPr wrap="square" lIns="45720" rIns="45720" tIns="27432" bIns="27432" anchor="ctr">
            <a:spAutoFit/>
          </a:bodyPr>
          <a:lstStyle/>
          <a:p>
            <a:pPr algn="l">
              <a:spcAft>
                <a:spcPts val="300"/>
              </a:spcAft>
            </a:pPr>
            <a:r>
              <a:rPr sz="1550" b="1">
                <a:solidFill>
                  <a:srgbClr val="0E2A2E"/>
                </a:solidFill>
                <a:latin typeface="Arial"/>
              </a:rPr>
              <a:t>If someone breaks into the server</a:t>
            </a:r>
          </a:p>
          <a:p>
            <a:pPr algn="l"/>
            <a:r>
              <a:rPr sz="1250" b="0">
                <a:solidFill>
                  <a:srgbClr val="5B6B68"/>
                </a:solidFill>
                <a:latin typeface="Arial"/>
              </a:rPr>
              <a:t>They find encrypted packets, all the same size, at most 24 hours old. That is all.</a:t>
            </a:r>
          </a:p>
        </p:txBody>
      </p:sp>
      <p:sp>
        <p:nvSpPr>
          <p:cNvPr id="13" name="Rounded Rectangle 12"/>
          <p:cNvSpPr/>
          <p:nvPr/>
        </p:nvSpPr>
        <p:spPr>
          <a:xfrm>
            <a:off x="6263640" y="2971800"/>
            <a:ext cx="5193792" cy="1024128"/>
          </a:xfrm>
          <a:prstGeom prst="roundRect">
            <a:avLst>
              <a:gd name="adj" fmla="val 14285"/>
            </a:avLst>
          </a:prstGeom>
          <a:solidFill>
            <a:srgbClr val="FFFFFF"/>
          </a:solidFill>
          <a:ln w="12700">
            <a:solidFill>
              <a:srgbClr val="D5DEDB"/>
            </a:solidFill>
          </a:ln>
          <a:effectLst>
            <a:outerShdw blurRad="228600" dist="50800" dir="5400000" algn="t" rotWithShape="0">
              <a:srgbClr val="0E2A2E">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46520" y="3227832"/>
            <a:ext cx="502920" cy="502920"/>
          </a:xfrm>
          <a:prstGeom prst="ellipse">
            <a:avLst/>
          </a:prstGeom>
          <a:solidFill>
            <a:srgbClr val="0F6B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6520" y="3227832"/>
            <a:ext cx="502920" cy="502920"/>
          </a:xfrm>
          <a:prstGeom prst="rect">
            <a:avLst/>
          </a:prstGeom>
          <a:noFill/>
        </p:spPr>
        <p:txBody>
          <a:bodyPr wrap="square" lIns="45720" rIns="45720" tIns="27432" bIns="27432" anchor="ctr">
            <a:spAutoFit/>
          </a:bodyPr>
          <a:lstStyle/>
          <a:p>
            <a:pPr algn="ctr"/>
            <a:r>
              <a:rPr sz="1700" b="1">
                <a:solidFill>
                  <a:srgbClr val="FFFFFF"/>
                </a:solidFill>
                <a:latin typeface="Arial"/>
              </a:rPr>
              <a:t>2</a:t>
            </a:r>
          </a:p>
        </p:txBody>
      </p:sp>
      <p:sp>
        <p:nvSpPr>
          <p:cNvPr id="16" name="TextBox 15"/>
          <p:cNvSpPr txBox="1"/>
          <p:nvPr/>
        </p:nvSpPr>
        <p:spPr>
          <a:xfrm>
            <a:off x="7132320" y="3008376"/>
            <a:ext cx="4206240" cy="960120"/>
          </a:xfrm>
          <a:prstGeom prst="rect">
            <a:avLst/>
          </a:prstGeom>
          <a:noFill/>
        </p:spPr>
        <p:txBody>
          <a:bodyPr wrap="square" lIns="45720" rIns="45720" tIns="27432" bIns="27432" anchor="ctr">
            <a:spAutoFit/>
          </a:bodyPr>
          <a:lstStyle/>
          <a:p>
            <a:pPr algn="l">
              <a:spcAft>
                <a:spcPts val="300"/>
              </a:spcAft>
            </a:pPr>
            <a:r>
              <a:rPr sz="1550" b="1">
                <a:solidFill>
                  <a:srgbClr val="0E2A2E"/>
                </a:solidFill>
                <a:latin typeface="Arial"/>
              </a:rPr>
              <a:t>If a court orders the server seized</a:t>
            </a:r>
          </a:p>
          <a:p>
            <a:pPr algn="l"/>
            <a:r>
              <a:rPr sz="1250" b="0">
                <a:solidFill>
                  <a:srgbClr val="5B6B68"/>
                </a:solidFill>
                <a:latin typeface="Arial"/>
              </a:rPr>
              <a:t>The seized server gives the same: nothing readable, no names, no history. The case files are not on it.</a:t>
            </a:r>
          </a:p>
        </p:txBody>
      </p:sp>
      <p:sp>
        <p:nvSpPr>
          <p:cNvPr id="17" name="Rounded Rectangle 16"/>
          <p:cNvSpPr/>
          <p:nvPr/>
        </p:nvSpPr>
        <p:spPr>
          <a:xfrm>
            <a:off x="6263640" y="4114800"/>
            <a:ext cx="5193792" cy="1024128"/>
          </a:xfrm>
          <a:prstGeom prst="roundRect">
            <a:avLst>
              <a:gd name="adj" fmla="val 14285"/>
            </a:avLst>
          </a:prstGeom>
          <a:solidFill>
            <a:srgbClr val="FFFFFF"/>
          </a:solidFill>
          <a:ln w="12700">
            <a:solidFill>
              <a:srgbClr val="D5DEDB"/>
            </a:solidFill>
          </a:ln>
          <a:effectLst>
            <a:outerShdw blurRad="228600" dist="50800" dir="5400000" algn="t" rotWithShape="0">
              <a:srgbClr val="0E2A2E">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446520" y="4370832"/>
            <a:ext cx="502920" cy="502920"/>
          </a:xfrm>
          <a:prstGeom prst="ellipse">
            <a:avLst/>
          </a:prstGeom>
          <a:solidFill>
            <a:srgbClr val="0F6B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46520" y="4370832"/>
            <a:ext cx="502920" cy="502920"/>
          </a:xfrm>
          <a:prstGeom prst="rect">
            <a:avLst/>
          </a:prstGeom>
          <a:noFill/>
        </p:spPr>
        <p:txBody>
          <a:bodyPr wrap="square" lIns="45720" rIns="45720" tIns="27432" bIns="27432" anchor="ctr">
            <a:spAutoFit/>
          </a:bodyPr>
          <a:lstStyle/>
          <a:p>
            <a:pPr algn="ctr"/>
            <a:r>
              <a:rPr sz="1700" b="1">
                <a:solidFill>
                  <a:srgbClr val="FFFFFF"/>
                </a:solidFill>
                <a:latin typeface="Arial"/>
              </a:rPr>
              <a:t>3</a:t>
            </a:r>
          </a:p>
        </p:txBody>
      </p:sp>
      <p:sp>
        <p:nvSpPr>
          <p:cNvPr id="20" name="TextBox 19"/>
          <p:cNvSpPr txBox="1"/>
          <p:nvPr/>
        </p:nvSpPr>
        <p:spPr>
          <a:xfrm>
            <a:off x="7132320" y="4151376"/>
            <a:ext cx="4206240" cy="960120"/>
          </a:xfrm>
          <a:prstGeom prst="rect">
            <a:avLst/>
          </a:prstGeom>
          <a:noFill/>
        </p:spPr>
        <p:txBody>
          <a:bodyPr wrap="square" lIns="45720" rIns="45720" tIns="27432" bIns="27432" anchor="ctr">
            <a:spAutoFit/>
          </a:bodyPr>
          <a:lstStyle/>
          <a:p>
            <a:pPr algn="l">
              <a:spcAft>
                <a:spcPts val="300"/>
              </a:spcAft>
            </a:pPr>
            <a:r>
              <a:rPr sz="1550" b="1">
                <a:solidFill>
                  <a:srgbClr val="0E2A2E"/>
                </a:solidFill>
                <a:latin typeface="Arial"/>
              </a:rPr>
              <a:t>If someone asks NexonAI</a:t>
            </a:r>
          </a:p>
          <a:p>
            <a:pPr algn="l"/>
            <a:r>
              <a:rPr sz="1250" b="0">
                <a:solidFill>
                  <a:srgbClr val="5B6B68"/>
                </a:solidFill>
                <a:latin typeface="Arial"/>
              </a:rPr>
              <a:t>We have nothing to hand over: we do not run the server, we have no access and we have no copy.</a:t>
            </a:r>
          </a:p>
        </p:txBody>
      </p:sp>
      <p:sp>
        <p:nvSpPr>
          <p:cNvPr id="21" name="Rounded Rectangle 20"/>
          <p:cNvSpPr/>
          <p:nvPr/>
        </p:nvSpPr>
        <p:spPr>
          <a:xfrm>
            <a:off x="731520" y="5486400"/>
            <a:ext cx="10725912" cy="548640"/>
          </a:xfrm>
          <a:prstGeom prst="roundRect">
            <a:avLst>
              <a:gd name="adj" fmla="val 23333"/>
            </a:avLst>
          </a:prstGeom>
          <a:solidFill>
            <a:srgbClr val="D9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0120" y="5486400"/>
            <a:ext cx="10332720" cy="548640"/>
          </a:xfrm>
          <a:prstGeom prst="rect">
            <a:avLst/>
          </a:prstGeom>
          <a:noFill/>
        </p:spPr>
        <p:txBody>
          <a:bodyPr wrap="square" lIns="45720" rIns="45720" tIns="27432" bIns="27432" anchor="ctr">
            <a:spAutoFit/>
          </a:bodyPr>
          <a:lstStyle/>
          <a:p>
            <a:pPr algn="l"/>
            <a:r>
              <a:rPr sz="1600" b="1">
                <a:solidFill>
                  <a:srgbClr val="0E2A2E"/>
                </a:solidFill>
                <a:latin typeface="Arial"/>
              </a:rPr>
              <a:t>Whoever breaks in finds data junk. With us there is no vault worth cracking.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2F5F4"/>
        </a:solidFill>
        <a:effectLst/>
      </p:bgPr>
    </p:bg>
    <p:spTree>
      <p:nvGrpSpPr>
        <p:cNvPr id="1" name=""/>
        <p:cNvGrpSpPr/>
        <p:nvPr/>
      </p:nvGrpSpPr>
      <p:grpSpPr/>
      <p:sp>
        <p:nvSpPr>
          <p:cNvPr id="2" name="TextBox 1"/>
          <p:cNvSpPr txBox="1"/>
          <p:nvPr/>
        </p:nvSpPr>
        <p:spPr>
          <a:xfrm>
            <a:off x="731520" y="502920"/>
            <a:ext cx="7772400" cy="365760"/>
          </a:xfrm>
          <a:prstGeom prst="rect">
            <a:avLst/>
          </a:prstGeom>
          <a:noFill/>
        </p:spPr>
        <p:txBody>
          <a:bodyPr wrap="square" lIns="45720" rIns="45720" tIns="27432" bIns="27432" anchor="t">
            <a:spAutoFit/>
          </a:bodyPr>
          <a:lstStyle/>
          <a:p>
            <a:pPr algn="l"/>
            <a:r>
              <a:rPr sz="1200" b="1">
                <a:solidFill>
                  <a:srgbClr val="0F6B62"/>
                </a:solidFill>
                <a:latin typeface="Consolas"/>
              </a:rPr>
              <a:t>SAFELINE</a:t>
            </a:r>
          </a:p>
        </p:txBody>
      </p:sp>
      <p:sp>
        <p:nvSpPr>
          <p:cNvPr id="3" name="TextBox 2"/>
          <p:cNvSpPr txBox="1"/>
          <p:nvPr/>
        </p:nvSpPr>
        <p:spPr>
          <a:xfrm>
            <a:off x="731520" y="822960"/>
            <a:ext cx="10698480" cy="914400"/>
          </a:xfrm>
          <a:prstGeom prst="rect">
            <a:avLst/>
          </a:prstGeom>
          <a:noFill/>
        </p:spPr>
        <p:txBody>
          <a:bodyPr wrap="square" lIns="45720" rIns="45720" tIns="27432" bIns="27432" anchor="t">
            <a:spAutoFit/>
          </a:bodyPr>
          <a:lstStyle/>
          <a:p>
            <a:pPr algn="l"/>
            <a:r>
              <a:rPr sz="3600" b="1">
                <a:solidFill>
                  <a:srgbClr val="0E2A2E"/>
                </a:solidFill>
                <a:latin typeface="Arial"/>
              </a:rPr>
              <a:t>safeline: three products</a:t>
            </a:r>
          </a:p>
        </p:txBody>
      </p:sp>
      <p:pic>
        <p:nvPicPr>
          <p:cNvPr id="4" name="Picture 3" descr="logo.png"/>
          <p:cNvPicPr>
            <a:picLocks noChangeAspect="1"/>
          </p:cNvPicPr>
          <p:nvPr/>
        </p:nvPicPr>
        <p:blipFill>
          <a:blip r:embed="rId2"/>
          <a:stretch>
            <a:fillRect/>
          </a:stretch>
        </p:blipFill>
        <p:spPr>
          <a:xfrm>
            <a:off x="731520" y="6126480"/>
            <a:ext cx="1169421" cy="457200"/>
          </a:xfrm>
          <a:prstGeom prst="rect">
            <a:avLst/>
          </a:prstGeom>
        </p:spPr>
      </p:pic>
      <p:sp>
        <p:nvSpPr>
          <p:cNvPr id="5" name="TextBox 4"/>
          <p:cNvSpPr txBox="1"/>
          <p:nvPr/>
        </p:nvSpPr>
        <p:spPr>
          <a:xfrm>
            <a:off x="10058400" y="6309360"/>
            <a:ext cx="1417320" cy="274320"/>
          </a:xfrm>
          <a:prstGeom prst="rect">
            <a:avLst/>
          </a:prstGeom>
          <a:noFill/>
        </p:spPr>
        <p:txBody>
          <a:bodyPr wrap="square" lIns="45720" rIns="45720" tIns="27432" bIns="27432" anchor="t">
            <a:spAutoFit/>
          </a:bodyPr>
          <a:lstStyle/>
          <a:p>
            <a:pPr algn="r"/>
            <a:r>
              <a:rPr sz="1200" b="0">
                <a:solidFill>
                  <a:srgbClr val="5B6B68"/>
                </a:solidFill>
                <a:latin typeface="Consolas"/>
              </a:rPr>
              <a:t>4 / 7</a:t>
            </a:r>
          </a:p>
        </p:txBody>
      </p:sp>
      <p:sp>
        <p:nvSpPr>
          <p:cNvPr id="6" name="TextBox 5"/>
          <p:cNvSpPr txBox="1"/>
          <p:nvPr/>
        </p:nvSpPr>
        <p:spPr>
          <a:xfrm>
            <a:off x="5669280" y="530352"/>
            <a:ext cx="5788152" cy="274320"/>
          </a:xfrm>
          <a:prstGeom prst="rect">
            <a:avLst/>
          </a:prstGeom>
          <a:noFill/>
        </p:spPr>
        <p:txBody>
          <a:bodyPr wrap="square" lIns="45720" rIns="45720" tIns="27432" bIns="27432" anchor="t">
            <a:spAutoFit/>
          </a:bodyPr>
          <a:lstStyle/>
          <a:p>
            <a:pPr algn="r"/>
            <a:r>
              <a:rPr sz="1050" b="0">
                <a:solidFill>
                  <a:srgbClr val="5B6B68"/>
                </a:solidFill>
                <a:latin typeface="Arial"/>
              </a:rPr>
              <a:t>Screens: real dashboard, demo data · Phone: illustration</a:t>
            </a:r>
          </a:p>
        </p:txBody>
      </p:sp>
      <p:sp>
        <p:nvSpPr>
          <p:cNvPr id="7" name="Rounded Rectangle 6"/>
          <p:cNvSpPr/>
          <p:nvPr/>
        </p:nvSpPr>
        <p:spPr>
          <a:xfrm>
            <a:off x="731520" y="1737360"/>
            <a:ext cx="3429000" cy="2971800"/>
          </a:xfrm>
          <a:prstGeom prst="roundRect">
            <a:avLst>
              <a:gd name="adj" fmla="val 6153"/>
            </a:avLst>
          </a:prstGeom>
          <a:solidFill>
            <a:srgbClr val="FFFFFF"/>
          </a:solidFill>
          <a:ln w="12700">
            <a:solidFill>
              <a:srgbClr val="D5DEDB"/>
            </a:solidFill>
          </a:ln>
          <a:effectLst>
            <a:outerShdw blurRad="228600" dist="50800" dir="5400000" algn="t" rotWithShape="0">
              <a:srgbClr val="0E2A2E">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68680" y="1874519"/>
            <a:ext cx="3154680" cy="1783080"/>
          </a:xfrm>
          <a:prstGeom prst="roundRect">
            <a:avLst>
              <a:gd name="adj" fmla="val 7179"/>
            </a:avLst>
          </a:prstGeom>
          <a:solidFill>
            <a:srgbClr val="EA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phone_EN_1.png"/>
          <p:cNvPicPr>
            <a:picLocks noChangeAspect="1"/>
          </p:cNvPicPr>
          <p:nvPr/>
        </p:nvPicPr>
        <p:blipFill>
          <a:blip r:embed="rId3"/>
          <a:stretch>
            <a:fillRect/>
          </a:stretch>
        </p:blipFill>
        <p:spPr>
          <a:xfrm>
            <a:off x="2065742" y="1938528"/>
            <a:ext cx="779567" cy="1645920"/>
          </a:xfrm>
          <a:prstGeom prst="rect">
            <a:avLst/>
          </a:prstGeom>
        </p:spPr>
      </p:pic>
      <p:sp>
        <p:nvSpPr>
          <p:cNvPr id="10" name="TextBox 9"/>
          <p:cNvSpPr txBox="1"/>
          <p:nvPr/>
        </p:nvSpPr>
        <p:spPr>
          <a:xfrm>
            <a:off x="914400" y="3749039"/>
            <a:ext cx="3063240" cy="365760"/>
          </a:xfrm>
          <a:prstGeom prst="rect">
            <a:avLst/>
          </a:prstGeom>
          <a:noFill/>
        </p:spPr>
        <p:txBody>
          <a:bodyPr wrap="square" lIns="45720" rIns="45720" tIns="27432" bIns="27432" anchor="t">
            <a:spAutoFit/>
          </a:bodyPr>
          <a:lstStyle/>
          <a:p>
            <a:pPr algn="l"/>
            <a:r>
              <a:rPr sz="1900" b="1">
                <a:solidFill>
                  <a:srgbClr val="0E2A2E"/>
                </a:solidFill>
                <a:latin typeface="Arial"/>
              </a:rPr>
              <a:t>The mobile app</a:t>
            </a:r>
          </a:p>
        </p:txBody>
      </p:sp>
      <p:sp>
        <p:nvSpPr>
          <p:cNvPr id="11" name="TextBox 10"/>
          <p:cNvSpPr txBox="1"/>
          <p:nvPr/>
        </p:nvSpPr>
        <p:spPr>
          <a:xfrm>
            <a:off x="914400" y="4114800"/>
            <a:ext cx="3063240" cy="548640"/>
          </a:xfrm>
          <a:prstGeom prst="rect">
            <a:avLst/>
          </a:prstGeom>
          <a:noFill/>
        </p:spPr>
        <p:txBody>
          <a:bodyPr wrap="square" lIns="45720" rIns="45720" tIns="27432" bIns="27432" anchor="t">
            <a:spAutoFit/>
          </a:bodyPr>
          <a:lstStyle/>
          <a:p>
            <a:pPr algn="l"/>
            <a:r>
              <a:rPr sz="1350" b="0">
                <a:solidFill>
                  <a:srgbClr val="5B6B68"/>
                </a:solidFill>
                <a:latin typeface="Arial"/>
              </a:rPr>
              <a:t>for employees</a:t>
            </a:r>
          </a:p>
        </p:txBody>
      </p:sp>
      <p:sp>
        <p:nvSpPr>
          <p:cNvPr id="12" name="Rounded Rectangle 11"/>
          <p:cNvSpPr/>
          <p:nvPr/>
        </p:nvSpPr>
        <p:spPr>
          <a:xfrm>
            <a:off x="4370832" y="1737360"/>
            <a:ext cx="3429000" cy="2971800"/>
          </a:xfrm>
          <a:prstGeom prst="roundRect">
            <a:avLst>
              <a:gd name="adj" fmla="val 6153"/>
            </a:avLst>
          </a:prstGeom>
          <a:solidFill>
            <a:srgbClr val="FFFFFF"/>
          </a:solidFill>
          <a:ln w="12700">
            <a:solidFill>
              <a:srgbClr val="D5DEDB"/>
            </a:solidFill>
          </a:ln>
          <a:effectLst>
            <a:outerShdw blurRad="228600" dist="50800" dir="5400000" algn="t" rotWithShape="0">
              <a:srgbClr val="0E2A2E">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507992" y="1874519"/>
            <a:ext cx="3154680" cy="1783080"/>
          </a:xfrm>
          <a:prstGeom prst="roundRect">
            <a:avLst>
              <a:gd name="adj" fmla="val 7179"/>
            </a:avLst>
          </a:prstGeom>
          <a:solidFill>
            <a:srgbClr val="EA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239512" y="2084831"/>
            <a:ext cx="1691640" cy="372160"/>
          </a:xfrm>
          <a:prstGeom prst="roundRect">
            <a:avLst>
              <a:gd name="adj" fmla="val 22113"/>
            </a:avLst>
          </a:prstGeom>
          <a:solidFill>
            <a:srgbClr val="0E2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357926" y="2216048"/>
            <a:ext cx="109728" cy="109728"/>
          </a:xfrm>
          <a:prstGeom prst="ellipse">
            <a:avLst/>
          </a:prstGeom>
          <a:solidFill>
            <a:srgbClr val="45D0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611672" y="2238908"/>
            <a:ext cx="845820" cy="64008"/>
          </a:xfrm>
          <a:prstGeom prst="roundRect">
            <a:avLst>
              <a:gd name="adj" fmla="val 42857"/>
            </a:avLst>
          </a:prstGeom>
          <a:solidFill>
            <a:srgbClr val="2A4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626656" y="2238908"/>
            <a:ext cx="186080" cy="64008"/>
          </a:xfrm>
          <a:prstGeom prst="roundRect">
            <a:avLst>
              <a:gd name="adj" fmla="val 42857"/>
            </a:avLst>
          </a:prstGeom>
          <a:solidFill>
            <a:srgbClr val="2A4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239512" y="2541574"/>
            <a:ext cx="1691640" cy="372160"/>
          </a:xfrm>
          <a:prstGeom prst="roundRect">
            <a:avLst>
              <a:gd name="adj" fmla="val 22113"/>
            </a:avLst>
          </a:prstGeom>
          <a:solidFill>
            <a:srgbClr val="0E2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357926" y="2672791"/>
            <a:ext cx="109728" cy="109728"/>
          </a:xfrm>
          <a:prstGeom prst="ellipse">
            <a:avLst/>
          </a:prstGeom>
          <a:solidFill>
            <a:srgbClr val="45D0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611672" y="2695651"/>
            <a:ext cx="845820" cy="64008"/>
          </a:xfrm>
          <a:prstGeom prst="roundRect">
            <a:avLst>
              <a:gd name="adj" fmla="val 42857"/>
            </a:avLst>
          </a:prstGeom>
          <a:solidFill>
            <a:srgbClr val="2A4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626656" y="2695651"/>
            <a:ext cx="186080" cy="64008"/>
          </a:xfrm>
          <a:prstGeom prst="roundRect">
            <a:avLst>
              <a:gd name="adj" fmla="val 42857"/>
            </a:avLst>
          </a:prstGeom>
          <a:solidFill>
            <a:srgbClr val="2A4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239512" y="2998317"/>
            <a:ext cx="1691640" cy="372160"/>
          </a:xfrm>
          <a:prstGeom prst="roundRect">
            <a:avLst>
              <a:gd name="adj" fmla="val 22113"/>
            </a:avLst>
          </a:prstGeom>
          <a:solidFill>
            <a:srgbClr val="0E2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357926" y="3129534"/>
            <a:ext cx="109728" cy="109728"/>
          </a:xfrm>
          <a:prstGeom prst="ellipse">
            <a:avLst/>
          </a:prstGeom>
          <a:solidFill>
            <a:srgbClr val="45D0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611672" y="3152394"/>
            <a:ext cx="845820" cy="64008"/>
          </a:xfrm>
          <a:prstGeom prst="roundRect">
            <a:avLst>
              <a:gd name="adj" fmla="val 42857"/>
            </a:avLst>
          </a:prstGeom>
          <a:solidFill>
            <a:srgbClr val="2A4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626656" y="3152394"/>
            <a:ext cx="186080" cy="64008"/>
          </a:xfrm>
          <a:prstGeom prst="roundRect">
            <a:avLst>
              <a:gd name="adj" fmla="val 42857"/>
            </a:avLst>
          </a:prstGeom>
          <a:solidFill>
            <a:srgbClr val="2A4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53712" y="3749039"/>
            <a:ext cx="3063240" cy="365760"/>
          </a:xfrm>
          <a:prstGeom prst="rect">
            <a:avLst/>
          </a:prstGeom>
          <a:noFill/>
        </p:spPr>
        <p:txBody>
          <a:bodyPr wrap="square" lIns="45720" rIns="45720" tIns="27432" bIns="27432" anchor="t">
            <a:spAutoFit/>
          </a:bodyPr>
          <a:lstStyle/>
          <a:p>
            <a:pPr algn="l"/>
            <a:r>
              <a:rPr sz="1900" b="1">
                <a:solidFill>
                  <a:srgbClr val="0E2A2E"/>
                </a:solidFill>
                <a:latin typeface="Arial"/>
              </a:rPr>
              <a:t>The server</a:t>
            </a:r>
          </a:p>
        </p:txBody>
      </p:sp>
      <p:sp>
        <p:nvSpPr>
          <p:cNvPr id="27" name="TextBox 26"/>
          <p:cNvSpPr txBox="1"/>
          <p:nvPr/>
        </p:nvSpPr>
        <p:spPr>
          <a:xfrm>
            <a:off x="4553712" y="4114800"/>
            <a:ext cx="3063240" cy="548640"/>
          </a:xfrm>
          <a:prstGeom prst="rect">
            <a:avLst/>
          </a:prstGeom>
          <a:noFill/>
        </p:spPr>
        <p:txBody>
          <a:bodyPr wrap="square" lIns="45720" rIns="45720" tIns="27432" bIns="27432" anchor="t">
            <a:spAutoFit/>
          </a:bodyPr>
          <a:lstStyle/>
          <a:p>
            <a:pPr algn="l"/>
            <a:r>
              <a:rPr sz="1350" b="0">
                <a:solidFill>
                  <a:srgbClr val="5B6B68"/>
                </a:solidFill>
                <a:latin typeface="Arial"/>
              </a:rPr>
              <a:t>the organisation's own</a:t>
            </a:r>
          </a:p>
        </p:txBody>
      </p:sp>
      <p:sp>
        <p:nvSpPr>
          <p:cNvPr id="28" name="Rounded Rectangle 27"/>
          <p:cNvSpPr/>
          <p:nvPr/>
        </p:nvSpPr>
        <p:spPr>
          <a:xfrm>
            <a:off x="8010144" y="1737360"/>
            <a:ext cx="3429000" cy="2971800"/>
          </a:xfrm>
          <a:prstGeom prst="roundRect">
            <a:avLst>
              <a:gd name="adj" fmla="val 6153"/>
            </a:avLst>
          </a:prstGeom>
          <a:solidFill>
            <a:srgbClr val="FFFFFF"/>
          </a:solidFill>
          <a:ln w="12700">
            <a:solidFill>
              <a:srgbClr val="D5DEDB"/>
            </a:solidFill>
          </a:ln>
          <a:effectLst>
            <a:outerShdw blurRad="228600" dist="50800" dir="5400000" algn="t" rotWithShape="0">
              <a:srgbClr val="0E2A2E">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8147304" y="1874519"/>
            <a:ext cx="3154680" cy="1783080"/>
          </a:xfrm>
          <a:prstGeom prst="roundRect">
            <a:avLst>
              <a:gd name="adj" fmla="val 7179"/>
            </a:avLst>
          </a:prstGeom>
          <a:solidFill>
            <a:srgbClr val="EA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dash_overview_EN.png"/>
          <p:cNvPicPr>
            <a:picLocks noChangeAspect="1"/>
          </p:cNvPicPr>
          <p:nvPr/>
        </p:nvPicPr>
        <p:blipFill>
          <a:blip r:embed="rId4"/>
          <a:stretch>
            <a:fillRect/>
          </a:stretch>
        </p:blipFill>
        <p:spPr>
          <a:xfrm>
            <a:off x="8284464" y="1920240"/>
            <a:ext cx="2788920" cy="1743075"/>
          </a:xfrm>
          <a:prstGeom prst="rect">
            <a:avLst/>
          </a:prstGeom>
        </p:spPr>
      </p:pic>
      <p:sp>
        <p:nvSpPr>
          <p:cNvPr id="31" name="TextBox 30"/>
          <p:cNvSpPr txBox="1"/>
          <p:nvPr/>
        </p:nvSpPr>
        <p:spPr>
          <a:xfrm>
            <a:off x="8193023" y="3749039"/>
            <a:ext cx="3063240" cy="365760"/>
          </a:xfrm>
          <a:prstGeom prst="rect">
            <a:avLst/>
          </a:prstGeom>
          <a:noFill/>
        </p:spPr>
        <p:txBody>
          <a:bodyPr wrap="square" lIns="45720" rIns="45720" tIns="27432" bIns="27432" anchor="t">
            <a:spAutoFit/>
          </a:bodyPr>
          <a:lstStyle/>
          <a:p>
            <a:pPr algn="l"/>
            <a:r>
              <a:rPr sz="1900" b="1">
                <a:solidFill>
                  <a:srgbClr val="0E2A2E"/>
                </a:solidFill>
                <a:latin typeface="Arial"/>
              </a:rPr>
              <a:t>The dashboard</a:t>
            </a:r>
          </a:p>
        </p:txBody>
      </p:sp>
      <p:sp>
        <p:nvSpPr>
          <p:cNvPr id="32" name="TextBox 31"/>
          <p:cNvSpPr txBox="1"/>
          <p:nvPr/>
        </p:nvSpPr>
        <p:spPr>
          <a:xfrm>
            <a:off x="8193023" y="4114800"/>
            <a:ext cx="3063240" cy="548640"/>
          </a:xfrm>
          <a:prstGeom prst="rect">
            <a:avLst/>
          </a:prstGeom>
          <a:noFill/>
        </p:spPr>
        <p:txBody>
          <a:bodyPr wrap="square" lIns="45720" rIns="45720" tIns="27432" bIns="27432" anchor="t">
            <a:spAutoFit/>
          </a:bodyPr>
          <a:lstStyle/>
          <a:p>
            <a:pPr algn="l"/>
            <a:r>
              <a:rPr sz="1350" b="0">
                <a:solidFill>
                  <a:srgbClr val="5B6B68"/>
                </a:solidFill>
                <a:latin typeface="Arial"/>
              </a:rPr>
              <a:t>for the compliance officer</a:t>
            </a:r>
          </a:p>
        </p:txBody>
      </p:sp>
      <p:sp>
        <p:nvSpPr>
          <p:cNvPr id="33" name="TextBox 32"/>
          <p:cNvSpPr txBox="1"/>
          <p:nvPr/>
        </p:nvSpPr>
        <p:spPr>
          <a:xfrm>
            <a:off x="731520" y="4873752"/>
            <a:ext cx="5486400" cy="274320"/>
          </a:xfrm>
          <a:prstGeom prst="rect">
            <a:avLst/>
          </a:prstGeom>
          <a:noFill/>
        </p:spPr>
        <p:txBody>
          <a:bodyPr wrap="square" lIns="45720" rIns="45720" tIns="27432" bIns="27432" anchor="t">
            <a:spAutoFit/>
          </a:bodyPr>
          <a:lstStyle/>
          <a:p>
            <a:pPr algn="l"/>
            <a:r>
              <a:rPr sz="1200" b="1">
                <a:solidFill>
                  <a:srgbClr val="0F6B62"/>
                </a:solidFill>
                <a:latin typeface="Consolas"/>
              </a:rPr>
              <a:t>READY FROM US</a:t>
            </a:r>
          </a:p>
        </p:txBody>
      </p:sp>
      <p:sp>
        <p:nvSpPr>
          <p:cNvPr id="34" name="Rounded Rectangle 33"/>
          <p:cNvSpPr/>
          <p:nvPr/>
        </p:nvSpPr>
        <p:spPr>
          <a:xfrm>
            <a:off x="731520" y="5193792"/>
            <a:ext cx="2587752" cy="841248"/>
          </a:xfrm>
          <a:prstGeom prst="roundRect">
            <a:avLst>
              <a:gd name="adj" fmla="val 15217"/>
            </a:avLst>
          </a:prstGeom>
          <a:solidFill>
            <a:srgbClr val="D9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859536" y="5394960"/>
            <a:ext cx="256032" cy="256032"/>
          </a:xfrm>
          <a:prstGeom prst="ellipse">
            <a:avLst/>
          </a:prstGeom>
          <a:solidFill>
            <a:srgbClr val="0F6B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59536" y="5394960"/>
            <a:ext cx="256032" cy="256032"/>
          </a:xfrm>
          <a:prstGeom prst="rect">
            <a:avLst/>
          </a:prstGeom>
          <a:noFill/>
        </p:spPr>
        <p:txBody>
          <a:bodyPr wrap="square" lIns="45720" rIns="45720" tIns="27432" bIns="27432" anchor="ctr">
            <a:spAutoFit/>
          </a:bodyPr>
          <a:lstStyle/>
          <a:p>
            <a:pPr algn="ctr"/>
            <a:r>
              <a:rPr sz="1100" b="1">
                <a:solidFill>
                  <a:srgbClr val="FFFFFF"/>
                </a:solidFill>
                <a:latin typeface="Arial"/>
              </a:rPr>
              <a:t>✓</a:t>
            </a:r>
          </a:p>
        </p:txBody>
      </p:sp>
      <p:sp>
        <p:nvSpPr>
          <p:cNvPr id="37" name="TextBox 36"/>
          <p:cNvSpPr txBox="1"/>
          <p:nvPr/>
        </p:nvSpPr>
        <p:spPr>
          <a:xfrm>
            <a:off x="1188720" y="5193792"/>
            <a:ext cx="2084831" cy="841248"/>
          </a:xfrm>
          <a:prstGeom prst="rect">
            <a:avLst/>
          </a:prstGeom>
          <a:noFill/>
        </p:spPr>
        <p:txBody>
          <a:bodyPr wrap="square" lIns="45720" rIns="45720" tIns="27432" bIns="27432" anchor="ctr">
            <a:spAutoFit/>
          </a:bodyPr>
          <a:lstStyle/>
          <a:p>
            <a:pPr algn="l"/>
            <a:r>
              <a:rPr sz="1250" b="0">
                <a:solidFill>
                  <a:srgbClr val="0E2A2E"/>
                </a:solidFill>
                <a:latin typeface="Arial"/>
              </a:rPr>
              <a:t>The legal deadlines, already in the dashboard: 7 days and 3 months</a:t>
            </a:r>
          </a:p>
        </p:txBody>
      </p:sp>
      <p:sp>
        <p:nvSpPr>
          <p:cNvPr id="38" name="Rounded Rectangle 37"/>
          <p:cNvSpPr/>
          <p:nvPr/>
        </p:nvSpPr>
        <p:spPr>
          <a:xfrm>
            <a:off x="3456432" y="5193792"/>
            <a:ext cx="2587752" cy="841248"/>
          </a:xfrm>
          <a:prstGeom prst="roundRect">
            <a:avLst>
              <a:gd name="adj" fmla="val 15217"/>
            </a:avLst>
          </a:prstGeom>
          <a:solidFill>
            <a:srgbClr val="D9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3584448" y="5394960"/>
            <a:ext cx="256032" cy="256032"/>
          </a:xfrm>
          <a:prstGeom prst="ellipse">
            <a:avLst/>
          </a:prstGeom>
          <a:solidFill>
            <a:srgbClr val="0F6B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584448" y="5394960"/>
            <a:ext cx="256032" cy="256032"/>
          </a:xfrm>
          <a:prstGeom prst="rect">
            <a:avLst/>
          </a:prstGeom>
          <a:noFill/>
        </p:spPr>
        <p:txBody>
          <a:bodyPr wrap="square" lIns="45720" rIns="45720" tIns="27432" bIns="27432" anchor="ctr">
            <a:spAutoFit/>
          </a:bodyPr>
          <a:lstStyle/>
          <a:p>
            <a:pPr algn="ctr"/>
            <a:r>
              <a:rPr sz="1100" b="1">
                <a:solidFill>
                  <a:srgbClr val="FFFFFF"/>
                </a:solidFill>
                <a:latin typeface="Arial"/>
              </a:rPr>
              <a:t>✓</a:t>
            </a:r>
          </a:p>
        </p:txBody>
      </p:sp>
      <p:sp>
        <p:nvSpPr>
          <p:cNvPr id="41" name="TextBox 40"/>
          <p:cNvSpPr txBox="1"/>
          <p:nvPr/>
        </p:nvSpPr>
        <p:spPr>
          <a:xfrm>
            <a:off x="3913632" y="5193792"/>
            <a:ext cx="2084831" cy="841248"/>
          </a:xfrm>
          <a:prstGeom prst="rect">
            <a:avLst/>
          </a:prstGeom>
          <a:noFill/>
        </p:spPr>
        <p:txBody>
          <a:bodyPr wrap="square" lIns="45720" rIns="45720" tIns="27432" bIns="27432" anchor="ctr">
            <a:spAutoFit/>
          </a:bodyPr>
          <a:lstStyle/>
          <a:p>
            <a:pPr algn="l"/>
            <a:r>
              <a:rPr sz="1250" b="0">
                <a:solidFill>
                  <a:srgbClr val="0E2A2E"/>
                </a:solidFill>
                <a:latin typeface="Arial"/>
              </a:rPr>
              <a:t>A case number for every report</a:t>
            </a:r>
          </a:p>
        </p:txBody>
      </p:sp>
      <p:sp>
        <p:nvSpPr>
          <p:cNvPr id="42" name="Rounded Rectangle 41"/>
          <p:cNvSpPr/>
          <p:nvPr/>
        </p:nvSpPr>
        <p:spPr>
          <a:xfrm>
            <a:off x="6181344" y="5193792"/>
            <a:ext cx="2587752" cy="841248"/>
          </a:xfrm>
          <a:prstGeom prst="roundRect">
            <a:avLst>
              <a:gd name="adj" fmla="val 15217"/>
            </a:avLst>
          </a:prstGeom>
          <a:solidFill>
            <a:srgbClr val="D9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6309359" y="5394960"/>
            <a:ext cx="256032" cy="256032"/>
          </a:xfrm>
          <a:prstGeom prst="ellipse">
            <a:avLst/>
          </a:prstGeom>
          <a:solidFill>
            <a:srgbClr val="0F6B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309359" y="5394960"/>
            <a:ext cx="256032" cy="256032"/>
          </a:xfrm>
          <a:prstGeom prst="rect">
            <a:avLst/>
          </a:prstGeom>
          <a:noFill/>
        </p:spPr>
        <p:txBody>
          <a:bodyPr wrap="square" lIns="45720" rIns="45720" tIns="27432" bIns="27432" anchor="ctr">
            <a:spAutoFit/>
          </a:bodyPr>
          <a:lstStyle/>
          <a:p>
            <a:pPr algn="ctr"/>
            <a:r>
              <a:rPr sz="1100" b="1">
                <a:solidFill>
                  <a:srgbClr val="FFFFFF"/>
                </a:solidFill>
                <a:latin typeface="Arial"/>
              </a:rPr>
              <a:t>✓</a:t>
            </a:r>
          </a:p>
        </p:txBody>
      </p:sp>
      <p:sp>
        <p:nvSpPr>
          <p:cNvPr id="45" name="TextBox 44"/>
          <p:cNvSpPr txBox="1"/>
          <p:nvPr/>
        </p:nvSpPr>
        <p:spPr>
          <a:xfrm>
            <a:off x="6638544" y="5193792"/>
            <a:ext cx="2084831" cy="841248"/>
          </a:xfrm>
          <a:prstGeom prst="rect">
            <a:avLst/>
          </a:prstGeom>
          <a:noFill/>
        </p:spPr>
        <p:txBody>
          <a:bodyPr wrap="square" lIns="45720" rIns="45720" tIns="27432" bIns="27432" anchor="ctr">
            <a:spAutoFit/>
          </a:bodyPr>
          <a:lstStyle/>
          <a:p>
            <a:pPr algn="l"/>
            <a:r>
              <a:rPr sz="1250" b="0">
                <a:solidFill>
                  <a:srgbClr val="0E2A2E"/>
                </a:solidFill>
                <a:latin typeface="Arial"/>
              </a:rPr>
              <a:t>The confirmation of receipt goes out by itself</a:t>
            </a:r>
          </a:p>
        </p:txBody>
      </p:sp>
      <p:sp>
        <p:nvSpPr>
          <p:cNvPr id="46" name="Rounded Rectangle 45"/>
          <p:cNvSpPr/>
          <p:nvPr/>
        </p:nvSpPr>
        <p:spPr>
          <a:xfrm>
            <a:off x="8906256" y="5193792"/>
            <a:ext cx="2587752" cy="841248"/>
          </a:xfrm>
          <a:prstGeom prst="roundRect">
            <a:avLst>
              <a:gd name="adj" fmla="val 15217"/>
            </a:avLst>
          </a:prstGeom>
          <a:solidFill>
            <a:srgbClr val="D9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9034272" y="5394960"/>
            <a:ext cx="256032" cy="256032"/>
          </a:xfrm>
          <a:prstGeom prst="ellipse">
            <a:avLst/>
          </a:prstGeom>
          <a:solidFill>
            <a:srgbClr val="0F6B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034272" y="5394960"/>
            <a:ext cx="256032" cy="256032"/>
          </a:xfrm>
          <a:prstGeom prst="rect">
            <a:avLst/>
          </a:prstGeom>
          <a:noFill/>
        </p:spPr>
        <p:txBody>
          <a:bodyPr wrap="square" lIns="45720" rIns="45720" tIns="27432" bIns="27432" anchor="ctr">
            <a:spAutoFit/>
          </a:bodyPr>
          <a:lstStyle/>
          <a:p>
            <a:pPr algn="ctr"/>
            <a:r>
              <a:rPr sz="1100" b="1">
                <a:solidFill>
                  <a:srgbClr val="FFFFFF"/>
                </a:solidFill>
                <a:latin typeface="Arial"/>
              </a:rPr>
              <a:t>✓</a:t>
            </a:r>
          </a:p>
        </p:txBody>
      </p:sp>
      <p:sp>
        <p:nvSpPr>
          <p:cNvPr id="49" name="TextBox 48"/>
          <p:cNvSpPr txBox="1"/>
          <p:nvPr/>
        </p:nvSpPr>
        <p:spPr>
          <a:xfrm>
            <a:off x="9363456" y="5193792"/>
            <a:ext cx="2084831" cy="841248"/>
          </a:xfrm>
          <a:prstGeom prst="rect">
            <a:avLst/>
          </a:prstGeom>
          <a:noFill/>
        </p:spPr>
        <p:txBody>
          <a:bodyPr wrap="square" lIns="45720" rIns="45720" tIns="27432" bIns="27432" anchor="ctr">
            <a:spAutoFit/>
          </a:bodyPr>
          <a:lstStyle/>
          <a:p>
            <a:pPr algn="l"/>
            <a:r>
              <a:rPr sz="1250" b="0">
                <a:solidFill>
                  <a:srgbClr val="0E2A2E"/>
                </a:solidFill>
                <a:latin typeface="Arial"/>
              </a:rPr>
              <a:t>The organisation's QR code, ready to hand out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2F5F4"/>
        </a:solidFill>
        <a:effectLst/>
      </p:bgPr>
    </p:bg>
    <p:spTree>
      <p:nvGrpSpPr>
        <p:cNvPr id="1" name=""/>
        <p:cNvGrpSpPr/>
        <p:nvPr/>
      </p:nvGrpSpPr>
      <p:grpSpPr/>
      <p:sp>
        <p:nvSpPr>
          <p:cNvPr id="2" name="TextBox 1"/>
          <p:cNvSpPr txBox="1"/>
          <p:nvPr/>
        </p:nvSpPr>
        <p:spPr>
          <a:xfrm>
            <a:off x="731520" y="502920"/>
            <a:ext cx="7772400" cy="365760"/>
          </a:xfrm>
          <a:prstGeom prst="rect">
            <a:avLst/>
          </a:prstGeom>
          <a:noFill/>
        </p:spPr>
        <p:txBody>
          <a:bodyPr wrap="square" lIns="45720" rIns="45720" tIns="27432" bIns="27432" anchor="t">
            <a:spAutoFit/>
          </a:bodyPr>
          <a:lstStyle/>
          <a:p>
            <a:pPr algn="l"/>
            <a:r>
              <a:rPr sz="1200" b="1">
                <a:solidFill>
                  <a:srgbClr val="0F6B62"/>
                </a:solidFill>
                <a:latin typeface="Consolas"/>
              </a:rPr>
              <a:t>HOW IT WORKS</a:t>
            </a:r>
          </a:p>
        </p:txBody>
      </p:sp>
      <p:sp>
        <p:nvSpPr>
          <p:cNvPr id="3" name="TextBox 2"/>
          <p:cNvSpPr txBox="1"/>
          <p:nvPr/>
        </p:nvSpPr>
        <p:spPr>
          <a:xfrm>
            <a:off x="731520" y="822960"/>
            <a:ext cx="10698480" cy="914400"/>
          </a:xfrm>
          <a:prstGeom prst="rect">
            <a:avLst/>
          </a:prstGeom>
          <a:noFill/>
        </p:spPr>
        <p:txBody>
          <a:bodyPr wrap="square" lIns="45720" rIns="45720" tIns="27432" bIns="27432" anchor="t">
            <a:spAutoFit/>
          </a:bodyPr>
          <a:lstStyle/>
          <a:p>
            <a:pPr algn="l"/>
            <a:r>
              <a:rPr sz="3600" b="1">
                <a:solidFill>
                  <a:srgbClr val="0E2A2E"/>
                </a:solidFill>
                <a:latin typeface="Arial"/>
              </a:rPr>
              <a:t>One QR code. One case in the dashboard.</a:t>
            </a:r>
          </a:p>
        </p:txBody>
      </p:sp>
      <p:pic>
        <p:nvPicPr>
          <p:cNvPr id="4" name="Picture 3" descr="logo.png"/>
          <p:cNvPicPr>
            <a:picLocks noChangeAspect="1"/>
          </p:cNvPicPr>
          <p:nvPr/>
        </p:nvPicPr>
        <p:blipFill>
          <a:blip r:embed="rId2"/>
          <a:stretch>
            <a:fillRect/>
          </a:stretch>
        </p:blipFill>
        <p:spPr>
          <a:xfrm>
            <a:off x="731520" y="6126480"/>
            <a:ext cx="1169421" cy="457200"/>
          </a:xfrm>
          <a:prstGeom prst="rect">
            <a:avLst/>
          </a:prstGeom>
        </p:spPr>
      </p:pic>
      <p:sp>
        <p:nvSpPr>
          <p:cNvPr id="5" name="TextBox 4"/>
          <p:cNvSpPr txBox="1"/>
          <p:nvPr/>
        </p:nvSpPr>
        <p:spPr>
          <a:xfrm>
            <a:off x="10058400" y="6309360"/>
            <a:ext cx="1417320" cy="274320"/>
          </a:xfrm>
          <a:prstGeom prst="rect">
            <a:avLst/>
          </a:prstGeom>
          <a:noFill/>
        </p:spPr>
        <p:txBody>
          <a:bodyPr wrap="square" lIns="45720" rIns="45720" tIns="27432" bIns="27432" anchor="t">
            <a:spAutoFit/>
          </a:bodyPr>
          <a:lstStyle/>
          <a:p>
            <a:pPr algn="r"/>
            <a:r>
              <a:rPr sz="1200" b="0">
                <a:solidFill>
                  <a:srgbClr val="5B6B68"/>
                </a:solidFill>
                <a:latin typeface="Consolas"/>
              </a:rPr>
              <a:t>5 / 7</a:t>
            </a:r>
          </a:p>
        </p:txBody>
      </p:sp>
      <p:sp>
        <p:nvSpPr>
          <p:cNvPr id="6" name="TextBox 5"/>
          <p:cNvSpPr txBox="1"/>
          <p:nvPr/>
        </p:nvSpPr>
        <p:spPr>
          <a:xfrm>
            <a:off x="5669280" y="530352"/>
            <a:ext cx="5788152" cy="274320"/>
          </a:xfrm>
          <a:prstGeom prst="rect">
            <a:avLst/>
          </a:prstGeom>
          <a:noFill/>
        </p:spPr>
        <p:txBody>
          <a:bodyPr wrap="square" lIns="45720" rIns="45720" tIns="27432" bIns="27432" anchor="t">
            <a:spAutoFit/>
          </a:bodyPr>
          <a:lstStyle/>
          <a:p>
            <a:pPr algn="r"/>
            <a:r>
              <a:rPr sz="1050" b="0">
                <a:solidFill>
                  <a:srgbClr val="5B6B68"/>
                </a:solidFill>
                <a:latin typeface="Arial"/>
              </a:rPr>
              <a:t>Screens: real dashboard, demo data · Phone: illustration</a:t>
            </a:r>
          </a:p>
        </p:txBody>
      </p:sp>
      <p:sp>
        <p:nvSpPr>
          <p:cNvPr id="7" name="Rounded Rectangle 6"/>
          <p:cNvSpPr/>
          <p:nvPr/>
        </p:nvSpPr>
        <p:spPr>
          <a:xfrm>
            <a:off x="731520" y="1783080"/>
            <a:ext cx="3429000" cy="3520440"/>
          </a:xfrm>
          <a:prstGeom prst="roundRect">
            <a:avLst>
              <a:gd name="adj" fmla="val 5333"/>
            </a:avLst>
          </a:prstGeom>
          <a:solidFill>
            <a:srgbClr val="FFFFFF"/>
          </a:solidFill>
          <a:ln w="12700">
            <a:solidFill>
              <a:srgbClr val="D5DEDB"/>
            </a:solidFill>
          </a:ln>
          <a:effectLst>
            <a:outerShdw blurRad="228600" dist="50800" dir="5400000" algn="t" rotWithShape="0">
              <a:srgbClr val="0E2A2E">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68680" y="1920240"/>
            <a:ext cx="3154680" cy="2011680"/>
          </a:xfrm>
          <a:prstGeom prst="roundRect">
            <a:avLst>
              <a:gd name="adj" fmla="val 6363"/>
            </a:avLst>
          </a:prstGeom>
          <a:solidFill>
            <a:srgbClr val="EA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dash_code_EN.png"/>
          <p:cNvPicPr>
            <a:picLocks noChangeAspect="1"/>
          </p:cNvPicPr>
          <p:nvPr/>
        </p:nvPicPr>
        <p:blipFill>
          <a:blip r:embed="rId3"/>
          <a:stretch>
            <a:fillRect/>
          </a:stretch>
        </p:blipFill>
        <p:spPr>
          <a:xfrm>
            <a:off x="960120" y="2011680"/>
            <a:ext cx="2971800" cy="1857375"/>
          </a:xfrm>
          <a:prstGeom prst="rect">
            <a:avLst/>
          </a:prstGeom>
        </p:spPr>
      </p:pic>
      <p:sp>
        <p:nvSpPr>
          <p:cNvPr id="10" name="TextBox 9"/>
          <p:cNvSpPr txBox="1"/>
          <p:nvPr/>
        </p:nvSpPr>
        <p:spPr>
          <a:xfrm>
            <a:off x="914400" y="4023360"/>
            <a:ext cx="3063240" cy="457200"/>
          </a:xfrm>
          <a:prstGeom prst="rect">
            <a:avLst/>
          </a:prstGeom>
          <a:noFill/>
        </p:spPr>
        <p:txBody>
          <a:bodyPr wrap="square" lIns="45720" rIns="45720" tIns="27432" bIns="27432" anchor="t">
            <a:spAutoFit/>
          </a:bodyPr>
          <a:lstStyle/>
          <a:p>
            <a:pPr algn="l"/>
            <a:r>
              <a:rPr sz="1800" b="1">
                <a:solidFill>
                  <a:srgbClr val="0E2A2E"/>
                </a:solidFill>
                <a:latin typeface="Arial"/>
              </a:rPr>
              <a:t>1 · The QR code</a:t>
            </a:r>
          </a:p>
        </p:txBody>
      </p:sp>
      <p:sp>
        <p:nvSpPr>
          <p:cNvPr id="11" name="TextBox 10"/>
          <p:cNvSpPr txBox="1"/>
          <p:nvPr/>
        </p:nvSpPr>
        <p:spPr>
          <a:xfrm>
            <a:off x="914400" y="4480560"/>
            <a:ext cx="3063240" cy="777240"/>
          </a:xfrm>
          <a:prstGeom prst="rect">
            <a:avLst/>
          </a:prstGeom>
          <a:noFill/>
        </p:spPr>
        <p:txBody>
          <a:bodyPr wrap="square" lIns="45720" rIns="45720" tIns="27432" bIns="27432" anchor="t">
            <a:spAutoFit/>
          </a:bodyPr>
          <a:lstStyle/>
          <a:p>
            <a:pPr algn="l"/>
            <a:r>
              <a:rPr sz="1350" b="0">
                <a:solidFill>
                  <a:srgbClr val="5B6B68"/>
                </a:solidFill>
                <a:latin typeface="Arial"/>
              </a:rPr>
              <a:t>the officer generates it, employees receive it</a:t>
            </a:r>
          </a:p>
        </p:txBody>
      </p:sp>
      <p:sp>
        <p:nvSpPr>
          <p:cNvPr id="12" name="Oval 11"/>
          <p:cNvSpPr/>
          <p:nvPr/>
        </p:nvSpPr>
        <p:spPr>
          <a:xfrm>
            <a:off x="4062222" y="2743200"/>
            <a:ext cx="402336" cy="402336"/>
          </a:xfrm>
          <a:prstGeom prst="ellipse">
            <a:avLst/>
          </a:prstGeom>
          <a:solidFill>
            <a:srgbClr val="0F6B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62222" y="2743200"/>
            <a:ext cx="402336" cy="402336"/>
          </a:xfrm>
          <a:prstGeom prst="rect">
            <a:avLst/>
          </a:prstGeom>
          <a:noFill/>
        </p:spPr>
        <p:txBody>
          <a:bodyPr wrap="square" lIns="45720" rIns="45720" tIns="27432" bIns="27432" anchor="ctr">
            <a:spAutoFit/>
          </a:bodyPr>
          <a:lstStyle/>
          <a:p>
            <a:pPr algn="ctr"/>
            <a:r>
              <a:rPr sz="2000" b="1">
                <a:solidFill>
                  <a:srgbClr val="FFFFFF"/>
                </a:solidFill>
                <a:latin typeface="Arial"/>
              </a:rPr>
              <a:t>›</a:t>
            </a:r>
          </a:p>
        </p:txBody>
      </p:sp>
      <p:sp>
        <p:nvSpPr>
          <p:cNvPr id="14" name="Rounded Rectangle 13"/>
          <p:cNvSpPr/>
          <p:nvPr/>
        </p:nvSpPr>
        <p:spPr>
          <a:xfrm>
            <a:off x="4370832" y="1783080"/>
            <a:ext cx="3429000" cy="3520440"/>
          </a:xfrm>
          <a:prstGeom prst="roundRect">
            <a:avLst>
              <a:gd name="adj" fmla="val 5333"/>
            </a:avLst>
          </a:prstGeom>
          <a:solidFill>
            <a:srgbClr val="FFFFFF"/>
          </a:solidFill>
          <a:ln w="12700">
            <a:solidFill>
              <a:srgbClr val="D5DEDB"/>
            </a:solidFill>
          </a:ln>
          <a:effectLst>
            <a:outerShdw blurRad="228600" dist="50800" dir="5400000" algn="t" rotWithShape="0">
              <a:srgbClr val="0E2A2E">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507992" y="1920240"/>
            <a:ext cx="3154680" cy="2011680"/>
          </a:xfrm>
          <a:prstGeom prst="roundRect">
            <a:avLst>
              <a:gd name="adj" fmla="val 6363"/>
            </a:avLst>
          </a:prstGeom>
          <a:solidFill>
            <a:srgbClr val="EA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phone_EN_1.png"/>
          <p:cNvPicPr>
            <a:picLocks noChangeAspect="1"/>
          </p:cNvPicPr>
          <p:nvPr/>
        </p:nvPicPr>
        <p:blipFill>
          <a:blip r:embed="rId4"/>
          <a:stretch>
            <a:fillRect/>
          </a:stretch>
        </p:blipFill>
        <p:spPr>
          <a:xfrm>
            <a:off x="5662801" y="2011680"/>
            <a:ext cx="866186" cy="1828800"/>
          </a:xfrm>
          <a:prstGeom prst="rect">
            <a:avLst/>
          </a:prstGeom>
        </p:spPr>
      </p:pic>
      <p:sp>
        <p:nvSpPr>
          <p:cNvPr id="17" name="TextBox 16"/>
          <p:cNvSpPr txBox="1"/>
          <p:nvPr/>
        </p:nvSpPr>
        <p:spPr>
          <a:xfrm>
            <a:off x="4553712" y="4023360"/>
            <a:ext cx="3063240" cy="457200"/>
          </a:xfrm>
          <a:prstGeom prst="rect">
            <a:avLst/>
          </a:prstGeom>
          <a:noFill/>
        </p:spPr>
        <p:txBody>
          <a:bodyPr wrap="square" lIns="45720" rIns="45720" tIns="27432" bIns="27432" anchor="t">
            <a:spAutoFit/>
          </a:bodyPr>
          <a:lstStyle/>
          <a:p>
            <a:pPr algn="l"/>
            <a:r>
              <a:rPr sz="1800" b="1">
                <a:solidFill>
                  <a:srgbClr val="0E2A2E"/>
                </a:solidFill>
                <a:latin typeface="Arial"/>
              </a:rPr>
              <a:t>2 · Scan and send</a:t>
            </a:r>
          </a:p>
        </p:txBody>
      </p:sp>
      <p:sp>
        <p:nvSpPr>
          <p:cNvPr id="18" name="TextBox 17"/>
          <p:cNvSpPr txBox="1"/>
          <p:nvPr/>
        </p:nvSpPr>
        <p:spPr>
          <a:xfrm>
            <a:off x="4553712" y="4480560"/>
            <a:ext cx="3063240" cy="777240"/>
          </a:xfrm>
          <a:prstGeom prst="rect">
            <a:avLst/>
          </a:prstGeom>
          <a:noFill/>
        </p:spPr>
        <p:txBody>
          <a:bodyPr wrap="square" lIns="45720" rIns="45720" tIns="27432" bIns="27432" anchor="t">
            <a:spAutoFit/>
          </a:bodyPr>
          <a:lstStyle/>
          <a:p>
            <a:pPr algn="l"/>
            <a:r>
              <a:rPr sz="1350" b="0">
                <a:solidFill>
                  <a:srgbClr val="5B6B68"/>
                </a:solidFill>
                <a:latin typeface="Arial"/>
              </a:rPr>
              <a:t>a new case, without a name and without an account</a:t>
            </a:r>
          </a:p>
        </p:txBody>
      </p:sp>
      <p:sp>
        <p:nvSpPr>
          <p:cNvPr id="19" name="Oval 18"/>
          <p:cNvSpPr/>
          <p:nvPr/>
        </p:nvSpPr>
        <p:spPr>
          <a:xfrm>
            <a:off x="7701534" y="2743200"/>
            <a:ext cx="402336" cy="402336"/>
          </a:xfrm>
          <a:prstGeom prst="ellipse">
            <a:avLst/>
          </a:prstGeom>
          <a:solidFill>
            <a:srgbClr val="0F6B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01534" y="2743200"/>
            <a:ext cx="402336" cy="402336"/>
          </a:xfrm>
          <a:prstGeom prst="rect">
            <a:avLst/>
          </a:prstGeom>
          <a:noFill/>
        </p:spPr>
        <p:txBody>
          <a:bodyPr wrap="square" lIns="45720" rIns="45720" tIns="27432" bIns="27432" anchor="ctr">
            <a:spAutoFit/>
          </a:bodyPr>
          <a:lstStyle/>
          <a:p>
            <a:pPr algn="ctr"/>
            <a:r>
              <a:rPr sz="2000" b="1">
                <a:solidFill>
                  <a:srgbClr val="FFFFFF"/>
                </a:solidFill>
                <a:latin typeface="Arial"/>
              </a:rPr>
              <a:t>›</a:t>
            </a:r>
          </a:p>
        </p:txBody>
      </p:sp>
      <p:sp>
        <p:nvSpPr>
          <p:cNvPr id="21" name="Rounded Rectangle 20"/>
          <p:cNvSpPr/>
          <p:nvPr/>
        </p:nvSpPr>
        <p:spPr>
          <a:xfrm>
            <a:off x="8010144" y="1783080"/>
            <a:ext cx="3429000" cy="3520440"/>
          </a:xfrm>
          <a:prstGeom prst="roundRect">
            <a:avLst>
              <a:gd name="adj" fmla="val 5333"/>
            </a:avLst>
          </a:prstGeom>
          <a:solidFill>
            <a:srgbClr val="FFFFFF"/>
          </a:solidFill>
          <a:ln w="12700">
            <a:solidFill>
              <a:srgbClr val="D5DEDB"/>
            </a:solidFill>
          </a:ln>
          <a:effectLst>
            <a:outerShdw blurRad="228600" dist="50800" dir="5400000" algn="t" rotWithShape="0">
              <a:srgbClr val="0E2A2E">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147304" y="1920240"/>
            <a:ext cx="3154680" cy="2011680"/>
          </a:xfrm>
          <a:prstGeom prst="roundRect">
            <a:avLst>
              <a:gd name="adj" fmla="val 6363"/>
            </a:avLst>
          </a:prstGeom>
          <a:solidFill>
            <a:srgbClr val="EA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dash_case_EN.png"/>
          <p:cNvPicPr>
            <a:picLocks noChangeAspect="1"/>
          </p:cNvPicPr>
          <p:nvPr/>
        </p:nvPicPr>
        <p:blipFill>
          <a:blip r:embed="rId5"/>
          <a:stretch>
            <a:fillRect/>
          </a:stretch>
        </p:blipFill>
        <p:spPr>
          <a:xfrm>
            <a:off x="8238744" y="2011680"/>
            <a:ext cx="2971800" cy="1857375"/>
          </a:xfrm>
          <a:prstGeom prst="rect">
            <a:avLst/>
          </a:prstGeom>
        </p:spPr>
      </p:pic>
      <p:sp>
        <p:nvSpPr>
          <p:cNvPr id="24" name="TextBox 23"/>
          <p:cNvSpPr txBox="1"/>
          <p:nvPr/>
        </p:nvSpPr>
        <p:spPr>
          <a:xfrm>
            <a:off x="8193023" y="4023360"/>
            <a:ext cx="3063240" cy="457200"/>
          </a:xfrm>
          <a:prstGeom prst="rect">
            <a:avLst/>
          </a:prstGeom>
          <a:noFill/>
        </p:spPr>
        <p:txBody>
          <a:bodyPr wrap="square" lIns="45720" rIns="45720" tIns="27432" bIns="27432" anchor="t">
            <a:spAutoFit/>
          </a:bodyPr>
          <a:lstStyle/>
          <a:p>
            <a:pPr algn="l"/>
            <a:r>
              <a:rPr sz="1800" b="1">
                <a:solidFill>
                  <a:srgbClr val="0E2A2E"/>
                </a:solidFill>
                <a:latin typeface="Arial"/>
              </a:rPr>
              <a:t>3 · In the dashboard</a:t>
            </a:r>
          </a:p>
        </p:txBody>
      </p:sp>
      <p:sp>
        <p:nvSpPr>
          <p:cNvPr id="25" name="TextBox 24"/>
          <p:cNvSpPr txBox="1"/>
          <p:nvPr/>
        </p:nvSpPr>
        <p:spPr>
          <a:xfrm>
            <a:off x="8193023" y="4480560"/>
            <a:ext cx="3063240" cy="777240"/>
          </a:xfrm>
          <a:prstGeom prst="rect">
            <a:avLst/>
          </a:prstGeom>
          <a:noFill/>
        </p:spPr>
        <p:txBody>
          <a:bodyPr wrap="square" lIns="45720" rIns="45720" tIns="27432" bIns="27432" anchor="t">
            <a:spAutoFit/>
          </a:bodyPr>
          <a:lstStyle/>
          <a:p>
            <a:pPr algn="l"/>
            <a:r>
              <a:rPr sz="1350" b="0">
                <a:solidFill>
                  <a:srgbClr val="5B6B68"/>
                </a:solidFill>
                <a:latin typeface="Arial"/>
              </a:rPr>
              <a:t>with a case number, stored on receipt</a:t>
            </a:r>
          </a:p>
        </p:txBody>
      </p:sp>
      <p:sp>
        <p:nvSpPr>
          <p:cNvPr id="26" name="Rounded Rectangle 25"/>
          <p:cNvSpPr/>
          <p:nvPr/>
        </p:nvSpPr>
        <p:spPr>
          <a:xfrm>
            <a:off x="731520" y="5468112"/>
            <a:ext cx="10725912" cy="640080"/>
          </a:xfrm>
          <a:prstGeom prst="roundRect">
            <a:avLst>
              <a:gd name="adj" fmla="val 20000"/>
            </a:avLst>
          </a:prstGeom>
          <a:solidFill>
            <a:srgbClr val="D9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0120" y="5468112"/>
            <a:ext cx="10332720" cy="640080"/>
          </a:xfrm>
          <a:prstGeom prst="rect">
            <a:avLst/>
          </a:prstGeom>
          <a:noFill/>
        </p:spPr>
        <p:txBody>
          <a:bodyPr wrap="square" lIns="45720" rIns="45720" tIns="27432" bIns="27432" anchor="ctr">
            <a:spAutoFit/>
          </a:bodyPr>
          <a:lstStyle/>
          <a:p>
            <a:pPr algn="l"/>
            <a:r>
              <a:rPr sz="1450" b="0">
                <a:solidFill>
                  <a:srgbClr val="0E2A2E"/>
                </a:solidFill>
                <a:latin typeface="Arial"/>
              </a:rPr>
              <a:t>The confirmation of receipt goes out by itself, with the case number. The dashboard has no delete function.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2F5F4"/>
        </a:solidFill>
        <a:effectLst/>
      </p:bgPr>
    </p:bg>
    <p:spTree>
      <p:nvGrpSpPr>
        <p:cNvPr id="1" name=""/>
        <p:cNvGrpSpPr/>
        <p:nvPr/>
      </p:nvGrpSpPr>
      <p:grpSpPr/>
      <p:sp>
        <p:nvSpPr>
          <p:cNvPr id="2" name="TextBox 1"/>
          <p:cNvSpPr txBox="1"/>
          <p:nvPr/>
        </p:nvSpPr>
        <p:spPr>
          <a:xfrm>
            <a:off x="731520" y="502920"/>
            <a:ext cx="7772400" cy="365760"/>
          </a:xfrm>
          <a:prstGeom prst="rect">
            <a:avLst/>
          </a:prstGeom>
          <a:noFill/>
        </p:spPr>
        <p:txBody>
          <a:bodyPr wrap="square" lIns="45720" rIns="45720" tIns="27432" bIns="27432" anchor="t">
            <a:spAutoFit/>
          </a:bodyPr>
          <a:lstStyle/>
          <a:p>
            <a:pPr algn="l"/>
            <a:r>
              <a:rPr sz="1200" b="1">
                <a:solidFill>
                  <a:srgbClr val="0F6B62"/>
                </a:solidFill>
                <a:latin typeface="Consolas"/>
              </a:rPr>
              <a:t>THE DATA</a:t>
            </a:r>
          </a:p>
        </p:txBody>
      </p:sp>
      <p:sp>
        <p:nvSpPr>
          <p:cNvPr id="3" name="TextBox 2"/>
          <p:cNvSpPr txBox="1"/>
          <p:nvPr/>
        </p:nvSpPr>
        <p:spPr>
          <a:xfrm>
            <a:off x="731520" y="822960"/>
            <a:ext cx="10698480" cy="914400"/>
          </a:xfrm>
          <a:prstGeom prst="rect">
            <a:avLst/>
          </a:prstGeom>
          <a:noFill/>
        </p:spPr>
        <p:txBody>
          <a:bodyPr wrap="square" lIns="45720" rIns="45720" tIns="27432" bIns="27432" anchor="t">
            <a:spAutoFit/>
          </a:bodyPr>
          <a:lstStyle/>
          <a:p>
            <a:pPr algn="l"/>
            <a:r>
              <a:rPr sz="3600" b="1">
                <a:solidFill>
                  <a:srgbClr val="0E2A2E"/>
                </a:solidFill>
                <a:latin typeface="Arial"/>
              </a:rPr>
              <a:t>Only the customer has their data</a:t>
            </a:r>
          </a:p>
        </p:txBody>
      </p:sp>
      <p:pic>
        <p:nvPicPr>
          <p:cNvPr id="4" name="Picture 3" descr="logo.png"/>
          <p:cNvPicPr>
            <a:picLocks noChangeAspect="1"/>
          </p:cNvPicPr>
          <p:nvPr/>
        </p:nvPicPr>
        <p:blipFill>
          <a:blip r:embed="rId2"/>
          <a:stretch>
            <a:fillRect/>
          </a:stretch>
        </p:blipFill>
        <p:spPr>
          <a:xfrm>
            <a:off x="731520" y="6126480"/>
            <a:ext cx="1169421" cy="457200"/>
          </a:xfrm>
          <a:prstGeom prst="rect">
            <a:avLst/>
          </a:prstGeom>
        </p:spPr>
      </p:pic>
      <p:sp>
        <p:nvSpPr>
          <p:cNvPr id="5" name="TextBox 4"/>
          <p:cNvSpPr txBox="1"/>
          <p:nvPr/>
        </p:nvSpPr>
        <p:spPr>
          <a:xfrm>
            <a:off x="10058400" y="6309360"/>
            <a:ext cx="1417320" cy="274320"/>
          </a:xfrm>
          <a:prstGeom prst="rect">
            <a:avLst/>
          </a:prstGeom>
          <a:noFill/>
        </p:spPr>
        <p:txBody>
          <a:bodyPr wrap="square" lIns="45720" rIns="45720" tIns="27432" bIns="27432" anchor="t">
            <a:spAutoFit/>
          </a:bodyPr>
          <a:lstStyle/>
          <a:p>
            <a:pPr algn="r"/>
            <a:r>
              <a:rPr sz="1200" b="0">
                <a:solidFill>
                  <a:srgbClr val="5B6B68"/>
                </a:solidFill>
                <a:latin typeface="Consolas"/>
              </a:rPr>
              <a:t>6 / 7</a:t>
            </a:r>
          </a:p>
        </p:txBody>
      </p:sp>
      <p:sp>
        <p:nvSpPr>
          <p:cNvPr id="6" name="Rounded Rectangle 5"/>
          <p:cNvSpPr/>
          <p:nvPr/>
        </p:nvSpPr>
        <p:spPr>
          <a:xfrm>
            <a:off x="731520" y="1783080"/>
            <a:ext cx="3429000" cy="3429000"/>
          </a:xfrm>
          <a:prstGeom prst="roundRect">
            <a:avLst>
              <a:gd name="adj" fmla="val 5333"/>
            </a:avLst>
          </a:prstGeom>
          <a:solidFill>
            <a:srgbClr val="FFFFFF"/>
          </a:solidFill>
          <a:ln w="12700">
            <a:solidFill>
              <a:srgbClr val="D5DEDB"/>
            </a:solidFill>
          </a:ln>
          <a:effectLst>
            <a:outerShdw blurRad="228600" dist="50800" dir="5400000" algn="t" rotWithShape="0">
              <a:srgbClr val="0E2A2E">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14400" y="1965960"/>
            <a:ext cx="2194560" cy="329184"/>
          </a:xfrm>
          <a:prstGeom prst="roundRect">
            <a:avLst>
              <a:gd name="adj" fmla="val 50000"/>
            </a:avLst>
          </a:prstGeom>
          <a:solidFill>
            <a:srgbClr val="D9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965960"/>
            <a:ext cx="2194560" cy="329184"/>
          </a:xfrm>
          <a:prstGeom prst="rect">
            <a:avLst/>
          </a:prstGeom>
          <a:noFill/>
        </p:spPr>
        <p:txBody>
          <a:bodyPr wrap="square" lIns="45720" rIns="45720" tIns="27432" bIns="27432" anchor="ctr">
            <a:spAutoFit/>
          </a:bodyPr>
          <a:lstStyle/>
          <a:p>
            <a:pPr algn="ctr"/>
            <a:r>
              <a:rPr sz="1150" b="1">
                <a:solidFill>
                  <a:srgbClr val="0F6B62"/>
                </a:solidFill>
                <a:latin typeface="Consolas"/>
              </a:rPr>
              <a:t>GDPR</a:t>
            </a:r>
          </a:p>
        </p:txBody>
      </p:sp>
      <p:sp>
        <p:nvSpPr>
          <p:cNvPr id="9" name="TextBox 8"/>
          <p:cNvSpPr txBox="1"/>
          <p:nvPr/>
        </p:nvSpPr>
        <p:spPr>
          <a:xfrm>
            <a:off x="932688" y="2468880"/>
            <a:ext cx="3063240" cy="2743200"/>
          </a:xfrm>
          <a:prstGeom prst="rect">
            <a:avLst/>
          </a:prstGeom>
          <a:noFill/>
        </p:spPr>
        <p:txBody>
          <a:bodyPr wrap="square" lIns="45720" rIns="45720" tIns="27432" bIns="27432" anchor="t">
            <a:spAutoFit/>
          </a:bodyPr>
          <a:lstStyle/>
          <a:p>
            <a:pPr algn="l">
              <a:spcAft>
                <a:spcPts val="800"/>
              </a:spcAft>
            </a:pPr>
            <a:r>
              <a:rPr sz="1350" b="0">
                <a:solidFill>
                  <a:srgbClr val="0E2A2E"/>
                </a:solidFill>
                <a:latin typeface="Arial"/>
              </a:rPr>
              <a:t>•  The organisation is the data controller. The data is in one place, with it.</a:t>
            </a:r>
          </a:p>
          <a:p>
            <a:pPr algn="l">
              <a:spcAft>
                <a:spcPts val="800"/>
              </a:spcAft>
            </a:pPr>
            <a:r>
              <a:rPr sz="1350" b="0">
                <a:solidFill>
                  <a:srgbClr val="0E2A2E"/>
                </a:solidFill>
                <a:latin typeface="Arial"/>
              </a:rPr>
              <a:t>•  NexonAI has no access and is normally not a processor.</a:t>
            </a:r>
          </a:p>
          <a:p>
            <a:pPr algn="l">
              <a:spcAft>
                <a:spcPts val="800"/>
              </a:spcAft>
            </a:pPr>
            <a:r>
              <a:rPr sz="1350" b="0">
                <a:solidFill>
                  <a:srgbClr val="0E2A2E"/>
                </a:solidFill>
                <a:latin typeface="Arial"/>
              </a:rPr>
              <a:t>•  The duties stay with the organisation: legal basis, informing people, the record, retention, breach reporting within 72 hours.</a:t>
            </a:r>
          </a:p>
        </p:txBody>
      </p:sp>
      <p:sp>
        <p:nvSpPr>
          <p:cNvPr id="10" name="Rounded Rectangle 9"/>
          <p:cNvSpPr/>
          <p:nvPr/>
        </p:nvSpPr>
        <p:spPr>
          <a:xfrm>
            <a:off x="4370832" y="1783080"/>
            <a:ext cx="3429000" cy="3429000"/>
          </a:xfrm>
          <a:prstGeom prst="roundRect">
            <a:avLst>
              <a:gd name="adj" fmla="val 5333"/>
            </a:avLst>
          </a:prstGeom>
          <a:solidFill>
            <a:srgbClr val="FFFFFF"/>
          </a:solidFill>
          <a:ln w="12700">
            <a:solidFill>
              <a:srgbClr val="D5DEDB"/>
            </a:solidFill>
          </a:ln>
          <a:effectLst>
            <a:outerShdw blurRad="228600" dist="50800" dir="5400000" algn="t" rotWithShape="0">
              <a:srgbClr val="0E2A2E">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553712" y="1965960"/>
            <a:ext cx="2194560" cy="329184"/>
          </a:xfrm>
          <a:prstGeom prst="roundRect">
            <a:avLst>
              <a:gd name="adj" fmla="val 50000"/>
            </a:avLst>
          </a:prstGeom>
          <a:solidFill>
            <a:srgbClr val="D9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53712" y="1965960"/>
            <a:ext cx="2194560" cy="329184"/>
          </a:xfrm>
          <a:prstGeom prst="rect">
            <a:avLst/>
          </a:prstGeom>
          <a:noFill/>
        </p:spPr>
        <p:txBody>
          <a:bodyPr wrap="square" lIns="45720" rIns="45720" tIns="27432" bIns="27432" anchor="ctr">
            <a:spAutoFit/>
          </a:bodyPr>
          <a:lstStyle/>
          <a:p>
            <a:pPr algn="ctr"/>
            <a:r>
              <a:rPr sz="1150" b="1">
                <a:solidFill>
                  <a:srgbClr val="0F6B62"/>
                </a:solidFill>
                <a:latin typeface="Consolas"/>
              </a:rPr>
              <a:t>INTERNAL AUDITS</a:t>
            </a:r>
          </a:p>
        </p:txBody>
      </p:sp>
      <p:sp>
        <p:nvSpPr>
          <p:cNvPr id="13" name="TextBox 12"/>
          <p:cNvSpPr txBox="1"/>
          <p:nvPr/>
        </p:nvSpPr>
        <p:spPr>
          <a:xfrm>
            <a:off x="4572000" y="2468880"/>
            <a:ext cx="3063240" cy="2743200"/>
          </a:xfrm>
          <a:prstGeom prst="rect">
            <a:avLst/>
          </a:prstGeom>
          <a:noFill/>
        </p:spPr>
        <p:txBody>
          <a:bodyPr wrap="square" lIns="45720" rIns="45720" tIns="27432" bIns="27432" anchor="t">
            <a:spAutoFit/>
          </a:bodyPr>
          <a:lstStyle/>
          <a:p>
            <a:pPr algn="l">
              <a:spcAft>
                <a:spcPts val="800"/>
              </a:spcAft>
            </a:pPr>
            <a:r>
              <a:rPr sz="1350" b="0">
                <a:solidFill>
                  <a:srgbClr val="0E2A2E"/>
                </a:solidFill>
                <a:latin typeface="Arial"/>
              </a:rPr>
              <a:t>•  One place to check: the server, the dashboard and the officer's laptop, all with the customer.</a:t>
            </a:r>
          </a:p>
          <a:p>
            <a:pPr algn="l">
              <a:spcAft>
                <a:spcPts val="800"/>
              </a:spcAft>
            </a:pPr>
            <a:r>
              <a:rPr sz="1350" b="0">
                <a:solidFill>
                  <a:srgbClr val="0E2A2E"/>
                </a:solidFill>
                <a:latin typeface="Arial"/>
              </a:rPr>
              <a:t>•  Cases are stored on receipt. The dashboard has no delete function.</a:t>
            </a:r>
          </a:p>
          <a:p>
            <a:pPr algn="l">
              <a:spcAft>
                <a:spcPts val="800"/>
              </a:spcAft>
            </a:pPr>
            <a:r>
              <a:rPr sz="1350" b="0">
                <a:solidFill>
                  <a:srgbClr val="0E2A2E"/>
                </a:solidFill>
                <a:latin typeface="Arial"/>
              </a:rPr>
              <a:t>•  Nothing to request from a third party.</a:t>
            </a:r>
          </a:p>
        </p:txBody>
      </p:sp>
      <p:sp>
        <p:nvSpPr>
          <p:cNvPr id="14" name="Rounded Rectangle 13"/>
          <p:cNvSpPr/>
          <p:nvPr/>
        </p:nvSpPr>
        <p:spPr>
          <a:xfrm>
            <a:off x="8010144" y="1783080"/>
            <a:ext cx="3429000" cy="3429000"/>
          </a:xfrm>
          <a:prstGeom prst="roundRect">
            <a:avLst>
              <a:gd name="adj" fmla="val 5333"/>
            </a:avLst>
          </a:prstGeom>
          <a:solidFill>
            <a:srgbClr val="FFFFFF"/>
          </a:solidFill>
          <a:ln w="12700">
            <a:solidFill>
              <a:srgbClr val="D5DEDB"/>
            </a:solidFill>
          </a:ln>
          <a:effectLst>
            <a:outerShdw blurRad="228600" dist="50800" dir="5400000" algn="t" rotWithShape="0">
              <a:srgbClr val="0E2A2E">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93023" y="1965960"/>
            <a:ext cx="2194560" cy="329184"/>
          </a:xfrm>
          <a:prstGeom prst="roundRect">
            <a:avLst>
              <a:gd name="adj" fmla="val 50000"/>
            </a:avLst>
          </a:prstGeom>
          <a:solidFill>
            <a:srgbClr val="FBEB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93023" y="1965960"/>
            <a:ext cx="2194560" cy="329184"/>
          </a:xfrm>
          <a:prstGeom prst="rect">
            <a:avLst/>
          </a:prstGeom>
          <a:noFill/>
        </p:spPr>
        <p:txBody>
          <a:bodyPr wrap="square" lIns="45720" rIns="45720" tIns="27432" bIns="27432" anchor="ctr">
            <a:spAutoFit/>
          </a:bodyPr>
          <a:lstStyle/>
          <a:p>
            <a:pPr algn="ctr"/>
            <a:r>
              <a:rPr sz="1150" b="1">
                <a:solidFill>
                  <a:srgbClr val="B95A16"/>
                </a:solidFill>
                <a:latin typeface="Consolas"/>
              </a:rPr>
              <a:t>IN GENERAL</a:t>
            </a:r>
          </a:p>
        </p:txBody>
      </p:sp>
      <p:sp>
        <p:nvSpPr>
          <p:cNvPr id="17" name="TextBox 16"/>
          <p:cNvSpPr txBox="1"/>
          <p:nvPr/>
        </p:nvSpPr>
        <p:spPr>
          <a:xfrm>
            <a:off x="8211312" y="2468880"/>
            <a:ext cx="3063240" cy="2743200"/>
          </a:xfrm>
          <a:prstGeom prst="rect">
            <a:avLst/>
          </a:prstGeom>
          <a:noFill/>
        </p:spPr>
        <p:txBody>
          <a:bodyPr wrap="square" lIns="45720" rIns="45720" tIns="27432" bIns="27432" anchor="t">
            <a:spAutoFit/>
          </a:bodyPr>
          <a:lstStyle/>
          <a:p>
            <a:pPr algn="l">
              <a:spcAft>
                <a:spcPts val="800"/>
              </a:spcAft>
            </a:pPr>
            <a:r>
              <a:rPr sz="1350" b="0">
                <a:solidFill>
                  <a:srgbClr val="0E2A2E"/>
                </a:solidFill>
                <a:latin typeface="Arial"/>
              </a:rPr>
              <a:t>•  No third party sits between the reporter and the officer.</a:t>
            </a:r>
          </a:p>
          <a:p>
            <a:pPr algn="l">
              <a:spcAft>
                <a:spcPts val="800"/>
              </a:spcAft>
            </a:pPr>
            <a:r>
              <a:rPr sz="1350" b="0">
                <a:solidFill>
                  <a:srgbClr val="0E2A2E"/>
                </a:solidFill>
                <a:latin typeface="Arial"/>
              </a:rPr>
              <a:t>•  A request from the authorities goes to the organisation, the only one that has the data.</a:t>
            </a:r>
          </a:p>
          <a:p>
            <a:pPr algn="l">
              <a:spcAft>
                <a:spcPts val="800"/>
              </a:spcAft>
            </a:pPr>
            <a:r>
              <a:rPr sz="1350" b="0">
                <a:solidFill>
                  <a:srgbClr val="0E2A2E"/>
                </a:solidFill>
                <a:latin typeface="Arial"/>
              </a:rPr>
              <a:t>•  There is no central account that could be broken into.</a:t>
            </a:r>
          </a:p>
        </p:txBody>
      </p:sp>
      <p:sp>
        <p:nvSpPr>
          <p:cNvPr id="18" name="TextBox 17"/>
          <p:cNvSpPr txBox="1"/>
          <p:nvPr/>
        </p:nvSpPr>
        <p:spPr>
          <a:xfrm>
            <a:off x="731520" y="5394960"/>
            <a:ext cx="10698480" cy="548640"/>
          </a:xfrm>
          <a:prstGeom prst="rect">
            <a:avLst/>
          </a:prstGeom>
          <a:noFill/>
        </p:spPr>
        <p:txBody>
          <a:bodyPr wrap="square" lIns="45720" rIns="45720" tIns="27432" bIns="27432" anchor="t">
            <a:spAutoFit/>
          </a:bodyPr>
          <a:lstStyle/>
          <a:p>
            <a:pPr algn="l"/>
            <a:r>
              <a:rPr sz="1500" b="1">
                <a:solidFill>
                  <a:srgbClr val="5B6B68"/>
                </a:solidFill>
                <a:latin typeface="Arial"/>
              </a:rPr>
              <a:t>We do not claim GDPR compliance. Your data protection officer or a lawyer confirms it.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2F5F4"/>
        </a:solidFill>
        <a:effectLst/>
      </p:bgPr>
    </p:bg>
    <p:spTree>
      <p:nvGrpSpPr>
        <p:cNvPr id="1" name=""/>
        <p:cNvGrpSpPr/>
        <p:nvPr/>
      </p:nvGrpSpPr>
      <p:grpSpPr/>
      <p:sp>
        <p:nvSpPr>
          <p:cNvPr id="2" name="TextBox 1"/>
          <p:cNvSpPr txBox="1"/>
          <p:nvPr/>
        </p:nvSpPr>
        <p:spPr>
          <a:xfrm>
            <a:off x="731520" y="502920"/>
            <a:ext cx="7772400" cy="365760"/>
          </a:xfrm>
          <a:prstGeom prst="rect">
            <a:avLst/>
          </a:prstGeom>
          <a:noFill/>
        </p:spPr>
        <p:txBody>
          <a:bodyPr wrap="square" lIns="45720" rIns="45720" tIns="27432" bIns="27432" anchor="t">
            <a:spAutoFit/>
          </a:bodyPr>
          <a:lstStyle/>
          <a:p>
            <a:pPr algn="l"/>
            <a:r>
              <a:rPr sz="1200" b="1">
                <a:solidFill>
                  <a:srgbClr val="0F6B62"/>
                </a:solidFill>
                <a:latin typeface="Consolas"/>
              </a:rPr>
              <a:t>HONEST</a:t>
            </a:r>
          </a:p>
        </p:txBody>
      </p:sp>
      <p:sp>
        <p:nvSpPr>
          <p:cNvPr id="3" name="TextBox 2"/>
          <p:cNvSpPr txBox="1"/>
          <p:nvPr/>
        </p:nvSpPr>
        <p:spPr>
          <a:xfrm>
            <a:off x="731520" y="822960"/>
            <a:ext cx="10698480" cy="914400"/>
          </a:xfrm>
          <a:prstGeom prst="rect">
            <a:avLst/>
          </a:prstGeom>
          <a:noFill/>
        </p:spPr>
        <p:txBody>
          <a:bodyPr wrap="square" lIns="45720" rIns="45720" tIns="27432" bIns="27432" anchor="t">
            <a:spAutoFit/>
          </a:bodyPr>
          <a:lstStyle/>
          <a:p>
            <a:pPr algn="l"/>
            <a:r>
              <a:rPr sz="3600" b="1">
                <a:solidFill>
                  <a:srgbClr val="0E2A2E"/>
                </a:solidFill>
                <a:latin typeface="Arial"/>
              </a:rPr>
              <a:t>What I cannot promise you</a:t>
            </a:r>
          </a:p>
        </p:txBody>
      </p:sp>
      <p:pic>
        <p:nvPicPr>
          <p:cNvPr id="4" name="Picture 3" descr="logo.png"/>
          <p:cNvPicPr>
            <a:picLocks noChangeAspect="1"/>
          </p:cNvPicPr>
          <p:nvPr/>
        </p:nvPicPr>
        <p:blipFill>
          <a:blip r:embed="rId2"/>
          <a:stretch>
            <a:fillRect/>
          </a:stretch>
        </p:blipFill>
        <p:spPr>
          <a:xfrm>
            <a:off x="731520" y="6126480"/>
            <a:ext cx="1169421" cy="457200"/>
          </a:xfrm>
          <a:prstGeom prst="rect">
            <a:avLst/>
          </a:prstGeom>
        </p:spPr>
      </p:pic>
      <p:sp>
        <p:nvSpPr>
          <p:cNvPr id="5" name="TextBox 4"/>
          <p:cNvSpPr txBox="1"/>
          <p:nvPr/>
        </p:nvSpPr>
        <p:spPr>
          <a:xfrm>
            <a:off x="10058400" y="6309360"/>
            <a:ext cx="1417320" cy="274320"/>
          </a:xfrm>
          <a:prstGeom prst="rect">
            <a:avLst/>
          </a:prstGeom>
          <a:noFill/>
        </p:spPr>
        <p:txBody>
          <a:bodyPr wrap="square" lIns="45720" rIns="45720" tIns="27432" bIns="27432" anchor="t">
            <a:spAutoFit/>
          </a:bodyPr>
          <a:lstStyle/>
          <a:p>
            <a:pPr algn="r"/>
            <a:r>
              <a:rPr sz="1200" b="0">
                <a:solidFill>
                  <a:srgbClr val="5B6B68"/>
                </a:solidFill>
                <a:latin typeface="Consolas"/>
              </a:rPr>
              <a:t>7 / 7</a:t>
            </a:r>
          </a:p>
        </p:txBody>
      </p:sp>
      <p:sp>
        <p:nvSpPr>
          <p:cNvPr id="6" name="Rounded Rectangle 5"/>
          <p:cNvSpPr/>
          <p:nvPr/>
        </p:nvSpPr>
        <p:spPr>
          <a:xfrm>
            <a:off x="731520" y="1874519"/>
            <a:ext cx="5257800" cy="1325880"/>
          </a:xfrm>
          <a:prstGeom prst="roundRect">
            <a:avLst>
              <a:gd name="adj" fmla="val 13793"/>
            </a:avLst>
          </a:prstGeom>
          <a:solidFill>
            <a:srgbClr val="FFFFFF"/>
          </a:solidFill>
          <a:ln w="12700">
            <a:solidFill>
              <a:srgbClr val="D5DEDB"/>
            </a:solidFill>
          </a:ln>
          <a:effectLst>
            <a:outerShdw blurRad="228600" dist="50800" dir="5400000" algn="t" rotWithShape="0">
              <a:srgbClr val="0E2A2E">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05840" y="2258568"/>
            <a:ext cx="548640" cy="548640"/>
          </a:xfrm>
          <a:prstGeom prst="ellipse">
            <a:avLst/>
          </a:prstGeom>
          <a:solidFill>
            <a:srgbClr val="FBEB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2258568"/>
            <a:ext cx="548640" cy="548640"/>
          </a:xfrm>
          <a:prstGeom prst="rect">
            <a:avLst/>
          </a:prstGeom>
          <a:noFill/>
        </p:spPr>
        <p:txBody>
          <a:bodyPr wrap="square" lIns="45720" rIns="45720" tIns="27432" bIns="27432" anchor="ctr">
            <a:spAutoFit/>
          </a:bodyPr>
          <a:lstStyle/>
          <a:p>
            <a:pPr algn="ctr"/>
            <a:r>
              <a:rPr sz="2200" b="1">
                <a:solidFill>
                  <a:srgbClr val="B95A16"/>
                </a:solidFill>
                <a:latin typeface="Arial"/>
              </a:rPr>
              <a:t>!</a:t>
            </a:r>
          </a:p>
        </p:txBody>
      </p:sp>
      <p:sp>
        <p:nvSpPr>
          <p:cNvPr id="9" name="TextBox 8"/>
          <p:cNvSpPr txBox="1"/>
          <p:nvPr/>
        </p:nvSpPr>
        <p:spPr>
          <a:xfrm>
            <a:off x="1783080" y="1874519"/>
            <a:ext cx="4023360" cy="1325880"/>
          </a:xfrm>
          <a:prstGeom prst="rect">
            <a:avLst/>
          </a:prstGeom>
          <a:noFill/>
        </p:spPr>
        <p:txBody>
          <a:bodyPr wrap="square" lIns="45720" rIns="45720" tIns="27432" bIns="27432" anchor="ctr">
            <a:spAutoFit/>
          </a:bodyPr>
          <a:lstStyle/>
          <a:p>
            <a:pPr algn="l"/>
            <a:r>
              <a:rPr sz="1800" b="0">
                <a:solidFill>
                  <a:srgbClr val="0E2A2E"/>
                </a:solidFill>
                <a:latin typeface="Arial"/>
              </a:rPr>
              <a:t>This is a pilot, not a finished, certified product.</a:t>
            </a:r>
          </a:p>
        </p:txBody>
      </p:sp>
      <p:sp>
        <p:nvSpPr>
          <p:cNvPr id="10" name="Rounded Rectangle 9"/>
          <p:cNvSpPr/>
          <p:nvPr/>
        </p:nvSpPr>
        <p:spPr>
          <a:xfrm>
            <a:off x="6199632" y="1874519"/>
            <a:ext cx="5257800" cy="1325880"/>
          </a:xfrm>
          <a:prstGeom prst="roundRect">
            <a:avLst>
              <a:gd name="adj" fmla="val 13793"/>
            </a:avLst>
          </a:prstGeom>
          <a:solidFill>
            <a:srgbClr val="FFFFFF"/>
          </a:solidFill>
          <a:ln w="12700">
            <a:solidFill>
              <a:srgbClr val="D5DEDB"/>
            </a:solidFill>
          </a:ln>
          <a:effectLst>
            <a:outerShdw blurRad="228600" dist="50800" dir="5400000" algn="t" rotWithShape="0">
              <a:srgbClr val="0E2A2E">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473952" y="2258568"/>
            <a:ext cx="548640" cy="548640"/>
          </a:xfrm>
          <a:prstGeom prst="ellipse">
            <a:avLst/>
          </a:prstGeom>
          <a:solidFill>
            <a:srgbClr val="FBEB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73952" y="2258568"/>
            <a:ext cx="548640" cy="548640"/>
          </a:xfrm>
          <a:prstGeom prst="rect">
            <a:avLst/>
          </a:prstGeom>
          <a:noFill/>
        </p:spPr>
        <p:txBody>
          <a:bodyPr wrap="square" lIns="45720" rIns="45720" tIns="27432" bIns="27432" anchor="ctr">
            <a:spAutoFit/>
          </a:bodyPr>
          <a:lstStyle/>
          <a:p>
            <a:pPr algn="ctr"/>
            <a:r>
              <a:rPr sz="2200" b="1">
                <a:solidFill>
                  <a:srgbClr val="B95A16"/>
                </a:solidFill>
                <a:latin typeface="Arial"/>
              </a:rPr>
              <a:t>!</a:t>
            </a:r>
          </a:p>
        </p:txBody>
      </p:sp>
      <p:sp>
        <p:nvSpPr>
          <p:cNvPr id="13" name="TextBox 12"/>
          <p:cNvSpPr txBox="1"/>
          <p:nvPr/>
        </p:nvSpPr>
        <p:spPr>
          <a:xfrm>
            <a:off x="7251192" y="1874519"/>
            <a:ext cx="4023360" cy="1325880"/>
          </a:xfrm>
          <a:prstGeom prst="rect">
            <a:avLst/>
          </a:prstGeom>
          <a:noFill/>
        </p:spPr>
        <p:txBody>
          <a:bodyPr wrap="square" lIns="45720" rIns="45720" tIns="27432" bIns="27432" anchor="ctr">
            <a:spAutoFit/>
          </a:bodyPr>
          <a:lstStyle/>
          <a:p>
            <a:pPr algn="l"/>
            <a:r>
              <a:rPr sz="1800" b="0">
                <a:solidFill>
                  <a:srgbClr val="0E2A2E"/>
                </a:solidFill>
                <a:latin typeface="Arial"/>
              </a:rPr>
              <a:t>It has not yet been audited by an independent party.</a:t>
            </a:r>
          </a:p>
        </p:txBody>
      </p:sp>
      <p:sp>
        <p:nvSpPr>
          <p:cNvPr id="14" name="Rounded Rectangle 13"/>
          <p:cNvSpPr/>
          <p:nvPr/>
        </p:nvSpPr>
        <p:spPr>
          <a:xfrm>
            <a:off x="731520" y="3429000"/>
            <a:ext cx="5257800" cy="1325880"/>
          </a:xfrm>
          <a:prstGeom prst="roundRect">
            <a:avLst>
              <a:gd name="adj" fmla="val 13793"/>
            </a:avLst>
          </a:prstGeom>
          <a:solidFill>
            <a:srgbClr val="FFFFFF"/>
          </a:solidFill>
          <a:ln w="12700">
            <a:solidFill>
              <a:srgbClr val="D5DEDB"/>
            </a:solidFill>
          </a:ln>
          <a:effectLst>
            <a:outerShdw blurRad="228600" dist="50800" dir="5400000" algn="t" rotWithShape="0">
              <a:srgbClr val="0E2A2E">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05840" y="3813048"/>
            <a:ext cx="548640" cy="548640"/>
          </a:xfrm>
          <a:prstGeom prst="ellipse">
            <a:avLst/>
          </a:prstGeom>
          <a:solidFill>
            <a:srgbClr val="FBEB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3813048"/>
            <a:ext cx="548640" cy="548640"/>
          </a:xfrm>
          <a:prstGeom prst="rect">
            <a:avLst/>
          </a:prstGeom>
          <a:noFill/>
        </p:spPr>
        <p:txBody>
          <a:bodyPr wrap="square" lIns="45720" rIns="45720" tIns="27432" bIns="27432" anchor="ctr">
            <a:spAutoFit/>
          </a:bodyPr>
          <a:lstStyle/>
          <a:p>
            <a:pPr algn="ctr"/>
            <a:r>
              <a:rPr sz="2200" b="1">
                <a:solidFill>
                  <a:srgbClr val="B95A16"/>
                </a:solidFill>
                <a:latin typeface="Arial"/>
              </a:rPr>
              <a:t>!</a:t>
            </a:r>
          </a:p>
        </p:txBody>
      </p:sp>
      <p:sp>
        <p:nvSpPr>
          <p:cNvPr id="17" name="TextBox 16"/>
          <p:cNvSpPr txBox="1"/>
          <p:nvPr/>
        </p:nvSpPr>
        <p:spPr>
          <a:xfrm>
            <a:off x="1783080" y="3429000"/>
            <a:ext cx="4023360" cy="1325880"/>
          </a:xfrm>
          <a:prstGeom prst="rect">
            <a:avLst/>
          </a:prstGeom>
          <a:noFill/>
        </p:spPr>
        <p:txBody>
          <a:bodyPr wrap="square" lIns="45720" rIns="45720" tIns="27432" bIns="27432" anchor="ctr">
            <a:spAutoFit/>
          </a:bodyPr>
          <a:lstStyle/>
          <a:p>
            <a:pPr algn="l"/>
            <a:r>
              <a:rPr sz="1800" b="0">
                <a:solidFill>
                  <a:srgbClr val="0E2A2E"/>
                </a:solidFill>
                <a:latin typeface="Arial"/>
              </a:rPr>
              <a:t>It does not replace legal advice.</a:t>
            </a:r>
          </a:p>
        </p:txBody>
      </p:sp>
      <p:sp>
        <p:nvSpPr>
          <p:cNvPr id="18" name="Rounded Rectangle 17"/>
          <p:cNvSpPr/>
          <p:nvPr/>
        </p:nvSpPr>
        <p:spPr>
          <a:xfrm>
            <a:off x="6199632" y="3429000"/>
            <a:ext cx="5257800" cy="1325880"/>
          </a:xfrm>
          <a:prstGeom prst="roundRect">
            <a:avLst>
              <a:gd name="adj" fmla="val 13793"/>
            </a:avLst>
          </a:prstGeom>
          <a:solidFill>
            <a:srgbClr val="FFFFFF"/>
          </a:solidFill>
          <a:ln w="12700">
            <a:solidFill>
              <a:srgbClr val="D5DEDB"/>
            </a:solidFill>
          </a:ln>
          <a:effectLst>
            <a:outerShdw blurRad="228600" dist="50800" dir="5400000" algn="t" rotWithShape="0">
              <a:srgbClr val="0E2A2E">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473952" y="3813048"/>
            <a:ext cx="548640" cy="548640"/>
          </a:xfrm>
          <a:prstGeom prst="ellipse">
            <a:avLst/>
          </a:prstGeom>
          <a:solidFill>
            <a:srgbClr val="FBEB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73952" y="3813048"/>
            <a:ext cx="548640" cy="548640"/>
          </a:xfrm>
          <a:prstGeom prst="rect">
            <a:avLst/>
          </a:prstGeom>
          <a:noFill/>
        </p:spPr>
        <p:txBody>
          <a:bodyPr wrap="square" lIns="45720" rIns="45720" tIns="27432" bIns="27432" anchor="ctr">
            <a:spAutoFit/>
          </a:bodyPr>
          <a:lstStyle/>
          <a:p>
            <a:pPr algn="ctr"/>
            <a:r>
              <a:rPr sz="2200" b="1">
                <a:solidFill>
                  <a:srgbClr val="B95A16"/>
                </a:solidFill>
                <a:latin typeface="Arial"/>
              </a:rPr>
              <a:t>!</a:t>
            </a:r>
          </a:p>
        </p:txBody>
      </p:sp>
      <p:sp>
        <p:nvSpPr>
          <p:cNvPr id="21" name="TextBox 20"/>
          <p:cNvSpPr txBox="1"/>
          <p:nvPr/>
        </p:nvSpPr>
        <p:spPr>
          <a:xfrm>
            <a:off x="7251192" y="3429000"/>
            <a:ext cx="4023360" cy="1325880"/>
          </a:xfrm>
          <a:prstGeom prst="rect">
            <a:avLst/>
          </a:prstGeom>
          <a:noFill/>
        </p:spPr>
        <p:txBody>
          <a:bodyPr wrap="square" lIns="45720" rIns="45720" tIns="27432" bIns="27432" anchor="ctr">
            <a:spAutoFit/>
          </a:bodyPr>
          <a:lstStyle/>
          <a:p>
            <a:pPr algn="l"/>
            <a:r>
              <a:rPr sz="1800" b="0">
                <a:solidFill>
                  <a:srgbClr val="0E2A2E"/>
                </a:solidFill>
                <a:latin typeface="Arial"/>
              </a:rPr>
              <a:t>Some parts I have tested in the lab.</a:t>
            </a:r>
          </a:p>
        </p:txBody>
      </p:sp>
      <p:sp>
        <p:nvSpPr>
          <p:cNvPr id="22" name="TextBox 21"/>
          <p:cNvSpPr txBox="1"/>
          <p:nvPr/>
        </p:nvSpPr>
        <p:spPr>
          <a:xfrm>
            <a:off x="731520" y="5166360"/>
            <a:ext cx="10698480" cy="457200"/>
          </a:xfrm>
          <a:prstGeom prst="rect">
            <a:avLst/>
          </a:prstGeom>
          <a:noFill/>
        </p:spPr>
        <p:txBody>
          <a:bodyPr wrap="square" lIns="45720" rIns="45720" tIns="27432" bIns="27432" anchor="t">
            <a:spAutoFit/>
          </a:bodyPr>
          <a:lstStyle/>
          <a:p>
            <a:pPr algn="l"/>
            <a:r>
              <a:rPr sz="1800" b="0">
                <a:solidFill>
                  <a:srgbClr val="5B6B68"/>
                </a:solidFill>
                <a:latin typeface="Arial"/>
              </a:rPr>
              <a:t>I tell you this openly. Trust starts with what I cannot do.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E2A2E"/>
        </a:solidFill>
        <a:effectLst/>
      </p:bgPr>
    </p:bg>
    <p:spTree>
      <p:nvGrpSpPr>
        <p:cNvPr id="1" name=""/>
        <p:cNvGrpSpPr/>
        <p:nvPr/>
      </p:nvGrpSpPr>
      <p:grpSpPr/>
      <p:sp>
        <p:nvSpPr>
          <p:cNvPr id="2" name="Oval 1"/>
          <p:cNvSpPr/>
          <p:nvPr/>
        </p:nvSpPr>
        <p:spPr>
          <a:xfrm>
            <a:off x="8503920" y="-2011680"/>
            <a:ext cx="5852160" cy="5852160"/>
          </a:xfrm>
          <a:prstGeom prst="ellipse">
            <a:avLst/>
          </a:prstGeom>
          <a:solidFill>
            <a:srgbClr val="123D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424160" y="4572000"/>
            <a:ext cx="3291840" cy="3291840"/>
          </a:xfrm>
          <a:prstGeom prst="ellipse">
            <a:avLst/>
          </a:prstGeom>
          <a:solidFill>
            <a:srgbClr val="123D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0080"/>
            <a:ext cx="7772400" cy="365760"/>
          </a:xfrm>
          <a:prstGeom prst="rect">
            <a:avLst/>
          </a:prstGeom>
          <a:noFill/>
        </p:spPr>
        <p:txBody>
          <a:bodyPr wrap="square" lIns="45720" rIns="45720" tIns="27432" bIns="27432" anchor="t">
            <a:spAutoFit/>
          </a:bodyPr>
          <a:lstStyle/>
          <a:p>
            <a:pPr algn="l"/>
            <a:r>
              <a:rPr sz="1200" b="1">
                <a:solidFill>
                  <a:srgbClr val="45D0BB"/>
                </a:solidFill>
                <a:latin typeface="Consolas"/>
              </a:rPr>
              <a:t>THE PILOT AND THE INVITATION</a:t>
            </a:r>
          </a:p>
        </p:txBody>
      </p:sp>
      <p:sp>
        <p:nvSpPr>
          <p:cNvPr id="5" name="TextBox 4"/>
          <p:cNvSpPr txBox="1"/>
          <p:nvPr/>
        </p:nvSpPr>
        <p:spPr>
          <a:xfrm>
            <a:off x="731520" y="1371600"/>
            <a:ext cx="6675120" cy="2194560"/>
          </a:xfrm>
          <a:prstGeom prst="rect">
            <a:avLst/>
          </a:prstGeom>
          <a:noFill/>
        </p:spPr>
        <p:txBody>
          <a:bodyPr wrap="square" lIns="45720" rIns="45720" tIns="27432" bIns="27432" anchor="t">
            <a:spAutoFit/>
          </a:bodyPr>
          <a:lstStyle/>
          <a:p>
            <a:pPr algn="l"/>
            <a:r>
              <a:rPr sz="3600" b="1">
                <a:solidFill>
                  <a:srgbClr val="FFFFFF"/>
                </a:solidFill>
                <a:latin typeface="Arial"/>
              </a:rPr>
              <a:t>We start at the University “1 Decembrie 1918” of Alba Iulia</a:t>
            </a:r>
          </a:p>
        </p:txBody>
      </p:sp>
      <p:sp>
        <p:nvSpPr>
          <p:cNvPr id="6" name="TextBox 5"/>
          <p:cNvSpPr txBox="1"/>
          <p:nvPr/>
        </p:nvSpPr>
        <p:spPr>
          <a:xfrm>
            <a:off x="731520" y="3657600"/>
            <a:ext cx="6400800" cy="1188720"/>
          </a:xfrm>
          <a:prstGeom prst="rect">
            <a:avLst/>
          </a:prstGeom>
          <a:noFill/>
        </p:spPr>
        <p:txBody>
          <a:bodyPr wrap="square" lIns="45720" rIns="45720" tIns="27432" bIns="27432" anchor="t">
            <a:spAutoFit/>
          </a:bodyPr>
          <a:lstStyle/>
          <a:p>
            <a:pPr algn="l"/>
            <a:r>
              <a:rPr sz="1800" b="0">
                <a:solidFill>
                  <a:srgbClr val="BFD6D3"/>
                </a:solidFill>
                <a:latin typeface="Arial"/>
              </a:rPr>
              <a:t>We are looking for 2–3 pilot partners from professions with a duty of confidentiality. We start small, measure, adjust together.</a:t>
            </a:r>
          </a:p>
        </p:txBody>
      </p:sp>
      <p:sp>
        <p:nvSpPr>
          <p:cNvPr id="7" name="TextBox 6"/>
          <p:cNvSpPr txBox="1"/>
          <p:nvPr/>
        </p:nvSpPr>
        <p:spPr>
          <a:xfrm>
            <a:off x="731520" y="4892040"/>
            <a:ext cx="6400800" cy="1097280"/>
          </a:xfrm>
          <a:prstGeom prst="rect">
            <a:avLst/>
          </a:prstGeom>
          <a:noFill/>
        </p:spPr>
        <p:txBody>
          <a:bodyPr wrap="square" lIns="45720" rIns="45720" tIns="27432" bIns="27432" anchor="t">
            <a:spAutoFit/>
          </a:bodyPr>
          <a:lstStyle/>
          <a:p>
            <a:pPr algn="l"/>
            <a:r>
              <a:rPr sz="1700" b="0">
                <a:solidFill>
                  <a:srgbClr val="FFFFFF"/>
                </a:solidFill>
                <a:latin typeface="Arial"/>
              </a:rPr>
              <a:t>Gabriel Hategan · NexonAI Consulting SRL</a:t>
            </a:r>
          </a:p>
          <a:p>
            <a:pPr algn="l"/>
            <a:r>
              <a:rPr sz="1700" b="0">
                <a:solidFill>
                  <a:srgbClr val="FFFFFF"/>
                </a:solidFill>
                <a:latin typeface="Arial"/>
              </a:rPr>
              <a:t>gabriel@nexonai.ro</a:t>
            </a:r>
          </a:p>
          <a:p>
            <a:pPr algn="l"/>
            <a:r>
              <a:rPr sz="1700" b="0">
                <a:solidFill>
                  <a:srgbClr val="FFFFFF"/>
                </a:solidFill>
                <a:latin typeface="Arial"/>
              </a:rPr>
              <a:t>+40 773 829646</a:t>
            </a:r>
          </a:p>
        </p:txBody>
      </p:sp>
      <p:pic>
        <p:nvPicPr>
          <p:cNvPr id="8" name="Picture 7" descr="qr_card.png"/>
          <p:cNvPicPr>
            <a:picLocks noChangeAspect="1"/>
          </p:cNvPicPr>
          <p:nvPr/>
        </p:nvPicPr>
        <p:blipFill>
          <a:blip r:embed="rId2"/>
          <a:stretch>
            <a:fillRect/>
          </a:stretch>
        </p:blipFill>
        <p:spPr>
          <a:xfrm>
            <a:off x="8046720" y="1371600"/>
            <a:ext cx="3200400" cy="3200400"/>
          </a:xfrm>
          <a:prstGeom prst="rect">
            <a:avLst/>
          </a:prstGeom>
        </p:spPr>
      </p:pic>
      <p:sp>
        <p:nvSpPr>
          <p:cNvPr id="9" name="TextBox 8"/>
          <p:cNvSpPr txBox="1"/>
          <p:nvPr/>
        </p:nvSpPr>
        <p:spPr>
          <a:xfrm>
            <a:off x="8046720" y="4663440"/>
            <a:ext cx="3200400" cy="365760"/>
          </a:xfrm>
          <a:prstGeom prst="rect">
            <a:avLst/>
          </a:prstGeom>
          <a:noFill/>
        </p:spPr>
        <p:txBody>
          <a:bodyPr wrap="square" lIns="45720" rIns="45720" tIns="27432" bIns="27432" anchor="t">
            <a:spAutoFit/>
          </a:bodyPr>
          <a:lstStyle/>
          <a:p>
            <a:pPr algn="ctr"/>
            <a:r>
              <a:rPr sz="1200" b="0">
                <a:solidFill>
                  <a:srgbClr val="BFD6D3"/>
                </a:solidFill>
                <a:latin typeface="Arial"/>
              </a:rPr>
              <a:t>Scan to save the contact</a:t>
            </a:r>
          </a:p>
        </p:txBody>
      </p:sp>
      <p:pic>
        <p:nvPicPr>
          <p:cNvPr id="10" name="Picture 9" descr="logo_white.png"/>
          <p:cNvPicPr>
            <a:picLocks noChangeAspect="1"/>
          </p:cNvPicPr>
          <p:nvPr/>
        </p:nvPicPr>
        <p:blipFill>
          <a:blip r:embed="rId3"/>
          <a:stretch>
            <a:fillRect/>
          </a:stretch>
        </p:blipFill>
        <p:spPr>
          <a:xfrm>
            <a:off x="731520" y="6126480"/>
            <a:ext cx="1169421" cy="4572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