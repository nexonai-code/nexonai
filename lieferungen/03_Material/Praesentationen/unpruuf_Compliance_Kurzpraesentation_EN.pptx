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unpruuf Compliance gives your organisation its own internal reporting channel, as Law 361/2022 asks of employers with 50 or more employees. It runs on your own server and does not collect who reports. It is tested and works; it is not independently audited and not certified, and an independent security test is planned.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rests on one condition: your organisation runs the server, NexonAI runs none and has no access. Nobody writes directly to anyone: a sealed message is left on your server and picked up there, and nothing stays longer than 24 hours. The browser option is weaker, because it shows the IP address to your server; it says so on its first screen.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your people and your case officers do with it. An employee reports, receives a case code and can follow the case with it. Your case officer confirms within 7 days, can ask questions, and reports back within 3 months.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overview sorts open cases by the next deadline. A case can be deleted after typing its code again, and the deletion log shows that and when, without content; copies made outside the app, such as backups or exported files, follow your own retention rules. Your DPO receives an evidence pack, and your DPO or lawyer confirms the GDPR assessment for your organisation.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factual summary of what Law 361/2022 asks. The internal channel is required for private employers with 50 or more employees, for those with 50 to 249 since 17 December 2023. The channel itself needs no certification; your lawyer confirms how the law applies to your organisation.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package covers installation, training, templates and the evidence pack, and your channel is ready in one week. You can try it free for 30 days with test reports before you decide. The next step is a 20-minute online demo; write to unpruuf@nexonai.ro.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384048"/>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8640" y="150876"/>
            <a:ext cx="82296" cy="82296"/>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54864"/>
            <a:ext cx="3657600" cy="274320"/>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unpruuf Compliance</a:t>
            </a:r>
          </a:p>
        </p:txBody>
      </p:sp>
      <p:sp>
        <p:nvSpPr>
          <p:cNvPr id="6" name="TextBox 5"/>
          <p:cNvSpPr txBox="1"/>
          <p:nvPr/>
        </p:nvSpPr>
        <p:spPr>
          <a:xfrm>
            <a:off x="3383280" y="54864"/>
            <a:ext cx="5394960" cy="274320"/>
          </a:xfrm>
          <a:prstGeom prst="rect">
            <a:avLst/>
          </a:prstGeom>
          <a:noFill/>
        </p:spPr>
        <p:txBody>
          <a:bodyPr wrap="square" lIns="0" rIns="0" tIns="0" bIns="0" anchor="ctr">
            <a:spAutoFit/>
          </a:bodyPr>
          <a:lstStyle/>
          <a:p>
            <a:pPr algn="ctr">
              <a:lnSpc>
                <a:spcPct val="115000"/>
              </a:lnSpc>
              <a:spcAft>
                <a:spcPts val="0"/>
              </a:spcAft>
            </a:pPr>
            <a:r>
              <a:rPr sz="950" b="0">
                <a:solidFill>
                  <a:srgbClr val="505B63"/>
                </a:solidFill>
                <a:latin typeface="DejaVu Sans Mono"/>
              </a:rPr>
              <a:t>Tested · not independently audited · not certified</a:t>
            </a:r>
          </a:p>
        </p:txBody>
      </p:sp>
      <p:sp>
        <p:nvSpPr>
          <p:cNvPr id="7" name="TextBox 6"/>
          <p:cNvSpPr txBox="1"/>
          <p:nvPr/>
        </p:nvSpPr>
        <p:spPr>
          <a:xfrm>
            <a:off x="9814255" y="54864"/>
            <a:ext cx="1828800" cy="274320"/>
          </a:xfrm>
          <a:prstGeom prst="rect">
            <a:avLst/>
          </a:prstGeom>
          <a:noFill/>
        </p:spPr>
        <p:txBody>
          <a:bodyPr wrap="square" lIns="0" rIns="0" tIns="0" bIns="0" anchor="ctr">
            <a:spAutoFit/>
          </a:bodyPr>
          <a:lstStyle/>
          <a:p>
            <a:pPr algn="r">
              <a:lnSpc>
                <a:spcPct val="115000"/>
              </a:lnSpc>
              <a:spcAft>
                <a:spcPts val="0"/>
              </a:spcAft>
            </a:pPr>
            <a:r>
              <a:rPr sz="1000" b="1">
                <a:solidFill>
                  <a:srgbClr val="307098"/>
                </a:solidFill>
                <a:latin typeface="DejaVu Sans Mono"/>
              </a:rPr>
              <a:t>EN</a:t>
            </a:r>
          </a:p>
        </p:txBody>
      </p:sp>
      <p:sp>
        <p:nvSpPr>
          <p:cNvPr id="8" name="Rectangle 7"/>
          <p:cNvSpPr/>
          <p:nvPr/>
        </p:nvSpPr>
        <p:spPr>
          <a:xfrm>
            <a:off x="0" y="6355080"/>
            <a:ext cx="12191695"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6355080"/>
            <a:ext cx="12191695" cy="10972"/>
          </a:xfrm>
          <a:prstGeom prst="rect">
            <a:avLst/>
          </a:prstGeom>
          <a:solidFill>
            <a:srgbClr val="D9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exonai-logo.png"/>
          <p:cNvPicPr>
            <a:picLocks noChangeAspect="1"/>
          </p:cNvPicPr>
          <p:nvPr/>
        </p:nvPicPr>
        <p:blipFill>
          <a:blip r:embed="rId2"/>
          <a:stretch>
            <a:fillRect/>
          </a:stretch>
        </p:blipFill>
        <p:spPr>
          <a:xfrm>
            <a:off x="548640" y="6446520"/>
            <a:ext cx="881829" cy="329184"/>
          </a:xfrm>
          <a:prstGeom prst="rect">
            <a:avLst/>
          </a:prstGeom>
        </p:spPr>
      </p:pic>
      <p:sp>
        <p:nvSpPr>
          <p:cNvPr id="11" name="TextBox 10"/>
          <p:cNvSpPr txBox="1"/>
          <p:nvPr/>
        </p:nvSpPr>
        <p:spPr>
          <a:xfrm>
            <a:off x="1613348" y="6446520"/>
            <a:ext cx="3657600" cy="329184"/>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Open Sans"/>
              </a:rPr>
              <a:t>NexonAI Consulting SRL</a:t>
            </a:r>
          </a:p>
        </p:txBody>
      </p:sp>
      <p:sp>
        <p:nvSpPr>
          <p:cNvPr id="12" name="TextBox 11"/>
          <p:cNvSpPr txBox="1"/>
          <p:nvPr/>
        </p:nvSpPr>
        <p:spPr>
          <a:xfrm>
            <a:off x="7071055" y="6446520"/>
            <a:ext cx="4572000" cy="329184"/>
          </a:xfrm>
          <a:prstGeom prst="rect">
            <a:avLst/>
          </a:prstGeom>
          <a:noFill/>
        </p:spPr>
        <p:txBody>
          <a:bodyPr wrap="square" lIns="0" rIns="0" tIns="0" bIns="0" anchor="ctr">
            <a:spAutoFit/>
          </a:bodyPr>
          <a:lstStyle/>
          <a:p>
            <a:pPr algn="r">
              <a:lnSpc>
                <a:spcPct val="115000"/>
              </a:lnSpc>
              <a:spcAft>
                <a:spcPts val="0"/>
              </a:spcAft>
            </a:pPr>
            <a:r>
              <a:rPr sz="950" b="0">
                <a:solidFill>
                  <a:srgbClr val="505B63"/>
                </a:solidFill>
                <a:latin typeface="DejaVu Sans Mono"/>
              </a:rPr>
              <a:t>Alba Iulia  ·  unpruuf@nexonai.ro  ·  1 / 6</a:t>
            </a:r>
          </a:p>
        </p:txBody>
      </p:sp>
      <p:sp>
        <p:nvSpPr>
          <p:cNvPr id="13" name="Rounded Rectangle 12"/>
          <p:cNvSpPr/>
          <p:nvPr/>
        </p:nvSpPr>
        <p:spPr>
          <a:xfrm>
            <a:off x="548640" y="658368"/>
            <a:ext cx="11094415" cy="3520440"/>
          </a:xfrm>
          <a:prstGeom prst="roundRect">
            <a:avLst>
              <a:gd name="adj" fmla="val 4337"/>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1024128"/>
            <a:ext cx="7315200" cy="274320"/>
          </a:xfrm>
          <a:prstGeom prst="rect">
            <a:avLst/>
          </a:prstGeom>
          <a:noFill/>
        </p:spPr>
        <p:txBody>
          <a:bodyPr wrap="square" lIns="0" rIns="0" tIns="0" bIns="0" anchor="t">
            <a:spAutoFit/>
          </a:bodyPr>
          <a:lstStyle/>
          <a:p>
            <a:pPr algn="l">
              <a:lnSpc>
                <a:spcPct val="115000"/>
              </a:lnSpc>
              <a:spcAft>
                <a:spcPts val="0"/>
              </a:spcAft>
            </a:pPr>
            <a:r>
              <a:rPr sz="1050" b="1">
                <a:solidFill>
                  <a:srgbClr val="90C8E8"/>
                </a:solidFill>
                <a:latin typeface="DejaVu Sans Mono"/>
              </a:rPr>
              <a:t>SHORT PRESENTATION</a:t>
            </a:r>
          </a:p>
        </p:txBody>
      </p:sp>
      <p:sp>
        <p:nvSpPr>
          <p:cNvPr id="15" name="TextBox 14"/>
          <p:cNvSpPr txBox="1"/>
          <p:nvPr/>
        </p:nvSpPr>
        <p:spPr>
          <a:xfrm>
            <a:off x="1051560" y="1371600"/>
            <a:ext cx="10058400" cy="914400"/>
          </a:xfrm>
          <a:prstGeom prst="rect">
            <a:avLst/>
          </a:prstGeom>
          <a:noFill/>
        </p:spPr>
        <p:txBody>
          <a:bodyPr wrap="square" lIns="0" rIns="0" tIns="0" bIns="0" anchor="t">
            <a:spAutoFit/>
          </a:bodyPr>
          <a:lstStyle/>
          <a:p>
            <a:pPr algn="l">
              <a:lnSpc>
                <a:spcPct val="115000"/>
              </a:lnSpc>
              <a:spcAft>
                <a:spcPts val="0"/>
              </a:spcAft>
            </a:pPr>
            <a:r>
              <a:rPr sz="5000" b="1">
                <a:solidFill>
                  <a:srgbClr val="FFFFFF"/>
                </a:solidFill>
                <a:latin typeface="Open Sans"/>
              </a:rPr>
              <a:t>unpruuf Compliance</a:t>
            </a:r>
          </a:p>
        </p:txBody>
      </p:sp>
      <p:sp>
        <p:nvSpPr>
          <p:cNvPr id="16" name="TextBox 15"/>
          <p:cNvSpPr txBox="1"/>
          <p:nvPr/>
        </p:nvSpPr>
        <p:spPr>
          <a:xfrm>
            <a:off x="1051560" y="2395728"/>
            <a:ext cx="10241280" cy="914400"/>
          </a:xfrm>
          <a:prstGeom prst="rect">
            <a:avLst/>
          </a:prstGeom>
          <a:noFill/>
        </p:spPr>
        <p:txBody>
          <a:bodyPr wrap="square" lIns="0" rIns="0" tIns="0" bIns="0" anchor="t">
            <a:spAutoFit/>
          </a:bodyPr>
          <a:lstStyle/>
          <a:p>
            <a:pPr algn="l">
              <a:lnSpc>
                <a:spcPct val="120000"/>
              </a:lnSpc>
              <a:spcAft>
                <a:spcPts val="0"/>
              </a:spcAft>
            </a:pPr>
            <a:r>
              <a:rPr sz="1800" b="0">
                <a:solidFill>
                  <a:srgbClr val="DBE7EF"/>
                </a:solidFill>
                <a:latin typeface="Open Sans"/>
              </a:rPr>
              <a:t>Your own internal reporting channel for Romanian organisations with 50 or more employees: on your own server, without collecting the identity of the person who reports.</a:t>
            </a:r>
          </a:p>
        </p:txBody>
      </p:sp>
      <p:sp>
        <p:nvSpPr>
          <p:cNvPr id="17" name="Rounded Rectangle 16"/>
          <p:cNvSpPr/>
          <p:nvPr/>
        </p:nvSpPr>
        <p:spPr>
          <a:xfrm>
            <a:off x="1051560" y="3547872"/>
            <a:ext cx="3067354" cy="347472"/>
          </a:xfrm>
          <a:prstGeom prst="roundRect">
            <a:avLst>
              <a:gd name="adj" fmla="val 50000"/>
            </a:avLst>
          </a:prstGeom>
          <a:solidFill>
            <a:srgbClr val="90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51560" y="3547872"/>
            <a:ext cx="3067354" cy="347472"/>
          </a:xfrm>
          <a:prstGeom prst="rect">
            <a:avLst/>
          </a:prstGeom>
          <a:noFill/>
        </p:spPr>
        <p:txBody>
          <a:bodyPr wrap="square" lIns="0" rIns="0" tIns="0" bIns="0" anchor="ctr">
            <a:spAutoFit/>
          </a:bodyPr>
          <a:lstStyle/>
          <a:p>
            <a:pPr algn="ctr">
              <a:lnSpc>
                <a:spcPct val="115000"/>
              </a:lnSpc>
              <a:spcAft>
                <a:spcPts val="0"/>
              </a:spcAft>
            </a:pPr>
            <a:r>
              <a:rPr sz="1050" b="1">
                <a:solidFill>
                  <a:srgbClr val="0F2A3A"/>
                </a:solidFill>
                <a:latin typeface="DejaVu Sans Mono"/>
              </a:rPr>
              <a:t>Tested · not independently audited</a:t>
            </a:r>
          </a:p>
        </p:txBody>
      </p:sp>
      <p:sp>
        <p:nvSpPr>
          <p:cNvPr id="19" name="Rounded Rectangle 18"/>
          <p:cNvSpPr/>
          <p:nvPr/>
        </p:nvSpPr>
        <p:spPr>
          <a:xfrm>
            <a:off x="548640" y="4389120"/>
            <a:ext cx="3515258" cy="1737360"/>
          </a:xfrm>
          <a:prstGeom prst="roundRect">
            <a:avLst>
              <a:gd name="adj" fmla="val 8789"/>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8680" y="4645152"/>
            <a:ext cx="384048" cy="54864"/>
          </a:xfrm>
          <a:prstGeom prst="rect">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8680" y="4800600"/>
            <a:ext cx="2875178" cy="365760"/>
          </a:xfrm>
          <a:prstGeom prst="rect">
            <a:avLst/>
          </a:prstGeom>
          <a:noFill/>
        </p:spPr>
        <p:txBody>
          <a:bodyPr wrap="square" lIns="0" rIns="0" tIns="0" bIns="0" anchor="t">
            <a:spAutoFit/>
          </a:bodyPr>
          <a:lstStyle/>
          <a:p>
            <a:pPr algn="l">
              <a:lnSpc>
                <a:spcPct val="115000"/>
              </a:lnSpc>
              <a:spcAft>
                <a:spcPts val="0"/>
              </a:spcAft>
            </a:pPr>
            <a:r>
              <a:rPr sz="1700" b="1">
                <a:solidFill>
                  <a:srgbClr val="172733"/>
                </a:solidFill>
                <a:latin typeface="Open Sans"/>
              </a:rPr>
              <a:t>Your own server</a:t>
            </a:r>
          </a:p>
        </p:txBody>
      </p:sp>
      <p:sp>
        <p:nvSpPr>
          <p:cNvPr id="22" name="TextBox 21"/>
          <p:cNvSpPr txBox="1"/>
          <p:nvPr/>
        </p:nvSpPr>
        <p:spPr>
          <a:xfrm>
            <a:off x="868680" y="5230368"/>
            <a:ext cx="2875178" cy="777240"/>
          </a:xfrm>
          <a:prstGeom prst="rect">
            <a:avLst/>
          </a:prstGeom>
          <a:noFill/>
        </p:spPr>
        <p:txBody>
          <a:bodyPr wrap="square" lIns="0" rIns="0" tIns="0" bIns="0" anchor="t">
            <a:spAutoFit/>
          </a:bodyPr>
          <a:lstStyle/>
          <a:p>
            <a:pPr algn="l">
              <a:lnSpc>
                <a:spcPct val="115000"/>
              </a:lnSpc>
              <a:spcAft>
                <a:spcPts val="0"/>
              </a:spcAft>
            </a:pPr>
            <a:r>
              <a:rPr sz="1300" b="0">
                <a:solidFill>
                  <a:srgbClr val="505B63"/>
                </a:solidFill>
                <a:latin typeface="Open Sans"/>
              </a:rPr>
              <a:t>Your organisation runs the server. NexonAI runs no servers and has no access.</a:t>
            </a:r>
          </a:p>
        </p:txBody>
      </p:sp>
      <p:sp>
        <p:nvSpPr>
          <p:cNvPr id="23" name="Rounded Rectangle 22"/>
          <p:cNvSpPr/>
          <p:nvPr/>
        </p:nvSpPr>
        <p:spPr>
          <a:xfrm>
            <a:off x="4338218" y="4389120"/>
            <a:ext cx="3515258" cy="1737360"/>
          </a:xfrm>
          <a:prstGeom prst="roundRect">
            <a:avLst>
              <a:gd name="adj" fmla="val 8789"/>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658258" y="4645152"/>
            <a:ext cx="384048" cy="54864"/>
          </a:xfrm>
          <a:prstGeom prst="rect">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658258" y="4800600"/>
            <a:ext cx="2875178" cy="365760"/>
          </a:xfrm>
          <a:prstGeom prst="rect">
            <a:avLst/>
          </a:prstGeom>
          <a:noFill/>
        </p:spPr>
        <p:txBody>
          <a:bodyPr wrap="square" lIns="0" rIns="0" tIns="0" bIns="0" anchor="t">
            <a:spAutoFit/>
          </a:bodyPr>
          <a:lstStyle/>
          <a:p>
            <a:pPr algn="l">
              <a:lnSpc>
                <a:spcPct val="115000"/>
              </a:lnSpc>
              <a:spcAft>
                <a:spcPts val="0"/>
              </a:spcAft>
            </a:pPr>
            <a:r>
              <a:rPr sz="1700" b="1">
                <a:solidFill>
                  <a:srgbClr val="172733"/>
                </a:solidFill>
                <a:latin typeface="Open Sans"/>
              </a:rPr>
              <a:t>No reporter identities</a:t>
            </a:r>
          </a:p>
        </p:txBody>
      </p:sp>
      <p:sp>
        <p:nvSpPr>
          <p:cNvPr id="26" name="TextBox 25"/>
          <p:cNvSpPr txBox="1"/>
          <p:nvPr/>
        </p:nvSpPr>
        <p:spPr>
          <a:xfrm>
            <a:off x="4658258" y="5230368"/>
            <a:ext cx="2875178" cy="777240"/>
          </a:xfrm>
          <a:prstGeom prst="rect">
            <a:avLst/>
          </a:prstGeom>
          <a:noFill/>
        </p:spPr>
        <p:txBody>
          <a:bodyPr wrap="square" lIns="0" rIns="0" tIns="0" bIns="0" anchor="t">
            <a:spAutoFit/>
          </a:bodyPr>
          <a:lstStyle/>
          <a:p>
            <a:pPr algn="l">
              <a:lnSpc>
                <a:spcPct val="115000"/>
              </a:lnSpc>
              <a:spcAft>
                <a:spcPts val="0"/>
              </a:spcAft>
            </a:pPr>
            <a:r>
              <a:rPr sz="1300" b="0">
                <a:solidFill>
                  <a:srgbClr val="505B63"/>
                </a:solidFill>
                <a:latin typeface="Open Sans"/>
              </a:rPr>
              <a:t>No account, no name, no phone number, no e-mail address.</a:t>
            </a:r>
          </a:p>
        </p:txBody>
      </p:sp>
      <p:sp>
        <p:nvSpPr>
          <p:cNvPr id="27" name="Rounded Rectangle 26"/>
          <p:cNvSpPr/>
          <p:nvPr/>
        </p:nvSpPr>
        <p:spPr>
          <a:xfrm>
            <a:off x="8127796" y="4389120"/>
            <a:ext cx="3515258" cy="1737360"/>
          </a:xfrm>
          <a:prstGeom prst="roundRect">
            <a:avLst>
              <a:gd name="adj" fmla="val 8789"/>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8447836" y="4645152"/>
            <a:ext cx="384048" cy="54864"/>
          </a:xfrm>
          <a:prstGeom prst="rect">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447836" y="4800600"/>
            <a:ext cx="2875178" cy="365760"/>
          </a:xfrm>
          <a:prstGeom prst="rect">
            <a:avLst/>
          </a:prstGeom>
          <a:noFill/>
        </p:spPr>
        <p:txBody>
          <a:bodyPr wrap="square" lIns="0" rIns="0" tIns="0" bIns="0" anchor="t">
            <a:spAutoFit/>
          </a:bodyPr>
          <a:lstStyle/>
          <a:p>
            <a:pPr algn="l">
              <a:lnSpc>
                <a:spcPct val="115000"/>
              </a:lnSpc>
              <a:spcAft>
                <a:spcPts val="0"/>
              </a:spcAft>
            </a:pPr>
            <a:r>
              <a:rPr sz="1700" b="1">
                <a:solidFill>
                  <a:srgbClr val="172733"/>
                </a:solidFill>
                <a:latin typeface="Open Sans"/>
              </a:rPr>
              <a:t>Ready in one week</a:t>
            </a:r>
          </a:p>
        </p:txBody>
      </p:sp>
      <p:sp>
        <p:nvSpPr>
          <p:cNvPr id="30" name="TextBox 29"/>
          <p:cNvSpPr txBox="1"/>
          <p:nvPr/>
        </p:nvSpPr>
        <p:spPr>
          <a:xfrm>
            <a:off x="8447836" y="5230368"/>
            <a:ext cx="2875178" cy="777240"/>
          </a:xfrm>
          <a:prstGeom prst="rect">
            <a:avLst/>
          </a:prstGeom>
          <a:noFill/>
        </p:spPr>
        <p:txBody>
          <a:bodyPr wrap="square" lIns="0" rIns="0" tIns="0" bIns="0" anchor="t">
            <a:spAutoFit/>
          </a:bodyPr>
          <a:lstStyle/>
          <a:p>
            <a:pPr algn="l">
              <a:lnSpc>
                <a:spcPct val="115000"/>
              </a:lnSpc>
              <a:spcAft>
                <a:spcPts val="0"/>
              </a:spcAft>
            </a:pPr>
            <a:r>
              <a:rPr sz="1300" b="0">
                <a:solidFill>
                  <a:srgbClr val="505B63"/>
                </a:solidFill>
                <a:latin typeface="Open Sans"/>
              </a:rPr>
              <a:t>With training for your case officers and an evidence pack for your DPO.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384048"/>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8640" y="150876"/>
            <a:ext cx="82296" cy="82296"/>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54864"/>
            <a:ext cx="3657600" cy="274320"/>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unpruuf Compliance</a:t>
            </a:r>
          </a:p>
        </p:txBody>
      </p:sp>
      <p:sp>
        <p:nvSpPr>
          <p:cNvPr id="6" name="TextBox 5"/>
          <p:cNvSpPr txBox="1"/>
          <p:nvPr/>
        </p:nvSpPr>
        <p:spPr>
          <a:xfrm>
            <a:off x="3383280" y="54864"/>
            <a:ext cx="5394960" cy="274320"/>
          </a:xfrm>
          <a:prstGeom prst="rect">
            <a:avLst/>
          </a:prstGeom>
          <a:noFill/>
        </p:spPr>
        <p:txBody>
          <a:bodyPr wrap="square" lIns="0" rIns="0" tIns="0" bIns="0" anchor="ctr">
            <a:spAutoFit/>
          </a:bodyPr>
          <a:lstStyle/>
          <a:p>
            <a:pPr algn="ctr">
              <a:lnSpc>
                <a:spcPct val="115000"/>
              </a:lnSpc>
              <a:spcAft>
                <a:spcPts val="0"/>
              </a:spcAft>
            </a:pPr>
            <a:r>
              <a:rPr sz="950" b="0">
                <a:solidFill>
                  <a:srgbClr val="505B63"/>
                </a:solidFill>
                <a:latin typeface="DejaVu Sans Mono"/>
              </a:rPr>
              <a:t>Tested · not independently audited · not certified</a:t>
            </a:r>
          </a:p>
        </p:txBody>
      </p:sp>
      <p:sp>
        <p:nvSpPr>
          <p:cNvPr id="7" name="TextBox 6"/>
          <p:cNvSpPr txBox="1"/>
          <p:nvPr/>
        </p:nvSpPr>
        <p:spPr>
          <a:xfrm>
            <a:off x="9814255" y="54864"/>
            <a:ext cx="1828800" cy="274320"/>
          </a:xfrm>
          <a:prstGeom prst="rect">
            <a:avLst/>
          </a:prstGeom>
          <a:noFill/>
        </p:spPr>
        <p:txBody>
          <a:bodyPr wrap="square" lIns="0" rIns="0" tIns="0" bIns="0" anchor="ctr">
            <a:spAutoFit/>
          </a:bodyPr>
          <a:lstStyle/>
          <a:p>
            <a:pPr algn="r">
              <a:lnSpc>
                <a:spcPct val="115000"/>
              </a:lnSpc>
              <a:spcAft>
                <a:spcPts val="0"/>
              </a:spcAft>
            </a:pPr>
            <a:r>
              <a:rPr sz="1000" b="1">
                <a:solidFill>
                  <a:srgbClr val="307098"/>
                </a:solidFill>
                <a:latin typeface="DejaVu Sans Mono"/>
              </a:rPr>
              <a:t>EN</a:t>
            </a:r>
          </a:p>
        </p:txBody>
      </p:sp>
      <p:sp>
        <p:nvSpPr>
          <p:cNvPr id="8" name="Rectangle 7"/>
          <p:cNvSpPr/>
          <p:nvPr/>
        </p:nvSpPr>
        <p:spPr>
          <a:xfrm>
            <a:off x="0" y="6355080"/>
            <a:ext cx="12191695"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6355080"/>
            <a:ext cx="12191695" cy="10972"/>
          </a:xfrm>
          <a:prstGeom prst="rect">
            <a:avLst/>
          </a:prstGeom>
          <a:solidFill>
            <a:srgbClr val="D9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exonai-logo.png"/>
          <p:cNvPicPr>
            <a:picLocks noChangeAspect="1"/>
          </p:cNvPicPr>
          <p:nvPr/>
        </p:nvPicPr>
        <p:blipFill>
          <a:blip r:embed="rId2"/>
          <a:stretch>
            <a:fillRect/>
          </a:stretch>
        </p:blipFill>
        <p:spPr>
          <a:xfrm>
            <a:off x="548640" y="6446520"/>
            <a:ext cx="881829" cy="329184"/>
          </a:xfrm>
          <a:prstGeom prst="rect">
            <a:avLst/>
          </a:prstGeom>
        </p:spPr>
      </p:pic>
      <p:sp>
        <p:nvSpPr>
          <p:cNvPr id="11" name="TextBox 10"/>
          <p:cNvSpPr txBox="1"/>
          <p:nvPr/>
        </p:nvSpPr>
        <p:spPr>
          <a:xfrm>
            <a:off x="1613348" y="6446520"/>
            <a:ext cx="3657600" cy="329184"/>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Open Sans"/>
              </a:rPr>
              <a:t>NexonAI Consulting SRL</a:t>
            </a:r>
          </a:p>
        </p:txBody>
      </p:sp>
      <p:sp>
        <p:nvSpPr>
          <p:cNvPr id="12" name="TextBox 11"/>
          <p:cNvSpPr txBox="1"/>
          <p:nvPr/>
        </p:nvSpPr>
        <p:spPr>
          <a:xfrm>
            <a:off x="7071055" y="6446520"/>
            <a:ext cx="4572000" cy="329184"/>
          </a:xfrm>
          <a:prstGeom prst="rect">
            <a:avLst/>
          </a:prstGeom>
          <a:noFill/>
        </p:spPr>
        <p:txBody>
          <a:bodyPr wrap="square" lIns="0" rIns="0" tIns="0" bIns="0" anchor="ctr">
            <a:spAutoFit/>
          </a:bodyPr>
          <a:lstStyle/>
          <a:p>
            <a:pPr algn="r">
              <a:lnSpc>
                <a:spcPct val="115000"/>
              </a:lnSpc>
              <a:spcAft>
                <a:spcPts val="0"/>
              </a:spcAft>
            </a:pPr>
            <a:r>
              <a:rPr sz="950" b="0">
                <a:solidFill>
                  <a:srgbClr val="505B63"/>
                </a:solidFill>
                <a:latin typeface="DejaVu Sans Mono"/>
              </a:rPr>
              <a:t>Alba Iulia  ·  unpruuf@nexonai.ro  ·  2 / 6</a:t>
            </a:r>
          </a:p>
        </p:txBody>
      </p:sp>
      <p:sp>
        <p:nvSpPr>
          <p:cNvPr id="13" name="TextBox 12"/>
          <p:cNvSpPr txBox="1"/>
          <p:nvPr/>
        </p:nvSpPr>
        <p:spPr>
          <a:xfrm>
            <a:off x="548640" y="658368"/>
            <a:ext cx="8229600" cy="274320"/>
          </a:xfrm>
          <a:prstGeom prst="rect">
            <a:avLst/>
          </a:prstGeom>
          <a:noFill/>
        </p:spPr>
        <p:txBody>
          <a:bodyPr wrap="square" lIns="0" rIns="0" tIns="0" bIns="0" anchor="t">
            <a:spAutoFit/>
          </a:bodyPr>
          <a:lstStyle/>
          <a:p>
            <a:pPr algn="l">
              <a:lnSpc>
                <a:spcPct val="115000"/>
              </a:lnSpc>
              <a:spcAft>
                <a:spcPts val="0"/>
              </a:spcAft>
            </a:pPr>
            <a:r>
              <a:rPr sz="1050" b="1">
                <a:solidFill>
                  <a:srgbClr val="307098"/>
                </a:solidFill>
                <a:latin typeface="DejaVu Sans Mono"/>
              </a:rPr>
              <a:t>HOW UNPRUUF WORKS</a:t>
            </a:r>
          </a:p>
        </p:txBody>
      </p:sp>
      <p:sp>
        <p:nvSpPr>
          <p:cNvPr id="14" name="TextBox 13"/>
          <p:cNvSpPr txBox="1"/>
          <p:nvPr/>
        </p:nvSpPr>
        <p:spPr>
          <a:xfrm>
            <a:off x="548640" y="969264"/>
            <a:ext cx="11094415" cy="640080"/>
          </a:xfrm>
          <a:prstGeom prst="rect">
            <a:avLst/>
          </a:prstGeom>
          <a:noFill/>
        </p:spPr>
        <p:txBody>
          <a:bodyPr wrap="square" lIns="0" rIns="0" tIns="0" bIns="0" anchor="t">
            <a:spAutoFit/>
          </a:bodyPr>
          <a:lstStyle/>
          <a:p>
            <a:pPr algn="l">
              <a:lnSpc>
                <a:spcPct val="115000"/>
              </a:lnSpc>
              <a:spcAft>
                <a:spcPts val="0"/>
              </a:spcAft>
            </a:pPr>
            <a:r>
              <a:rPr sz="3000" b="1">
                <a:solidFill>
                  <a:srgbClr val="172733"/>
                </a:solidFill>
                <a:latin typeface="Open Sans"/>
              </a:rPr>
              <a:t>Two parts: an app and your own server.</a:t>
            </a:r>
          </a:p>
        </p:txBody>
      </p:sp>
      <p:sp>
        <p:nvSpPr>
          <p:cNvPr id="15" name="Rounded Rectangle 14"/>
          <p:cNvSpPr/>
          <p:nvPr/>
        </p:nvSpPr>
        <p:spPr>
          <a:xfrm>
            <a:off x="548640" y="1664208"/>
            <a:ext cx="11094415" cy="475488"/>
          </a:xfrm>
          <a:prstGeom prst="roundRect">
            <a:avLst>
              <a:gd name="adj" fmla="val 19230"/>
            </a:avLst>
          </a:prstGeom>
          <a:solidFill>
            <a:srgbClr val="E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48640" y="1664208"/>
            <a:ext cx="73152" cy="475488"/>
          </a:xfrm>
          <a:prstGeom prst="rect">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59" y="1664208"/>
            <a:ext cx="10637215" cy="475488"/>
          </a:xfrm>
          <a:prstGeom prst="rect">
            <a:avLst/>
          </a:prstGeom>
          <a:noFill/>
        </p:spPr>
        <p:txBody>
          <a:bodyPr wrap="square" lIns="0" rIns="0" tIns="0" bIns="0" anchor="ctr">
            <a:spAutoFit/>
          </a:bodyPr>
          <a:lstStyle/>
          <a:p>
            <a:pPr algn="l">
              <a:lnSpc>
                <a:spcPct val="115000"/>
              </a:lnSpc>
              <a:spcAft>
                <a:spcPts val="0"/>
              </a:spcAft>
            </a:pPr>
            <a:r>
              <a:rPr sz="1400" b="1">
                <a:solidFill>
                  <a:srgbClr val="307098"/>
                </a:solidFill>
                <a:latin typeface="Open Sans"/>
              </a:rPr>
              <a:t>Prerequisite:  </a:t>
            </a:r>
            <a:r>
              <a:rPr sz="1400" b="0">
                <a:solidFill>
                  <a:srgbClr val="172733"/>
                </a:solidFill>
                <a:latin typeface="Open Sans"/>
              </a:rPr>
              <a:t>your organisation runs its own server. NexonAI runs no servers and has no access.</a:t>
            </a:r>
          </a:p>
        </p:txBody>
      </p:sp>
      <p:sp>
        <p:nvSpPr>
          <p:cNvPr id="18" name="Rounded Rectangle 17"/>
          <p:cNvSpPr/>
          <p:nvPr/>
        </p:nvSpPr>
        <p:spPr>
          <a:xfrm>
            <a:off x="548640" y="2331720"/>
            <a:ext cx="6720840" cy="3840480"/>
          </a:xfrm>
          <a:prstGeom prst="roundRect">
            <a:avLst>
              <a:gd name="adj" fmla="val 3976"/>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2959" y="2496312"/>
            <a:ext cx="2743200" cy="274320"/>
          </a:xfrm>
          <a:prstGeom prst="rect">
            <a:avLst/>
          </a:prstGeom>
          <a:noFill/>
        </p:spPr>
        <p:txBody>
          <a:bodyPr wrap="square" lIns="0" rIns="0" tIns="0" bIns="0" anchor="t">
            <a:spAutoFit/>
          </a:bodyPr>
          <a:lstStyle/>
          <a:p>
            <a:pPr algn="l">
              <a:lnSpc>
                <a:spcPct val="115000"/>
              </a:lnSpc>
              <a:spcAft>
                <a:spcPts val="0"/>
              </a:spcAft>
            </a:pPr>
            <a:r>
              <a:rPr sz="900" b="1">
                <a:solidFill>
                  <a:srgbClr val="505B63"/>
                </a:solidFill>
                <a:latin typeface="DejaVu Sans Mono"/>
              </a:rPr>
              <a:t>SCHEMATIC</a:t>
            </a:r>
          </a:p>
        </p:txBody>
      </p:sp>
      <p:sp>
        <p:nvSpPr>
          <p:cNvPr id="20" name="Rounded Rectangle 19"/>
          <p:cNvSpPr/>
          <p:nvPr/>
        </p:nvSpPr>
        <p:spPr>
          <a:xfrm>
            <a:off x="914400" y="3108960"/>
            <a:ext cx="1051560" cy="1874519"/>
          </a:xfrm>
          <a:prstGeom prst="roundRect">
            <a:avLst>
              <a:gd name="adj" fmla="val 17391"/>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996696" y="3310128"/>
            <a:ext cx="886968" cy="1472184"/>
          </a:xfrm>
          <a:prstGeom prst="roundRect">
            <a:avLst>
              <a:gd name="adj" fmla="val 618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1293876" y="3191256"/>
            <a:ext cx="292608" cy="45720"/>
          </a:xfrm>
          <a:prstGeom prst="roundRect">
            <a:avLst>
              <a:gd name="adj" fmla="val 40000"/>
            </a:avLst>
          </a:prstGeom>
          <a:solidFill>
            <a:srgbClr val="3D55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33856" y="3794760"/>
            <a:ext cx="612647" cy="438912"/>
          </a:xfrm>
          <a:prstGeom prst="rect">
            <a:avLst/>
          </a:prstGeom>
          <a:solidFill>
            <a:srgbClr val="E3EEF6"/>
          </a:solidFill>
          <a:ln w="15875">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10800000">
            <a:off x="1133856" y="3794760"/>
            <a:ext cx="612647" cy="241401"/>
          </a:xfrm>
          <a:prstGeom prst="triangle">
            <a:avLst/>
          </a:prstGeom>
          <a:solidFill>
            <a:srgbClr val="E3EEF6"/>
          </a:solidFill>
          <a:ln w="15875">
            <a:solidFill>
              <a:srgbClr val="3070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074920"/>
            <a:ext cx="1691640" cy="548640"/>
          </a:xfrm>
          <a:prstGeom prst="rect">
            <a:avLst/>
          </a:prstGeom>
          <a:noFill/>
        </p:spPr>
        <p:txBody>
          <a:bodyPr wrap="square" lIns="0" rIns="0" tIns="0" bIns="0" anchor="t">
            <a:spAutoFit/>
          </a:bodyPr>
          <a:lstStyle/>
          <a:p>
            <a:pPr algn="ctr">
              <a:lnSpc>
                <a:spcPct val="115000"/>
              </a:lnSpc>
              <a:spcAft>
                <a:spcPts val="0"/>
              </a:spcAft>
            </a:pPr>
            <a:r>
              <a:rPr sz="1150" b="1">
                <a:solidFill>
                  <a:srgbClr val="172733"/>
                </a:solidFill>
                <a:latin typeface="Open Sans"/>
              </a:rPr>
              <a:t>Employee</a:t>
            </a:r>
          </a:p>
          <a:p>
            <a:pPr algn="ctr">
              <a:lnSpc>
                <a:spcPct val="115000"/>
              </a:lnSpc>
              <a:spcAft>
                <a:spcPts val="0"/>
              </a:spcAft>
            </a:pPr>
            <a:r>
              <a:rPr sz="1150" b="0">
                <a:solidFill>
                  <a:srgbClr val="172733"/>
                </a:solidFill>
                <a:latin typeface="Open Sans"/>
              </a:rPr>
              <a:t>app or browser</a:t>
            </a:r>
          </a:p>
        </p:txBody>
      </p:sp>
      <p:sp>
        <p:nvSpPr>
          <p:cNvPr id="26" name="Rounded Rectangle 25"/>
          <p:cNvSpPr/>
          <p:nvPr/>
        </p:nvSpPr>
        <p:spPr>
          <a:xfrm>
            <a:off x="2651760" y="2880360"/>
            <a:ext cx="2331720" cy="2240280"/>
          </a:xfrm>
          <a:prstGeom prst="roundRect">
            <a:avLst>
              <a:gd name="adj" fmla="val 6816"/>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2651760" y="3063240"/>
            <a:ext cx="2331720" cy="320040"/>
          </a:xfrm>
          <a:prstGeom prst="rect">
            <a:avLst/>
          </a:prstGeom>
          <a:noFill/>
        </p:spPr>
        <p:txBody>
          <a:bodyPr wrap="square" lIns="0" rIns="0" tIns="0" bIns="0" anchor="t">
            <a:spAutoFit/>
          </a:bodyPr>
          <a:lstStyle/>
          <a:p>
            <a:pPr algn="ctr">
              <a:lnSpc>
                <a:spcPct val="115000"/>
              </a:lnSpc>
              <a:spcAft>
                <a:spcPts val="0"/>
              </a:spcAft>
            </a:pPr>
            <a:r>
              <a:rPr sz="1600" b="1">
                <a:solidFill>
                  <a:srgbClr val="FFFFFF"/>
                </a:solidFill>
                <a:latin typeface="Open Sans"/>
              </a:rPr>
              <a:t>Your server</a:t>
            </a:r>
          </a:p>
        </p:txBody>
      </p:sp>
      <p:sp>
        <p:nvSpPr>
          <p:cNvPr id="28" name="TextBox 27"/>
          <p:cNvSpPr txBox="1"/>
          <p:nvPr/>
        </p:nvSpPr>
        <p:spPr>
          <a:xfrm>
            <a:off x="2651760" y="3383280"/>
            <a:ext cx="2331720" cy="274320"/>
          </a:xfrm>
          <a:prstGeom prst="rect">
            <a:avLst/>
          </a:prstGeom>
          <a:noFill/>
        </p:spPr>
        <p:txBody>
          <a:bodyPr wrap="square" lIns="0" rIns="0" tIns="0" bIns="0" anchor="t">
            <a:spAutoFit/>
          </a:bodyPr>
          <a:lstStyle/>
          <a:p>
            <a:pPr algn="ctr">
              <a:lnSpc>
                <a:spcPct val="115000"/>
              </a:lnSpc>
              <a:spcAft>
                <a:spcPts val="0"/>
              </a:spcAft>
            </a:pPr>
            <a:r>
              <a:rPr sz="1100" b="0">
                <a:solidFill>
                  <a:srgbClr val="90C8E8"/>
                </a:solidFill>
                <a:latin typeface="Open Sans"/>
              </a:rPr>
              <a:t>my server, my rules</a:t>
            </a:r>
          </a:p>
        </p:txBody>
      </p:sp>
      <p:sp>
        <p:nvSpPr>
          <p:cNvPr id="29" name="Rounded Rectangle 28"/>
          <p:cNvSpPr/>
          <p:nvPr/>
        </p:nvSpPr>
        <p:spPr>
          <a:xfrm>
            <a:off x="2985515" y="3840480"/>
            <a:ext cx="457200" cy="384048"/>
          </a:xfrm>
          <a:prstGeom prst="roundRect">
            <a:avLst>
              <a:gd name="adj" fmla="val 11904"/>
            </a:avLst>
          </a:prstGeom>
          <a:solidFill>
            <a:srgbClr val="1D4258"/>
          </a:solidFill>
          <a:ln w="12700">
            <a:solidFill>
              <a:srgbClr val="90C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086099" y="3950208"/>
            <a:ext cx="256032" cy="45720"/>
          </a:xfrm>
          <a:prstGeom prst="rect">
            <a:avLst/>
          </a:prstGeom>
          <a:solidFill>
            <a:srgbClr val="90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3589020" y="3840480"/>
            <a:ext cx="457200" cy="384048"/>
          </a:xfrm>
          <a:prstGeom prst="roundRect">
            <a:avLst>
              <a:gd name="adj" fmla="val 11904"/>
            </a:avLst>
          </a:prstGeom>
          <a:solidFill>
            <a:srgbClr val="1D4258"/>
          </a:solidFill>
          <a:ln w="12700">
            <a:solidFill>
              <a:srgbClr val="90C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3689604" y="3950208"/>
            <a:ext cx="256032" cy="45720"/>
          </a:xfrm>
          <a:prstGeom prst="rect">
            <a:avLst/>
          </a:prstGeom>
          <a:solidFill>
            <a:srgbClr val="90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3689604" y="4023360"/>
            <a:ext cx="256032" cy="118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4192524" y="3840480"/>
            <a:ext cx="457200" cy="384048"/>
          </a:xfrm>
          <a:prstGeom prst="roundRect">
            <a:avLst>
              <a:gd name="adj" fmla="val 11904"/>
            </a:avLst>
          </a:prstGeom>
          <a:solidFill>
            <a:srgbClr val="1D4258"/>
          </a:solidFill>
          <a:ln w="12700">
            <a:solidFill>
              <a:srgbClr val="90C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293108" y="3950208"/>
            <a:ext cx="256032" cy="45720"/>
          </a:xfrm>
          <a:prstGeom prst="rect">
            <a:avLst/>
          </a:prstGeom>
          <a:solidFill>
            <a:srgbClr val="90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2985515" y="4370832"/>
            <a:ext cx="457200" cy="384048"/>
          </a:xfrm>
          <a:prstGeom prst="roundRect">
            <a:avLst>
              <a:gd name="adj" fmla="val 11904"/>
            </a:avLst>
          </a:prstGeom>
          <a:solidFill>
            <a:srgbClr val="1D4258"/>
          </a:solidFill>
          <a:ln w="12700">
            <a:solidFill>
              <a:srgbClr val="90C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3086099" y="4480560"/>
            <a:ext cx="256032" cy="45720"/>
          </a:xfrm>
          <a:prstGeom prst="rect">
            <a:avLst/>
          </a:prstGeom>
          <a:solidFill>
            <a:srgbClr val="90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3589020" y="4370832"/>
            <a:ext cx="457200" cy="384048"/>
          </a:xfrm>
          <a:prstGeom prst="roundRect">
            <a:avLst>
              <a:gd name="adj" fmla="val 11904"/>
            </a:avLst>
          </a:prstGeom>
          <a:solidFill>
            <a:srgbClr val="1D4258"/>
          </a:solidFill>
          <a:ln w="12700">
            <a:solidFill>
              <a:srgbClr val="90C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3689604" y="4480560"/>
            <a:ext cx="256032" cy="45720"/>
          </a:xfrm>
          <a:prstGeom prst="rect">
            <a:avLst/>
          </a:prstGeom>
          <a:solidFill>
            <a:srgbClr val="90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4192524" y="4370832"/>
            <a:ext cx="457200" cy="384048"/>
          </a:xfrm>
          <a:prstGeom prst="roundRect">
            <a:avLst>
              <a:gd name="adj" fmla="val 11904"/>
            </a:avLst>
          </a:prstGeom>
          <a:solidFill>
            <a:srgbClr val="1D4258"/>
          </a:solidFill>
          <a:ln w="12700">
            <a:solidFill>
              <a:srgbClr val="90C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293108" y="4480560"/>
            <a:ext cx="256032" cy="45720"/>
          </a:xfrm>
          <a:prstGeom prst="rect">
            <a:avLst/>
          </a:prstGeom>
          <a:solidFill>
            <a:srgbClr val="90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5797296" y="3474720"/>
            <a:ext cx="1152144" cy="1005840"/>
          </a:xfrm>
          <a:prstGeom prst="roundRect">
            <a:avLst>
              <a:gd name="adj" fmla="val 7272"/>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5870448" y="3547872"/>
            <a:ext cx="1005840" cy="859536"/>
          </a:xfrm>
          <a:prstGeom prst="roundRect">
            <a:avLst>
              <a:gd name="adj" fmla="val 319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5961888" y="3657600"/>
            <a:ext cx="109728" cy="109728"/>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6144768" y="3685032"/>
            <a:ext cx="502920" cy="54864"/>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5961888" y="3904487"/>
            <a:ext cx="109728" cy="109728"/>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6144768" y="3931920"/>
            <a:ext cx="502920" cy="54864"/>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5961888" y="4151376"/>
            <a:ext cx="109728" cy="109728"/>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6144768" y="4178808"/>
            <a:ext cx="502920" cy="54864"/>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5687568" y="4480560"/>
            <a:ext cx="1371600" cy="109728"/>
          </a:xfrm>
          <a:prstGeom prst="roundRect">
            <a:avLst>
              <a:gd name="adj" fmla="val 41666"/>
            </a:avLst>
          </a:prstGeom>
          <a:solidFill>
            <a:srgbClr val="3D55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394959" y="5074920"/>
            <a:ext cx="1828800" cy="548640"/>
          </a:xfrm>
          <a:prstGeom prst="rect">
            <a:avLst/>
          </a:prstGeom>
          <a:noFill/>
        </p:spPr>
        <p:txBody>
          <a:bodyPr wrap="square" lIns="0" rIns="0" tIns="0" bIns="0" anchor="t">
            <a:spAutoFit/>
          </a:bodyPr>
          <a:lstStyle/>
          <a:p>
            <a:pPr algn="ctr">
              <a:lnSpc>
                <a:spcPct val="115000"/>
              </a:lnSpc>
              <a:spcAft>
                <a:spcPts val="0"/>
              </a:spcAft>
            </a:pPr>
            <a:r>
              <a:rPr sz="1150" b="1">
                <a:solidFill>
                  <a:srgbClr val="172733"/>
                </a:solidFill>
                <a:latin typeface="Open Sans"/>
              </a:rPr>
              <a:t>Case officer</a:t>
            </a:r>
          </a:p>
          <a:p>
            <a:pPr algn="ctr">
              <a:lnSpc>
                <a:spcPct val="115000"/>
              </a:lnSpc>
              <a:spcAft>
                <a:spcPts val="0"/>
              </a:spcAft>
            </a:pPr>
            <a:r>
              <a:rPr sz="1150" b="0">
                <a:solidFill>
                  <a:srgbClr val="172733"/>
                </a:solidFill>
                <a:latin typeface="Open Sans"/>
              </a:rPr>
              <a:t>case officer app</a:t>
            </a:r>
          </a:p>
        </p:txBody>
      </p:sp>
      <p:cxnSp>
        <p:nvCxnSpPr>
          <p:cNvPr id="52" name="Connector 51"/>
          <p:cNvCxnSpPr/>
          <p:nvPr/>
        </p:nvCxnSpPr>
        <p:spPr>
          <a:xfrm>
            <a:off x="2029968" y="4023360"/>
            <a:ext cx="566928" cy="0"/>
          </a:xfrm>
          <a:prstGeom prst="line">
            <a:avLst/>
          </a:prstGeom>
          <a:ln w="28575">
            <a:solidFill>
              <a:srgbClr val="30709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5038343" y="4023360"/>
            <a:ext cx="649225" cy="0"/>
          </a:xfrm>
          <a:prstGeom prst="line">
            <a:avLst/>
          </a:prstGeom>
          <a:ln w="28575">
            <a:solidFill>
              <a:srgbClr val="3070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920240" y="3456432"/>
            <a:ext cx="786384" cy="502920"/>
          </a:xfrm>
          <a:prstGeom prst="rect">
            <a:avLst/>
          </a:prstGeom>
          <a:noFill/>
        </p:spPr>
        <p:txBody>
          <a:bodyPr wrap="square" lIns="0" rIns="0" tIns="0" bIns="0" anchor="b">
            <a:spAutoFit/>
          </a:bodyPr>
          <a:lstStyle/>
          <a:p>
            <a:pPr algn="ctr">
              <a:lnSpc>
                <a:spcPct val="115000"/>
              </a:lnSpc>
              <a:spcAft>
                <a:spcPts val="0"/>
              </a:spcAft>
            </a:pPr>
            <a:r>
              <a:rPr sz="1000" b="1">
                <a:solidFill>
                  <a:srgbClr val="307098"/>
                </a:solidFill>
                <a:latin typeface="Open Sans"/>
              </a:rPr>
              <a:t>leaves a sealed message</a:t>
            </a:r>
          </a:p>
        </p:txBody>
      </p:sp>
      <p:sp>
        <p:nvSpPr>
          <p:cNvPr id="55" name="TextBox 54"/>
          <p:cNvSpPr txBox="1"/>
          <p:nvPr/>
        </p:nvSpPr>
        <p:spPr>
          <a:xfrm>
            <a:off x="4965192" y="3456432"/>
            <a:ext cx="822960" cy="502920"/>
          </a:xfrm>
          <a:prstGeom prst="rect">
            <a:avLst/>
          </a:prstGeom>
          <a:noFill/>
        </p:spPr>
        <p:txBody>
          <a:bodyPr wrap="square" lIns="0" rIns="0" tIns="0" bIns="0" anchor="b">
            <a:spAutoFit/>
          </a:bodyPr>
          <a:lstStyle/>
          <a:p>
            <a:pPr algn="ctr">
              <a:lnSpc>
                <a:spcPct val="115000"/>
              </a:lnSpc>
              <a:spcAft>
                <a:spcPts val="0"/>
              </a:spcAft>
            </a:pPr>
            <a:r>
              <a:rPr sz="1000" b="1">
                <a:solidFill>
                  <a:srgbClr val="307098"/>
                </a:solidFill>
                <a:latin typeface="Open Sans"/>
              </a:rPr>
              <a:t>picks it up</a:t>
            </a:r>
          </a:p>
        </p:txBody>
      </p:sp>
      <p:sp>
        <p:nvSpPr>
          <p:cNvPr id="56" name="Rounded Rectangle 55"/>
          <p:cNvSpPr/>
          <p:nvPr/>
        </p:nvSpPr>
        <p:spPr>
          <a:xfrm>
            <a:off x="2377440" y="5349240"/>
            <a:ext cx="2880360" cy="502920"/>
          </a:xfrm>
          <a:prstGeom prst="roundRect">
            <a:avLst>
              <a:gd name="adj" fmla="val 18181"/>
            </a:avLst>
          </a:prstGeom>
          <a:solidFill>
            <a:srgbClr val="F2F4F6"/>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2423160" y="5349240"/>
            <a:ext cx="2788920" cy="502920"/>
          </a:xfrm>
          <a:prstGeom prst="rect">
            <a:avLst/>
          </a:prstGeom>
          <a:noFill/>
        </p:spPr>
        <p:txBody>
          <a:bodyPr wrap="square" lIns="0" rIns="0" tIns="0" bIns="0" anchor="ctr">
            <a:spAutoFit/>
          </a:bodyPr>
          <a:lstStyle/>
          <a:p>
            <a:pPr algn="ctr">
              <a:lnSpc>
                <a:spcPct val="115000"/>
              </a:lnSpc>
              <a:spcAft>
                <a:spcPts val="0"/>
              </a:spcAft>
            </a:pPr>
            <a:r>
              <a:rPr sz="1050" b="0">
                <a:solidFill>
                  <a:srgbClr val="505B63"/>
                </a:solidFill>
                <a:latin typeface="Open Sans"/>
              </a:rPr>
              <a:t>NexonAI: no server, no access, no copies</a:t>
            </a:r>
          </a:p>
        </p:txBody>
      </p:sp>
      <p:sp>
        <p:nvSpPr>
          <p:cNvPr id="58" name="Oval 57"/>
          <p:cNvSpPr/>
          <p:nvPr/>
        </p:nvSpPr>
        <p:spPr>
          <a:xfrm>
            <a:off x="7635240" y="2450592"/>
            <a:ext cx="91440" cy="91440"/>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863840" y="2377440"/>
            <a:ext cx="3779215" cy="274320"/>
          </a:xfrm>
          <a:prstGeom prst="rect">
            <a:avLst/>
          </a:prstGeom>
          <a:noFill/>
        </p:spPr>
        <p:txBody>
          <a:bodyPr wrap="square" lIns="0" rIns="0" tIns="0" bIns="0" anchor="t">
            <a:spAutoFit/>
          </a:bodyPr>
          <a:lstStyle/>
          <a:p>
            <a:pPr algn="l">
              <a:lnSpc>
                <a:spcPct val="115000"/>
              </a:lnSpc>
              <a:spcAft>
                <a:spcPts val="0"/>
              </a:spcAft>
            </a:pPr>
            <a:r>
              <a:rPr sz="1400" b="1">
                <a:solidFill>
                  <a:srgbClr val="172733"/>
                </a:solidFill>
                <a:latin typeface="Open Sans"/>
              </a:rPr>
              <a:t>No identities</a:t>
            </a:r>
          </a:p>
        </p:txBody>
      </p:sp>
      <p:sp>
        <p:nvSpPr>
          <p:cNvPr id="60" name="TextBox 59"/>
          <p:cNvSpPr txBox="1"/>
          <p:nvPr/>
        </p:nvSpPr>
        <p:spPr>
          <a:xfrm>
            <a:off x="7863840" y="2651760"/>
            <a:ext cx="3779215" cy="50292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No accounts, no phone numbers, no user directory.</a:t>
            </a:r>
          </a:p>
        </p:txBody>
      </p:sp>
      <p:sp>
        <p:nvSpPr>
          <p:cNvPr id="61" name="Oval 60"/>
          <p:cNvSpPr/>
          <p:nvPr/>
        </p:nvSpPr>
        <p:spPr>
          <a:xfrm>
            <a:off x="7635240" y="3236976"/>
            <a:ext cx="91440" cy="91440"/>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863840" y="3163824"/>
            <a:ext cx="3779215" cy="274320"/>
          </a:xfrm>
          <a:prstGeom prst="rect">
            <a:avLst/>
          </a:prstGeom>
          <a:noFill/>
        </p:spPr>
        <p:txBody>
          <a:bodyPr wrap="square" lIns="0" rIns="0" tIns="0" bIns="0" anchor="t">
            <a:spAutoFit/>
          </a:bodyPr>
          <a:lstStyle/>
          <a:p>
            <a:pPr algn="l">
              <a:lnSpc>
                <a:spcPct val="115000"/>
              </a:lnSpc>
              <a:spcAft>
                <a:spcPts val="0"/>
              </a:spcAft>
            </a:pPr>
            <a:r>
              <a:rPr sz="1400" b="1">
                <a:solidFill>
                  <a:srgbClr val="172733"/>
                </a:solidFill>
                <a:latin typeface="Open Sans"/>
              </a:rPr>
              <a:t>Nobody writes directly</a:t>
            </a:r>
          </a:p>
        </p:txBody>
      </p:sp>
      <p:sp>
        <p:nvSpPr>
          <p:cNvPr id="63" name="TextBox 62"/>
          <p:cNvSpPr txBox="1"/>
          <p:nvPr/>
        </p:nvSpPr>
        <p:spPr>
          <a:xfrm>
            <a:off x="7863840" y="3438144"/>
            <a:ext cx="3779215" cy="50292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You leave a sealed message on your own server. Your contact picks it up there. Replies take the same route.</a:t>
            </a:r>
          </a:p>
        </p:txBody>
      </p:sp>
      <p:sp>
        <p:nvSpPr>
          <p:cNvPr id="64" name="Oval 63"/>
          <p:cNvSpPr/>
          <p:nvPr/>
        </p:nvSpPr>
        <p:spPr>
          <a:xfrm>
            <a:off x="7635240" y="4023360"/>
            <a:ext cx="91440" cy="91440"/>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863840" y="3950208"/>
            <a:ext cx="3779215" cy="274320"/>
          </a:xfrm>
          <a:prstGeom prst="rect">
            <a:avLst/>
          </a:prstGeom>
          <a:noFill/>
        </p:spPr>
        <p:txBody>
          <a:bodyPr wrap="square" lIns="0" rIns="0" tIns="0" bIns="0" anchor="t">
            <a:spAutoFit/>
          </a:bodyPr>
          <a:lstStyle/>
          <a:p>
            <a:pPr algn="l">
              <a:lnSpc>
                <a:spcPct val="115000"/>
              </a:lnSpc>
              <a:spcAft>
                <a:spcPts val="0"/>
              </a:spcAft>
            </a:pPr>
            <a:r>
              <a:rPr sz="1400" b="1">
                <a:solidFill>
                  <a:srgbClr val="172733"/>
                </a:solidFill>
                <a:latin typeface="Open Sans"/>
              </a:rPr>
              <a:t>My server, my rules</a:t>
            </a:r>
          </a:p>
        </p:txBody>
      </p:sp>
      <p:sp>
        <p:nvSpPr>
          <p:cNvPr id="66" name="TextBox 65"/>
          <p:cNvSpPr txBox="1"/>
          <p:nvPr/>
        </p:nvSpPr>
        <p:spPr>
          <a:xfrm>
            <a:off x="7863840" y="4224528"/>
            <a:ext cx="3779215" cy="50292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The server belongs to your organisation. Nobody in the middle.</a:t>
            </a:r>
          </a:p>
        </p:txBody>
      </p:sp>
      <p:sp>
        <p:nvSpPr>
          <p:cNvPr id="67" name="Oval 66"/>
          <p:cNvSpPr/>
          <p:nvPr/>
        </p:nvSpPr>
        <p:spPr>
          <a:xfrm>
            <a:off x="7635240" y="4809744"/>
            <a:ext cx="91440" cy="91440"/>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7863840" y="4736592"/>
            <a:ext cx="3779215" cy="274320"/>
          </a:xfrm>
          <a:prstGeom prst="rect">
            <a:avLst/>
          </a:prstGeom>
          <a:noFill/>
        </p:spPr>
        <p:txBody>
          <a:bodyPr wrap="square" lIns="0" rIns="0" tIns="0" bIns="0" anchor="t">
            <a:spAutoFit/>
          </a:bodyPr>
          <a:lstStyle/>
          <a:p>
            <a:pPr algn="l">
              <a:lnSpc>
                <a:spcPct val="115000"/>
              </a:lnSpc>
              <a:spcAft>
                <a:spcPts val="0"/>
              </a:spcAft>
            </a:pPr>
            <a:r>
              <a:rPr sz="1400" b="1">
                <a:solidFill>
                  <a:srgbClr val="172733"/>
                </a:solidFill>
                <a:latin typeface="Open Sans"/>
              </a:rPr>
              <a:t>Nothing lies around</a:t>
            </a:r>
          </a:p>
        </p:txBody>
      </p:sp>
      <p:sp>
        <p:nvSpPr>
          <p:cNvPr id="69" name="TextBox 68"/>
          <p:cNvSpPr txBox="1"/>
          <p:nvPr/>
        </p:nvSpPr>
        <p:spPr>
          <a:xfrm>
            <a:off x="7863840" y="5010912"/>
            <a:ext cx="3779215" cy="50292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What is not picked up is gone after 24 hours at most. A passage, not a storage.</a:t>
            </a:r>
          </a:p>
        </p:txBody>
      </p:sp>
      <p:sp>
        <p:nvSpPr>
          <p:cNvPr id="70" name="Rounded Rectangle 69"/>
          <p:cNvSpPr/>
          <p:nvPr/>
        </p:nvSpPr>
        <p:spPr>
          <a:xfrm>
            <a:off x="7635240" y="5513832"/>
            <a:ext cx="4007815" cy="658368"/>
          </a:xfrm>
          <a:prstGeom prst="roundRect">
            <a:avLst>
              <a:gd name="adj" fmla="val 13888"/>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7799831" y="5513832"/>
            <a:ext cx="3733495" cy="658368"/>
          </a:xfrm>
          <a:prstGeom prst="rect">
            <a:avLst/>
          </a:prstGeom>
          <a:noFill/>
        </p:spPr>
        <p:txBody>
          <a:bodyPr wrap="square" lIns="0" rIns="0" tIns="0" bIns="0" anchor="ctr">
            <a:spAutoFit/>
          </a:bodyPr>
          <a:lstStyle/>
          <a:p>
            <a:pPr algn="l">
              <a:lnSpc>
                <a:spcPct val="115000"/>
              </a:lnSpc>
              <a:spcAft>
                <a:spcPts val="0"/>
              </a:spcAft>
            </a:pPr>
            <a:r>
              <a:rPr sz="1000" b="0">
                <a:solidFill>
                  <a:srgbClr val="A8500F"/>
                </a:solidFill>
                <a:latin typeface="Open Sans"/>
              </a:rPr>
              <a:t>Reporting in the browser does not use Tor: your server sees the IP address. The first screen says so. The app does not have this limit.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384048"/>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8640" y="150876"/>
            <a:ext cx="82296" cy="82296"/>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54864"/>
            <a:ext cx="3657600" cy="274320"/>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unpruuf Compliance</a:t>
            </a:r>
          </a:p>
        </p:txBody>
      </p:sp>
      <p:sp>
        <p:nvSpPr>
          <p:cNvPr id="6" name="TextBox 5"/>
          <p:cNvSpPr txBox="1"/>
          <p:nvPr/>
        </p:nvSpPr>
        <p:spPr>
          <a:xfrm>
            <a:off x="3383280" y="54864"/>
            <a:ext cx="5394960" cy="274320"/>
          </a:xfrm>
          <a:prstGeom prst="rect">
            <a:avLst/>
          </a:prstGeom>
          <a:noFill/>
        </p:spPr>
        <p:txBody>
          <a:bodyPr wrap="square" lIns="0" rIns="0" tIns="0" bIns="0" anchor="ctr">
            <a:spAutoFit/>
          </a:bodyPr>
          <a:lstStyle/>
          <a:p>
            <a:pPr algn="ctr">
              <a:lnSpc>
                <a:spcPct val="115000"/>
              </a:lnSpc>
              <a:spcAft>
                <a:spcPts val="0"/>
              </a:spcAft>
            </a:pPr>
            <a:r>
              <a:rPr sz="950" b="0">
                <a:solidFill>
                  <a:srgbClr val="505B63"/>
                </a:solidFill>
                <a:latin typeface="DejaVu Sans Mono"/>
              </a:rPr>
              <a:t>Tested · not independently audited · not certified</a:t>
            </a:r>
          </a:p>
        </p:txBody>
      </p:sp>
      <p:sp>
        <p:nvSpPr>
          <p:cNvPr id="7" name="TextBox 6"/>
          <p:cNvSpPr txBox="1"/>
          <p:nvPr/>
        </p:nvSpPr>
        <p:spPr>
          <a:xfrm>
            <a:off x="9814255" y="54864"/>
            <a:ext cx="1828800" cy="274320"/>
          </a:xfrm>
          <a:prstGeom prst="rect">
            <a:avLst/>
          </a:prstGeom>
          <a:noFill/>
        </p:spPr>
        <p:txBody>
          <a:bodyPr wrap="square" lIns="0" rIns="0" tIns="0" bIns="0" anchor="ctr">
            <a:spAutoFit/>
          </a:bodyPr>
          <a:lstStyle/>
          <a:p>
            <a:pPr algn="r">
              <a:lnSpc>
                <a:spcPct val="115000"/>
              </a:lnSpc>
              <a:spcAft>
                <a:spcPts val="0"/>
              </a:spcAft>
            </a:pPr>
            <a:r>
              <a:rPr sz="1000" b="1">
                <a:solidFill>
                  <a:srgbClr val="307098"/>
                </a:solidFill>
                <a:latin typeface="DejaVu Sans Mono"/>
              </a:rPr>
              <a:t>EN</a:t>
            </a:r>
          </a:p>
        </p:txBody>
      </p:sp>
      <p:sp>
        <p:nvSpPr>
          <p:cNvPr id="8" name="Rectangle 7"/>
          <p:cNvSpPr/>
          <p:nvPr/>
        </p:nvSpPr>
        <p:spPr>
          <a:xfrm>
            <a:off x="0" y="6355080"/>
            <a:ext cx="12191695"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6355080"/>
            <a:ext cx="12191695" cy="10972"/>
          </a:xfrm>
          <a:prstGeom prst="rect">
            <a:avLst/>
          </a:prstGeom>
          <a:solidFill>
            <a:srgbClr val="D9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exonai-logo.png"/>
          <p:cNvPicPr>
            <a:picLocks noChangeAspect="1"/>
          </p:cNvPicPr>
          <p:nvPr/>
        </p:nvPicPr>
        <p:blipFill>
          <a:blip r:embed="rId2"/>
          <a:stretch>
            <a:fillRect/>
          </a:stretch>
        </p:blipFill>
        <p:spPr>
          <a:xfrm>
            <a:off x="548640" y="6446520"/>
            <a:ext cx="881829" cy="329184"/>
          </a:xfrm>
          <a:prstGeom prst="rect">
            <a:avLst/>
          </a:prstGeom>
        </p:spPr>
      </p:pic>
      <p:sp>
        <p:nvSpPr>
          <p:cNvPr id="11" name="TextBox 10"/>
          <p:cNvSpPr txBox="1"/>
          <p:nvPr/>
        </p:nvSpPr>
        <p:spPr>
          <a:xfrm>
            <a:off x="1613348" y="6446520"/>
            <a:ext cx="3657600" cy="329184"/>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Open Sans"/>
              </a:rPr>
              <a:t>NexonAI Consulting SRL</a:t>
            </a:r>
          </a:p>
        </p:txBody>
      </p:sp>
      <p:sp>
        <p:nvSpPr>
          <p:cNvPr id="12" name="TextBox 11"/>
          <p:cNvSpPr txBox="1"/>
          <p:nvPr/>
        </p:nvSpPr>
        <p:spPr>
          <a:xfrm>
            <a:off x="7071055" y="6446520"/>
            <a:ext cx="4572000" cy="329184"/>
          </a:xfrm>
          <a:prstGeom prst="rect">
            <a:avLst/>
          </a:prstGeom>
          <a:noFill/>
        </p:spPr>
        <p:txBody>
          <a:bodyPr wrap="square" lIns="0" rIns="0" tIns="0" bIns="0" anchor="ctr">
            <a:spAutoFit/>
          </a:bodyPr>
          <a:lstStyle/>
          <a:p>
            <a:pPr algn="r">
              <a:lnSpc>
                <a:spcPct val="115000"/>
              </a:lnSpc>
              <a:spcAft>
                <a:spcPts val="0"/>
              </a:spcAft>
            </a:pPr>
            <a:r>
              <a:rPr sz="950" b="0">
                <a:solidFill>
                  <a:srgbClr val="505B63"/>
                </a:solidFill>
                <a:latin typeface="DejaVu Sans Mono"/>
              </a:rPr>
              <a:t>Alba Iulia  ·  unpruuf@nexonai.ro  ·  3 / 6</a:t>
            </a:r>
          </a:p>
        </p:txBody>
      </p:sp>
      <p:sp>
        <p:nvSpPr>
          <p:cNvPr id="13" name="TextBox 12"/>
          <p:cNvSpPr txBox="1"/>
          <p:nvPr/>
        </p:nvSpPr>
        <p:spPr>
          <a:xfrm>
            <a:off x="548640" y="658368"/>
            <a:ext cx="8229600" cy="274320"/>
          </a:xfrm>
          <a:prstGeom prst="rect">
            <a:avLst/>
          </a:prstGeom>
          <a:noFill/>
        </p:spPr>
        <p:txBody>
          <a:bodyPr wrap="square" lIns="0" rIns="0" tIns="0" bIns="0" anchor="t">
            <a:spAutoFit/>
          </a:bodyPr>
          <a:lstStyle/>
          <a:p>
            <a:pPr algn="l">
              <a:lnSpc>
                <a:spcPct val="115000"/>
              </a:lnSpc>
              <a:spcAft>
                <a:spcPts val="0"/>
              </a:spcAft>
            </a:pPr>
            <a:r>
              <a:rPr sz="1050" b="1">
                <a:solidFill>
                  <a:srgbClr val="307098"/>
                </a:solidFill>
                <a:latin typeface="DejaVu Sans Mono"/>
              </a:rPr>
              <a:t>WHAT YOUR ORGANISATION GETS</a:t>
            </a:r>
          </a:p>
        </p:txBody>
      </p:sp>
      <p:sp>
        <p:nvSpPr>
          <p:cNvPr id="14" name="TextBox 13"/>
          <p:cNvSpPr txBox="1"/>
          <p:nvPr/>
        </p:nvSpPr>
        <p:spPr>
          <a:xfrm>
            <a:off x="548640" y="969264"/>
            <a:ext cx="11094415" cy="640080"/>
          </a:xfrm>
          <a:prstGeom prst="rect">
            <a:avLst/>
          </a:prstGeom>
          <a:noFill/>
        </p:spPr>
        <p:txBody>
          <a:bodyPr wrap="square" lIns="0" rIns="0" tIns="0" bIns="0" anchor="t">
            <a:spAutoFit/>
          </a:bodyPr>
          <a:lstStyle/>
          <a:p>
            <a:pPr algn="l">
              <a:lnSpc>
                <a:spcPct val="115000"/>
              </a:lnSpc>
              <a:spcAft>
                <a:spcPts val="0"/>
              </a:spcAft>
            </a:pPr>
            <a:r>
              <a:rPr sz="3000" b="1">
                <a:solidFill>
                  <a:srgbClr val="172733"/>
                </a:solidFill>
                <a:latin typeface="Open Sans"/>
              </a:rPr>
              <a:t>A report, from the first message to closing.</a:t>
            </a:r>
          </a:p>
        </p:txBody>
      </p:sp>
      <p:sp>
        <p:nvSpPr>
          <p:cNvPr id="15" name="TextBox 14"/>
          <p:cNvSpPr txBox="1"/>
          <p:nvPr/>
        </p:nvSpPr>
        <p:spPr>
          <a:xfrm>
            <a:off x="548640" y="1591056"/>
            <a:ext cx="11094415" cy="365760"/>
          </a:xfrm>
          <a:prstGeom prst="rect">
            <a:avLst/>
          </a:prstGeom>
          <a:noFill/>
        </p:spPr>
        <p:txBody>
          <a:bodyPr wrap="square" lIns="0" rIns="0" tIns="0" bIns="0" anchor="t">
            <a:spAutoFit/>
          </a:bodyPr>
          <a:lstStyle/>
          <a:p>
            <a:pPr algn="l">
              <a:lnSpc>
                <a:spcPct val="115000"/>
              </a:lnSpc>
              <a:spcAft>
                <a:spcPts val="0"/>
              </a:spcAft>
            </a:pPr>
            <a:r>
              <a:rPr sz="1500" b="0">
                <a:solidFill>
                  <a:srgbClr val="505B63"/>
                </a:solidFill>
                <a:latin typeface="Open Sans"/>
              </a:rPr>
              <a:t>Five steps. Your case officers always see the next deadline.</a:t>
            </a:r>
          </a:p>
        </p:txBody>
      </p:sp>
      <p:sp>
        <p:nvSpPr>
          <p:cNvPr id="16" name="Rounded Rectangle 15"/>
          <p:cNvSpPr/>
          <p:nvPr/>
        </p:nvSpPr>
        <p:spPr>
          <a:xfrm>
            <a:off x="548640" y="2148840"/>
            <a:ext cx="2057948" cy="2971800"/>
          </a:xfrm>
          <a:prstGeom prst="roundRect">
            <a:avLst>
              <a:gd name="adj" fmla="val 7420"/>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04672" y="2423160"/>
            <a:ext cx="457200" cy="457200"/>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 y="2423160"/>
            <a:ext cx="457200" cy="457200"/>
          </a:xfrm>
          <a:prstGeom prst="rect">
            <a:avLst/>
          </a:prstGeom>
          <a:noFill/>
        </p:spPr>
        <p:txBody>
          <a:bodyPr wrap="square" lIns="0" rIns="0" tIns="0" bIns="0" anchor="ctr">
            <a:spAutoFit/>
          </a:bodyPr>
          <a:lstStyle/>
          <a:p>
            <a:pPr algn="ctr">
              <a:lnSpc>
                <a:spcPct val="115000"/>
              </a:lnSpc>
              <a:spcAft>
                <a:spcPts val="0"/>
              </a:spcAft>
            </a:pPr>
            <a:r>
              <a:rPr sz="1600" b="1">
                <a:solidFill>
                  <a:srgbClr val="FFFFFF"/>
                </a:solidFill>
                <a:latin typeface="Open Sans"/>
              </a:rPr>
              <a:t>1</a:t>
            </a:r>
          </a:p>
        </p:txBody>
      </p:sp>
      <p:sp>
        <p:nvSpPr>
          <p:cNvPr id="19" name="TextBox 18"/>
          <p:cNvSpPr txBox="1"/>
          <p:nvPr/>
        </p:nvSpPr>
        <p:spPr>
          <a:xfrm>
            <a:off x="804672" y="3044952"/>
            <a:ext cx="1710476" cy="594360"/>
          </a:xfrm>
          <a:prstGeom prst="rect">
            <a:avLst/>
          </a:prstGeom>
          <a:noFill/>
        </p:spPr>
        <p:txBody>
          <a:bodyPr wrap="square" lIns="0" rIns="0" tIns="0" bIns="0" anchor="t">
            <a:spAutoFit/>
          </a:bodyPr>
          <a:lstStyle/>
          <a:p>
            <a:pPr algn="l">
              <a:lnSpc>
                <a:spcPct val="115000"/>
              </a:lnSpc>
              <a:spcAft>
                <a:spcPts val="0"/>
              </a:spcAft>
            </a:pPr>
            <a:r>
              <a:rPr sz="1350" b="1">
                <a:solidFill>
                  <a:srgbClr val="172733"/>
                </a:solidFill>
                <a:latin typeface="Open Sans"/>
              </a:rPr>
              <a:t>Report</a:t>
            </a:r>
          </a:p>
        </p:txBody>
      </p:sp>
      <p:sp>
        <p:nvSpPr>
          <p:cNvPr id="20" name="TextBox 19"/>
          <p:cNvSpPr txBox="1"/>
          <p:nvPr/>
        </p:nvSpPr>
        <p:spPr>
          <a:xfrm>
            <a:off x="804672" y="3666744"/>
            <a:ext cx="1600748" cy="91440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An employee reports in the app or in the browser, from the QR code on the workplace notice. No name needed.</a:t>
            </a:r>
          </a:p>
        </p:txBody>
      </p:sp>
      <p:sp>
        <p:nvSpPr>
          <p:cNvPr id="21" name="Rounded Rectangle 20"/>
          <p:cNvSpPr/>
          <p:nvPr/>
        </p:nvSpPr>
        <p:spPr>
          <a:xfrm>
            <a:off x="2807756" y="2148840"/>
            <a:ext cx="2057948" cy="2971800"/>
          </a:xfrm>
          <a:prstGeom prst="roundRect">
            <a:avLst>
              <a:gd name="adj" fmla="val 7420"/>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3063788" y="2423160"/>
            <a:ext cx="457200" cy="457200"/>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063788" y="2423160"/>
            <a:ext cx="457200" cy="457200"/>
          </a:xfrm>
          <a:prstGeom prst="rect">
            <a:avLst/>
          </a:prstGeom>
          <a:noFill/>
        </p:spPr>
        <p:txBody>
          <a:bodyPr wrap="square" lIns="0" rIns="0" tIns="0" bIns="0" anchor="ctr">
            <a:spAutoFit/>
          </a:bodyPr>
          <a:lstStyle/>
          <a:p>
            <a:pPr algn="ctr">
              <a:lnSpc>
                <a:spcPct val="115000"/>
              </a:lnSpc>
              <a:spcAft>
                <a:spcPts val="0"/>
              </a:spcAft>
            </a:pPr>
            <a:r>
              <a:rPr sz="1600" b="1">
                <a:solidFill>
                  <a:srgbClr val="FFFFFF"/>
                </a:solidFill>
                <a:latin typeface="Open Sans"/>
              </a:rPr>
              <a:t>2</a:t>
            </a:r>
          </a:p>
        </p:txBody>
      </p:sp>
      <p:sp>
        <p:nvSpPr>
          <p:cNvPr id="24" name="TextBox 23"/>
          <p:cNvSpPr txBox="1"/>
          <p:nvPr/>
        </p:nvSpPr>
        <p:spPr>
          <a:xfrm>
            <a:off x="3063788" y="3044952"/>
            <a:ext cx="1710476" cy="594360"/>
          </a:xfrm>
          <a:prstGeom prst="rect">
            <a:avLst/>
          </a:prstGeom>
          <a:noFill/>
        </p:spPr>
        <p:txBody>
          <a:bodyPr wrap="square" lIns="0" rIns="0" tIns="0" bIns="0" anchor="t">
            <a:spAutoFit/>
          </a:bodyPr>
          <a:lstStyle/>
          <a:p>
            <a:pPr algn="l">
              <a:lnSpc>
                <a:spcPct val="115000"/>
              </a:lnSpc>
              <a:spcAft>
                <a:spcPts val="0"/>
              </a:spcAft>
            </a:pPr>
            <a:r>
              <a:rPr sz="1350" b="1">
                <a:solidFill>
                  <a:srgbClr val="172733"/>
                </a:solidFill>
                <a:latin typeface="Open Sans"/>
              </a:rPr>
              <a:t>Case code</a:t>
            </a:r>
          </a:p>
        </p:txBody>
      </p:sp>
      <p:sp>
        <p:nvSpPr>
          <p:cNvPr id="25" name="TextBox 24"/>
          <p:cNvSpPr txBox="1"/>
          <p:nvPr/>
        </p:nvSpPr>
        <p:spPr>
          <a:xfrm>
            <a:off x="3063788" y="3666744"/>
            <a:ext cx="1600748" cy="91440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The reporter receives a random case code and follows the case with it.</a:t>
            </a:r>
          </a:p>
        </p:txBody>
      </p:sp>
      <p:sp>
        <p:nvSpPr>
          <p:cNvPr id="26" name="Rounded Rectangle 25"/>
          <p:cNvSpPr/>
          <p:nvPr/>
        </p:nvSpPr>
        <p:spPr>
          <a:xfrm>
            <a:off x="5066873" y="2148840"/>
            <a:ext cx="2057948" cy="2971800"/>
          </a:xfrm>
          <a:prstGeom prst="roundRect">
            <a:avLst>
              <a:gd name="adj" fmla="val 7420"/>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5322905" y="2423160"/>
            <a:ext cx="457200" cy="457200"/>
          </a:xfrm>
          <a:prstGeom prst="ellipse">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322905" y="2423160"/>
            <a:ext cx="457200" cy="457200"/>
          </a:xfrm>
          <a:prstGeom prst="rect">
            <a:avLst/>
          </a:prstGeom>
          <a:noFill/>
        </p:spPr>
        <p:txBody>
          <a:bodyPr wrap="square" lIns="0" rIns="0" tIns="0" bIns="0" anchor="ctr">
            <a:spAutoFit/>
          </a:bodyPr>
          <a:lstStyle/>
          <a:p>
            <a:pPr algn="ctr">
              <a:lnSpc>
                <a:spcPct val="115000"/>
              </a:lnSpc>
              <a:spcAft>
                <a:spcPts val="0"/>
              </a:spcAft>
            </a:pPr>
            <a:r>
              <a:rPr sz="1600" b="1">
                <a:solidFill>
                  <a:srgbClr val="FFFFFF"/>
                </a:solidFill>
                <a:latin typeface="Open Sans"/>
              </a:rPr>
              <a:t>3</a:t>
            </a:r>
          </a:p>
        </p:txBody>
      </p:sp>
      <p:sp>
        <p:nvSpPr>
          <p:cNvPr id="29" name="TextBox 28"/>
          <p:cNvSpPr txBox="1"/>
          <p:nvPr/>
        </p:nvSpPr>
        <p:spPr>
          <a:xfrm>
            <a:off x="5322905" y="3044952"/>
            <a:ext cx="1710476" cy="594360"/>
          </a:xfrm>
          <a:prstGeom prst="rect">
            <a:avLst/>
          </a:prstGeom>
          <a:noFill/>
        </p:spPr>
        <p:txBody>
          <a:bodyPr wrap="square" lIns="0" rIns="0" tIns="0" bIns="0" anchor="t">
            <a:spAutoFit/>
          </a:bodyPr>
          <a:lstStyle/>
          <a:p>
            <a:pPr algn="l">
              <a:lnSpc>
                <a:spcPct val="115000"/>
              </a:lnSpc>
              <a:spcAft>
                <a:spcPts val="0"/>
              </a:spcAft>
            </a:pPr>
            <a:r>
              <a:rPr sz="1350" b="1">
                <a:solidFill>
                  <a:srgbClr val="172733"/>
                </a:solidFill>
                <a:latin typeface="Open Sans"/>
              </a:rPr>
              <a:t>Acknowledgement</a:t>
            </a:r>
          </a:p>
        </p:txBody>
      </p:sp>
      <p:sp>
        <p:nvSpPr>
          <p:cNvPr id="30" name="Rounded Rectangle 29"/>
          <p:cNvSpPr/>
          <p:nvPr/>
        </p:nvSpPr>
        <p:spPr>
          <a:xfrm>
            <a:off x="5322905" y="3666744"/>
            <a:ext cx="1179347" cy="274320"/>
          </a:xfrm>
          <a:prstGeom prst="roundRect">
            <a:avLst>
              <a:gd name="adj" fmla="val 50000"/>
            </a:avLst>
          </a:prstGeom>
          <a:solidFill>
            <a:srgbClr val="E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322905" y="3666744"/>
            <a:ext cx="1179347" cy="274320"/>
          </a:xfrm>
          <a:prstGeom prst="rect">
            <a:avLst/>
          </a:prstGeom>
          <a:noFill/>
        </p:spPr>
        <p:txBody>
          <a:bodyPr wrap="square" lIns="0" rIns="0" tIns="0" bIns="0" anchor="ctr">
            <a:spAutoFit/>
          </a:bodyPr>
          <a:lstStyle/>
          <a:p>
            <a:pPr algn="ctr">
              <a:lnSpc>
                <a:spcPct val="115000"/>
              </a:lnSpc>
              <a:spcAft>
                <a:spcPts val="0"/>
              </a:spcAft>
            </a:pPr>
            <a:r>
              <a:rPr sz="950" b="1">
                <a:solidFill>
                  <a:srgbClr val="307098"/>
                </a:solidFill>
                <a:latin typeface="DejaVu Sans Mono"/>
              </a:rPr>
              <a:t>within 7 days</a:t>
            </a:r>
          </a:p>
        </p:txBody>
      </p:sp>
      <p:sp>
        <p:nvSpPr>
          <p:cNvPr id="32" name="TextBox 31"/>
          <p:cNvSpPr txBox="1"/>
          <p:nvPr/>
        </p:nvSpPr>
        <p:spPr>
          <a:xfrm>
            <a:off x="5322905" y="4050791"/>
            <a:ext cx="1600748" cy="91440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The case officer confirms receipt of the report.</a:t>
            </a:r>
          </a:p>
        </p:txBody>
      </p:sp>
      <p:sp>
        <p:nvSpPr>
          <p:cNvPr id="33" name="Rounded Rectangle 32"/>
          <p:cNvSpPr/>
          <p:nvPr/>
        </p:nvSpPr>
        <p:spPr>
          <a:xfrm>
            <a:off x="7325989" y="2148840"/>
            <a:ext cx="2057948" cy="2971800"/>
          </a:xfrm>
          <a:prstGeom prst="roundRect">
            <a:avLst>
              <a:gd name="adj" fmla="val 7420"/>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582021" y="2423160"/>
            <a:ext cx="457200" cy="457200"/>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582021" y="2423160"/>
            <a:ext cx="457200" cy="457200"/>
          </a:xfrm>
          <a:prstGeom prst="rect">
            <a:avLst/>
          </a:prstGeom>
          <a:noFill/>
        </p:spPr>
        <p:txBody>
          <a:bodyPr wrap="square" lIns="0" rIns="0" tIns="0" bIns="0" anchor="ctr">
            <a:spAutoFit/>
          </a:bodyPr>
          <a:lstStyle/>
          <a:p>
            <a:pPr algn="ctr">
              <a:lnSpc>
                <a:spcPct val="115000"/>
              </a:lnSpc>
              <a:spcAft>
                <a:spcPts val="0"/>
              </a:spcAft>
            </a:pPr>
            <a:r>
              <a:rPr sz="1600" b="1">
                <a:solidFill>
                  <a:srgbClr val="FFFFFF"/>
                </a:solidFill>
                <a:latin typeface="Open Sans"/>
              </a:rPr>
              <a:t>4</a:t>
            </a:r>
          </a:p>
        </p:txBody>
      </p:sp>
      <p:sp>
        <p:nvSpPr>
          <p:cNvPr id="36" name="TextBox 35"/>
          <p:cNvSpPr txBox="1"/>
          <p:nvPr/>
        </p:nvSpPr>
        <p:spPr>
          <a:xfrm>
            <a:off x="7582021" y="3044952"/>
            <a:ext cx="1710476" cy="594360"/>
          </a:xfrm>
          <a:prstGeom prst="rect">
            <a:avLst/>
          </a:prstGeom>
          <a:noFill/>
        </p:spPr>
        <p:txBody>
          <a:bodyPr wrap="square" lIns="0" rIns="0" tIns="0" bIns="0" anchor="t">
            <a:spAutoFit/>
          </a:bodyPr>
          <a:lstStyle/>
          <a:p>
            <a:pPr algn="l">
              <a:lnSpc>
                <a:spcPct val="115000"/>
              </a:lnSpc>
              <a:spcAft>
                <a:spcPts val="0"/>
              </a:spcAft>
            </a:pPr>
            <a:r>
              <a:rPr sz="1350" b="1">
                <a:solidFill>
                  <a:srgbClr val="172733"/>
                </a:solidFill>
                <a:latin typeface="Open Sans"/>
              </a:rPr>
              <a:t>Dialogue</a:t>
            </a:r>
          </a:p>
        </p:txBody>
      </p:sp>
      <p:sp>
        <p:nvSpPr>
          <p:cNvPr id="37" name="TextBox 36"/>
          <p:cNvSpPr txBox="1"/>
          <p:nvPr/>
        </p:nvSpPr>
        <p:spPr>
          <a:xfrm>
            <a:off x="7582021" y="3666744"/>
            <a:ext cx="1600748" cy="91440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The case officer asks questions. The reporter answers without giving contact details.</a:t>
            </a:r>
          </a:p>
        </p:txBody>
      </p:sp>
      <p:sp>
        <p:nvSpPr>
          <p:cNvPr id="38" name="Rounded Rectangle 37"/>
          <p:cNvSpPr/>
          <p:nvPr/>
        </p:nvSpPr>
        <p:spPr>
          <a:xfrm>
            <a:off x="9585106" y="2148840"/>
            <a:ext cx="2057948" cy="2971800"/>
          </a:xfrm>
          <a:prstGeom prst="roundRect">
            <a:avLst>
              <a:gd name="adj" fmla="val 7420"/>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841138" y="2423160"/>
            <a:ext cx="457200" cy="457200"/>
          </a:xfrm>
          <a:prstGeom prst="ellipse">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841138" y="2423160"/>
            <a:ext cx="457200" cy="457200"/>
          </a:xfrm>
          <a:prstGeom prst="rect">
            <a:avLst/>
          </a:prstGeom>
          <a:noFill/>
        </p:spPr>
        <p:txBody>
          <a:bodyPr wrap="square" lIns="0" rIns="0" tIns="0" bIns="0" anchor="ctr">
            <a:spAutoFit/>
          </a:bodyPr>
          <a:lstStyle/>
          <a:p>
            <a:pPr algn="ctr">
              <a:lnSpc>
                <a:spcPct val="115000"/>
              </a:lnSpc>
              <a:spcAft>
                <a:spcPts val="0"/>
              </a:spcAft>
            </a:pPr>
            <a:r>
              <a:rPr sz="1600" b="1">
                <a:solidFill>
                  <a:srgbClr val="FFFFFF"/>
                </a:solidFill>
                <a:latin typeface="Open Sans"/>
              </a:rPr>
              <a:t>5</a:t>
            </a:r>
          </a:p>
        </p:txBody>
      </p:sp>
      <p:sp>
        <p:nvSpPr>
          <p:cNvPr id="41" name="TextBox 40"/>
          <p:cNvSpPr txBox="1"/>
          <p:nvPr/>
        </p:nvSpPr>
        <p:spPr>
          <a:xfrm>
            <a:off x="9841138" y="3044952"/>
            <a:ext cx="1710476" cy="594360"/>
          </a:xfrm>
          <a:prstGeom prst="rect">
            <a:avLst/>
          </a:prstGeom>
          <a:noFill/>
        </p:spPr>
        <p:txBody>
          <a:bodyPr wrap="square" lIns="0" rIns="0" tIns="0" bIns="0" anchor="t">
            <a:spAutoFit/>
          </a:bodyPr>
          <a:lstStyle/>
          <a:p>
            <a:pPr algn="l">
              <a:lnSpc>
                <a:spcPct val="115000"/>
              </a:lnSpc>
              <a:spcAft>
                <a:spcPts val="0"/>
              </a:spcAft>
            </a:pPr>
            <a:r>
              <a:rPr sz="1350" b="1">
                <a:solidFill>
                  <a:srgbClr val="172733"/>
                </a:solidFill>
                <a:latin typeface="Open Sans"/>
              </a:rPr>
              <a:t>Feedback, close</a:t>
            </a:r>
          </a:p>
        </p:txBody>
      </p:sp>
      <p:sp>
        <p:nvSpPr>
          <p:cNvPr id="42" name="Rounded Rectangle 41"/>
          <p:cNvSpPr/>
          <p:nvPr/>
        </p:nvSpPr>
        <p:spPr>
          <a:xfrm>
            <a:off x="9841138" y="3666744"/>
            <a:ext cx="1327023" cy="274320"/>
          </a:xfrm>
          <a:prstGeom prst="roundRect">
            <a:avLst>
              <a:gd name="adj" fmla="val 50000"/>
            </a:avLst>
          </a:prstGeom>
          <a:solidFill>
            <a:srgbClr val="E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841138" y="3666744"/>
            <a:ext cx="1327023" cy="274320"/>
          </a:xfrm>
          <a:prstGeom prst="rect">
            <a:avLst/>
          </a:prstGeom>
          <a:noFill/>
        </p:spPr>
        <p:txBody>
          <a:bodyPr wrap="square" lIns="0" rIns="0" tIns="0" bIns="0" anchor="ctr">
            <a:spAutoFit/>
          </a:bodyPr>
          <a:lstStyle/>
          <a:p>
            <a:pPr algn="ctr">
              <a:lnSpc>
                <a:spcPct val="115000"/>
              </a:lnSpc>
              <a:spcAft>
                <a:spcPts val="0"/>
              </a:spcAft>
            </a:pPr>
            <a:r>
              <a:rPr sz="950" b="1">
                <a:solidFill>
                  <a:srgbClr val="307098"/>
                </a:solidFill>
                <a:latin typeface="DejaVu Sans Mono"/>
              </a:rPr>
              <a:t>within 3 months</a:t>
            </a:r>
          </a:p>
        </p:txBody>
      </p:sp>
      <p:sp>
        <p:nvSpPr>
          <p:cNvPr id="44" name="TextBox 43"/>
          <p:cNvSpPr txBox="1"/>
          <p:nvPr/>
        </p:nvSpPr>
        <p:spPr>
          <a:xfrm>
            <a:off x="9841138" y="4050791"/>
            <a:ext cx="1600748" cy="91440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The case officer reports back on the measures taken and closes the case.</a:t>
            </a:r>
          </a:p>
        </p:txBody>
      </p:sp>
      <p:sp>
        <p:nvSpPr>
          <p:cNvPr id="45" name="Rectangle 44"/>
          <p:cNvSpPr/>
          <p:nvPr/>
        </p:nvSpPr>
        <p:spPr>
          <a:xfrm>
            <a:off x="731520" y="5440680"/>
            <a:ext cx="10728655" cy="45720"/>
          </a:xfrm>
          <a:prstGeom prst="rect">
            <a:avLst/>
          </a:prstGeom>
          <a:solidFill>
            <a:srgbClr val="D9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649224" y="5381244"/>
            <a:ext cx="164592" cy="164592"/>
          </a:xfrm>
          <a:prstGeom prst="ellipse">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82879" y="5605272"/>
            <a:ext cx="1828800" cy="274320"/>
          </a:xfrm>
          <a:prstGeom prst="rect">
            <a:avLst/>
          </a:prstGeom>
          <a:noFill/>
        </p:spPr>
        <p:txBody>
          <a:bodyPr wrap="square" lIns="0" rIns="0" tIns="0" bIns="0" anchor="t">
            <a:spAutoFit/>
          </a:bodyPr>
          <a:lstStyle/>
          <a:p>
            <a:pPr algn="ctr">
              <a:lnSpc>
                <a:spcPct val="115000"/>
              </a:lnSpc>
              <a:spcAft>
                <a:spcPts val="0"/>
              </a:spcAft>
            </a:pPr>
            <a:r>
              <a:rPr sz="1000" b="1">
                <a:solidFill>
                  <a:srgbClr val="0F2A3A"/>
                </a:solidFill>
                <a:latin typeface="DejaVu Sans Mono"/>
              </a:rPr>
              <a:t>Day 0</a:t>
            </a:r>
          </a:p>
        </p:txBody>
      </p:sp>
      <p:sp>
        <p:nvSpPr>
          <p:cNvPr id="48" name="Oval 47"/>
          <p:cNvSpPr/>
          <p:nvPr/>
        </p:nvSpPr>
        <p:spPr>
          <a:xfrm>
            <a:off x="6013551" y="5381244"/>
            <a:ext cx="164592" cy="164592"/>
          </a:xfrm>
          <a:prstGeom prst="ellipse">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181447" y="5605272"/>
            <a:ext cx="1828800" cy="274320"/>
          </a:xfrm>
          <a:prstGeom prst="rect">
            <a:avLst/>
          </a:prstGeom>
          <a:noFill/>
        </p:spPr>
        <p:txBody>
          <a:bodyPr wrap="square" lIns="0" rIns="0" tIns="0" bIns="0" anchor="t">
            <a:spAutoFit/>
          </a:bodyPr>
          <a:lstStyle/>
          <a:p>
            <a:pPr algn="ctr">
              <a:lnSpc>
                <a:spcPct val="115000"/>
              </a:lnSpc>
              <a:spcAft>
                <a:spcPts val="0"/>
              </a:spcAft>
            </a:pPr>
            <a:r>
              <a:rPr sz="1000" b="1">
                <a:solidFill>
                  <a:srgbClr val="0F2A3A"/>
                </a:solidFill>
                <a:latin typeface="DejaVu Sans Mono"/>
              </a:rPr>
              <a:t>7 days</a:t>
            </a:r>
          </a:p>
        </p:txBody>
      </p:sp>
      <p:sp>
        <p:nvSpPr>
          <p:cNvPr id="50" name="Oval 49"/>
          <p:cNvSpPr/>
          <p:nvPr/>
        </p:nvSpPr>
        <p:spPr>
          <a:xfrm>
            <a:off x="10531784" y="5381244"/>
            <a:ext cx="164592" cy="164592"/>
          </a:xfrm>
          <a:prstGeom prst="ellipse">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699680" y="5605272"/>
            <a:ext cx="1828800" cy="274320"/>
          </a:xfrm>
          <a:prstGeom prst="rect">
            <a:avLst/>
          </a:prstGeom>
          <a:noFill/>
        </p:spPr>
        <p:txBody>
          <a:bodyPr wrap="square" lIns="0" rIns="0" tIns="0" bIns="0" anchor="t">
            <a:spAutoFit/>
          </a:bodyPr>
          <a:lstStyle/>
          <a:p>
            <a:pPr algn="ctr">
              <a:lnSpc>
                <a:spcPct val="115000"/>
              </a:lnSpc>
              <a:spcAft>
                <a:spcPts val="0"/>
              </a:spcAft>
            </a:pPr>
            <a:r>
              <a:rPr sz="1000" b="1">
                <a:solidFill>
                  <a:srgbClr val="0F2A3A"/>
                </a:solidFill>
                <a:latin typeface="DejaVu Sans Mono"/>
              </a:rPr>
              <a:t>3 months</a:t>
            </a:r>
          </a:p>
        </p:txBody>
      </p:sp>
      <p:sp>
        <p:nvSpPr>
          <p:cNvPr id="52" name="TextBox 51"/>
          <p:cNvSpPr txBox="1"/>
          <p:nvPr/>
        </p:nvSpPr>
        <p:spPr>
          <a:xfrm>
            <a:off x="548640" y="5943600"/>
            <a:ext cx="11094415" cy="320040"/>
          </a:xfrm>
          <a:prstGeom prst="rect">
            <a:avLst/>
          </a:prstGeom>
          <a:noFill/>
        </p:spPr>
        <p:txBody>
          <a:bodyPr wrap="square" lIns="0" rIns="0" tIns="0" bIns="0" anchor="t">
            <a:spAutoFit/>
          </a:bodyPr>
          <a:lstStyle/>
          <a:p>
            <a:pPr algn="ctr">
              <a:lnSpc>
                <a:spcPct val="115000"/>
              </a:lnSpc>
              <a:spcAft>
                <a:spcPts val="0"/>
              </a:spcAft>
            </a:pPr>
            <a:r>
              <a:rPr sz="1200" b="0">
                <a:solidFill>
                  <a:srgbClr val="505B63"/>
                </a:solidFill>
                <a:latin typeface="Open Sans"/>
              </a:rPr>
              <a:t>Reporting page and QR code in Romanian and English.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384048"/>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8640" y="150876"/>
            <a:ext cx="82296" cy="82296"/>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54864"/>
            <a:ext cx="3657600" cy="274320"/>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unpruuf Compliance</a:t>
            </a:r>
          </a:p>
        </p:txBody>
      </p:sp>
      <p:sp>
        <p:nvSpPr>
          <p:cNvPr id="6" name="TextBox 5"/>
          <p:cNvSpPr txBox="1"/>
          <p:nvPr/>
        </p:nvSpPr>
        <p:spPr>
          <a:xfrm>
            <a:off x="3383280" y="54864"/>
            <a:ext cx="5394960" cy="274320"/>
          </a:xfrm>
          <a:prstGeom prst="rect">
            <a:avLst/>
          </a:prstGeom>
          <a:noFill/>
        </p:spPr>
        <p:txBody>
          <a:bodyPr wrap="square" lIns="0" rIns="0" tIns="0" bIns="0" anchor="ctr">
            <a:spAutoFit/>
          </a:bodyPr>
          <a:lstStyle/>
          <a:p>
            <a:pPr algn="ctr">
              <a:lnSpc>
                <a:spcPct val="115000"/>
              </a:lnSpc>
              <a:spcAft>
                <a:spcPts val="0"/>
              </a:spcAft>
            </a:pPr>
            <a:r>
              <a:rPr sz="950" b="0">
                <a:solidFill>
                  <a:srgbClr val="505B63"/>
                </a:solidFill>
                <a:latin typeface="DejaVu Sans Mono"/>
              </a:rPr>
              <a:t>Tested · not independently audited · not certified</a:t>
            </a:r>
          </a:p>
        </p:txBody>
      </p:sp>
      <p:sp>
        <p:nvSpPr>
          <p:cNvPr id="7" name="TextBox 6"/>
          <p:cNvSpPr txBox="1"/>
          <p:nvPr/>
        </p:nvSpPr>
        <p:spPr>
          <a:xfrm>
            <a:off x="9814255" y="54864"/>
            <a:ext cx="1828800" cy="274320"/>
          </a:xfrm>
          <a:prstGeom prst="rect">
            <a:avLst/>
          </a:prstGeom>
          <a:noFill/>
        </p:spPr>
        <p:txBody>
          <a:bodyPr wrap="square" lIns="0" rIns="0" tIns="0" bIns="0" anchor="ctr">
            <a:spAutoFit/>
          </a:bodyPr>
          <a:lstStyle/>
          <a:p>
            <a:pPr algn="r">
              <a:lnSpc>
                <a:spcPct val="115000"/>
              </a:lnSpc>
              <a:spcAft>
                <a:spcPts val="0"/>
              </a:spcAft>
            </a:pPr>
            <a:r>
              <a:rPr sz="1000" b="1">
                <a:solidFill>
                  <a:srgbClr val="307098"/>
                </a:solidFill>
                <a:latin typeface="DejaVu Sans Mono"/>
              </a:rPr>
              <a:t>EN</a:t>
            </a:r>
          </a:p>
        </p:txBody>
      </p:sp>
      <p:sp>
        <p:nvSpPr>
          <p:cNvPr id="8" name="Rectangle 7"/>
          <p:cNvSpPr/>
          <p:nvPr/>
        </p:nvSpPr>
        <p:spPr>
          <a:xfrm>
            <a:off x="0" y="6355080"/>
            <a:ext cx="12191695"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6355080"/>
            <a:ext cx="12191695" cy="10972"/>
          </a:xfrm>
          <a:prstGeom prst="rect">
            <a:avLst/>
          </a:prstGeom>
          <a:solidFill>
            <a:srgbClr val="D9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exonai-logo.png"/>
          <p:cNvPicPr>
            <a:picLocks noChangeAspect="1"/>
          </p:cNvPicPr>
          <p:nvPr/>
        </p:nvPicPr>
        <p:blipFill>
          <a:blip r:embed="rId2"/>
          <a:stretch>
            <a:fillRect/>
          </a:stretch>
        </p:blipFill>
        <p:spPr>
          <a:xfrm>
            <a:off x="548640" y="6446520"/>
            <a:ext cx="881829" cy="329184"/>
          </a:xfrm>
          <a:prstGeom prst="rect">
            <a:avLst/>
          </a:prstGeom>
        </p:spPr>
      </p:pic>
      <p:sp>
        <p:nvSpPr>
          <p:cNvPr id="11" name="TextBox 10"/>
          <p:cNvSpPr txBox="1"/>
          <p:nvPr/>
        </p:nvSpPr>
        <p:spPr>
          <a:xfrm>
            <a:off x="1613348" y="6446520"/>
            <a:ext cx="3657600" cy="329184"/>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Open Sans"/>
              </a:rPr>
              <a:t>NexonAI Consulting SRL</a:t>
            </a:r>
          </a:p>
        </p:txBody>
      </p:sp>
      <p:sp>
        <p:nvSpPr>
          <p:cNvPr id="12" name="TextBox 11"/>
          <p:cNvSpPr txBox="1"/>
          <p:nvPr/>
        </p:nvSpPr>
        <p:spPr>
          <a:xfrm>
            <a:off x="7071055" y="6446520"/>
            <a:ext cx="4572000" cy="329184"/>
          </a:xfrm>
          <a:prstGeom prst="rect">
            <a:avLst/>
          </a:prstGeom>
          <a:noFill/>
        </p:spPr>
        <p:txBody>
          <a:bodyPr wrap="square" lIns="0" rIns="0" tIns="0" bIns="0" anchor="ctr">
            <a:spAutoFit/>
          </a:bodyPr>
          <a:lstStyle/>
          <a:p>
            <a:pPr algn="r">
              <a:lnSpc>
                <a:spcPct val="115000"/>
              </a:lnSpc>
              <a:spcAft>
                <a:spcPts val="0"/>
              </a:spcAft>
            </a:pPr>
            <a:r>
              <a:rPr sz="950" b="0">
                <a:solidFill>
                  <a:srgbClr val="505B63"/>
                </a:solidFill>
                <a:latin typeface="DejaVu Sans Mono"/>
              </a:rPr>
              <a:t>Alba Iulia  ·  unpruuf@nexonai.ro  ·  4 / 6</a:t>
            </a:r>
          </a:p>
        </p:txBody>
      </p:sp>
      <p:sp>
        <p:nvSpPr>
          <p:cNvPr id="13" name="TextBox 12"/>
          <p:cNvSpPr txBox="1"/>
          <p:nvPr/>
        </p:nvSpPr>
        <p:spPr>
          <a:xfrm>
            <a:off x="548640" y="658368"/>
            <a:ext cx="8229600" cy="274320"/>
          </a:xfrm>
          <a:prstGeom prst="rect">
            <a:avLst/>
          </a:prstGeom>
          <a:noFill/>
        </p:spPr>
        <p:txBody>
          <a:bodyPr wrap="square" lIns="0" rIns="0" tIns="0" bIns="0" anchor="t">
            <a:spAutoFit/>
          </a:bodyPr>
          <a:lstStyle/>
          <a:p>
            <a:pPr algn="l">
              <a:lnSpc>
                <a:spcPct val="115000"/>
              </a:lnSpc>
              <a:spcAft>
                <a:spcPts val="0"/>
              </a:spcAft>
            </a:pPr>
            <a:r>
              <a:rPr sz="1050" b="1">
                <a:solidFill>
                  <a:srgbClr val="307098"/>
                </a:solidFill>
                <a:latin typeface="DejaVu Sans Mono"/>
              </a:rPr>
              <a:t>CASE HANDLING AND DEADLINES</a:t>
            </a:r>
          </a:p>
        </p:txBody>
      </p:sp>
      <p:sp>
        <p:nvSpPr>
          <p:cNvPr id="14" name="TextBox 13"/>
          <p:cNvSpPr txBox="1"/>
          <p:nvPr/>
        </p:nvSpPr>
        <p:spPr>
          <a:xfrm>
            <a:off x="548640" y="969264"/>
            <a:ext cx="11094415" cy="640080"/>
          </a:xfrm>
          <a:prstGeom prst="rect">
            <a:avLst/>
          </a:prstGeom>
          <a:noFill/>
        </p:spPr>
        <p:txBody>
          <a:bodyPr wrap="square" lIns="0" rIns="0" tIns="0" bIns="0" anchor="t">
            <a:spAutoFit/>
          </a:bodyPr>
          <a:lstStyle/>
          <a:p>
            <a:pPr algn="l">
              <a:lnSpc>
                <a:spcPct val="115000"/>
              </a:lnSpc>
              <a:spcAft>
                <a:spcPts val="0"/>
              </a:spcAft>
            </a:pPr>
            <a:r>
              <a:rPr sz="3000" b="1">
                <a:solidFill>
                  <a:srgbClr val="172733"/>
                </a:solidFill>
                <a:latin typeface="Open Sans"/>
              </a:rPr>
              <a:t>Every case in one overview.</a:t>
            </a:r>
          </a:p>
        </p:txBody>
      </p:sp>
      <p:sp>
        <p:nvSpPr>
          <p:cNvPr id="15" name="Rounded Rectangle 14"/>
          <p:cNvSpPr/>
          <p:nvPr/>
        </p:nvSpPr>
        <p:spPr>
          <a:xfrm>
            <a:off x="548640" y="1600200"/>
            <a:ext cx="5806440" cy="3749039"/>
          </a:xfrm>
          <a:prstGeom prst="roundRect">
            <a:avLst>
              <a:gd name="adj" fmla="val 4073"/>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777240" y="1801368"/>
            <a:ext cx="1058875" cy="274320"/>
          </a:xfrm>
          <a:prstGeom prst="roundRect">
            <a:avLst>
              <a:gd name="adj" fmla="val 50000"/>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1801368"/>
            <a:ext cx="1058875" cy="274320"/>
          </a:xfrm>
          <a:prstGeom prst="rect">
            <a:avLst/>
          </a:prstGeom>
          <a:noFill/>
        </p:spPr>
        <p:txBody>
          <a:bodyPr wrap="square" lIns="0" rIns="0" tIns="0" bIns="0" anchor="ctr">
            <a:spAutoFit/>
          </a:bodyPr>
          <a:lstStyle/>
          <a:p>
            <a:pPr algn="ctr">
              <a:lnSpc>
                <a:spcPct val="115000"/>
              </a:lnSpc>
              <a:spcAft>
                <a:spcPts val="0"/>
              </a:spcAft>
            </a:pPr>
            <a:r>
              <a:rPr sz="900" b="1">
                <a:solidFill>
                  <a:srgbClr val="A8500F"/>
                </a:solidFill>
                <a:latin typeface="DejaVu Sans Mono"/>
              </a:rPr>
              <a:t>Illustration</a:t>
            </a:r>
          </a:p>
        </p:txBody>
      </p:sp>
      <p:sp>
        <p:nvSpPr>
          <p:cNvPr id="18" name="Rounded Rectangle 17"/>
          <p:cNvSpPr/>
          <p:nvPr/>
        </p:nvSpPr>
        <p:spPr>
          <a:xfrm>
            <a:off x="777240" y="2240280"/>
            <a:ext cx="5349240" cy="411480"/>
          </a:xfrm>
          <a:prstGeom prst="roundRect">
            <a:avLst>
              <a:gd name="adj" fmla="val 13333"/>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0120" y="2240280"/>
            <a:ext cx="2743200" cy="411480"/>
          </a:xfrm>
          <a:prstGeom prst="rect">
            <a:avLst/>
          </a:prstGeom>
          <a:noFill/>
        </p:spPr>
        <p:txBody>
          <a:bodyPr wrap="square" lIns="0" rIns="0" tIns="0" bIns="0" anchor="ctr">
            <a:spAutoFit/>
          </a:bodyPr>
          <a:lstStyle/>
          <a:p>
            <a:pPr algn="l">
              <a:lnSpc>
                <a:spcPct val="115000"/>
              </a:lnSpc>
              <a:spcAft>
                <a:spcPts val="0"/>
              </a:spcAft>
            </a:pPr>
            <a:r>
              <a:rPr sz="1200" b="1">
                <a:solidFill>
                  <a:srgbClr val="FFFFFF"/>
                </a:solidFill>
                <a:latin typeface="Open Sans"/>
              </a:rPr>
              <a:t>Cases</a:t>
            </a:r>
          </a:p>
        </p:txBody>
      </p:sp>
      <p:sp>
        <p:nvSpPr>
          <p:cNvPr id="20" name="TextBox 19"/>
          <p:cNvSpPr txBox="1"/>
          <p:nvPr/>
        </p:nvSpPr>
        <p:spPr>
          <a:xfrm>
            <a:off x="960120" y="2788920"/>
            <a:ext cx="1828800" cy="228600"/>
          </a:xfrm>
          <a:prstGeom prst="rect">
            <a:avLst/>
          </a:prstGeom>
          <a:noFill/>
        </p:spPr>
        <p:txBody>
          <a:bodyPr wrap="square" lIns="0" rIns="0" tIns="0" bIns="0" anchor="t">
            <a:spAutoFit/>
          </a:bodyPr>
          <a:lstStyle/>
          <a:p>
            <a:pPr algn="l">
              <a:lnSpc>
                <a:spcPct val="115000"/>
              </a:lnSpc>
              <a:spcAft>
                <a:spcPts val="0"/>
              </a:spcAft>
            </a:pPr>
            <a:r>
              <a:rPr sz="850" b="1">
                <a:solidFill>
                  <a:srgbClr val="505B63"/>
                </a:solidFill>
                <a:latin typeface="DejaVu Sans Mono"/>
              </a:rPr>
              <a:t>CASE CODE</a:t>
            </a:r>
          </a:p>
        </p:txBody>
      </p:sp>
      <p:sp>
        <p:nvSpPr>
          <p:cNvPr id="21" name="TextBox 20"/>
          <p:cNvSpPr txBox="1"/>
          <p:nvPr/>
        </p:nvSpPr>
        <p:spPr>
          <a:xfrm>
            <a:off x="2560320" y="2788920"/>
            <a:ext cx="1828800" cy="228600"/>
          </a:xfrm>
          <a:prstGeom prst="rect">
            <a:avLst/>
          </a:prstGeom>
          <a:noFill/>
        </p:spPr>
        <p:txBody>
          <a:bodyPr wrap="square" lIns="0" rIns="0" tIns="0" bIns="0" anchor="t">
            <a:spAutoFit/>
          </a:bodyPr>
          <a:lstStyle/>
          <a:p>
            <a:pPr algn="l">
              <a:lnSpc>
                <a:spcPct val="115000"/>
              </a:lnSpc>
              <a:spcAft>
                <a:spcPts val="0"/>
              </a:spcAft>
            </a:pPr>
            <a:r>
              <a:rPr sz="850" b="1">
                <a:solidFill>
                  <a:srgbClr val="505B63"/>
                </a:solidFill>
                <a:latin typeface="DejaVu Sans Mono"/>
              </a:rPr>
              <a:t>CATEGORY</a:t>
            </a:r>
          </a:p>
        </p:txBody>
      </p:sp>
      <p:sp>
        <p:nvSpPr>
          <p:cNvPr id="22" name="TextBox 21"/>
          <p:cNvSpPr txBox="1"/>
          <p:nvPr/>
        </p:nvSpPr>
        <p:spPr>
          <a:xfrm>
            <a:off x="3977639" y="2788920"/>
            <a:ext cx="1828800" cy="228600"/>
          </a:xfrm>
          <a:prstGeom prst="rect">
            <a:avLst/>
          </a:prstGeom>
          <a:noFill/>
        </p:spPr>
        <p:txBody>
          <a:bodyPr wrap="square" lIns="0" rIns="0" tIns="0" bIns="0" anchor="t">
            <a:spAutoFit/>
          </a:bodyPr>
          <a:lstStyle/>
          <a:p>
            <a:pPr algn="l">
              <a:lnSpc>
                <a:spcPct val="115000"/>
              </a:lnSpc>
              <a:spcAft>
                <a:spcPts val="0"/>
              </a:spcAft>
            </a:pPr>
            <a:r>
              <a:rPr sz="850" b="1">
                <a:solidFill>
                  <a:srgbClr val="505B63"/>
                </a:solidFill>
                <a:latin typeface="DejaVu Sans Mono"/>
              </a:rPr>
              <a:t>NEXT DEADLINE</a:t>
            </a:r>
          </a:p>
        </p:txBody>
      </p:sp>
      <p:sp>
        <p:nvSpPr>
          <p:cNvPr id="23" name="Rounded Rectangle 22"/>
          <p:cNvSpPr/>
          <p:nvPr/>
        </p:nvSpPr>
        <p:spPr>
          <a:xfrm>
            <a:off x="777240" y="3081528"/>
            <a:ext cx="5349240" cy="438912"/>
          </a:xfrm>
          <a:prstGeom prst="roundRect">
            <a:avLst>
              <a:gd name="adj" fmla="val 12500"/>
            </a:avLst>
          </a:prstGeom>
          <a:solidFill>
            <a:srgbClr val="F7F9FA"/>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60120" y="3081528"/>
            <a:ext cx="1645920" cy="438912"/>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HW-M8ZC-4NQ7</a:t>
            </a:r>
          </a:p>
        </p:txBody>
      </p:sp>
      <p:sp>
        <p:nvSpPr>
          <p:cNvPr id="25" name="TextBox 24"/>
          <p:cNvSpPr txBox="1"/>
          <p:nvPr/>
        </p:nvSpPr>
        <p:spPr>
          <a:xfrm>
            <a:off x="2560320" y="3081528"/>
            <a:ext cx="1463040" cy="438912"/>
          </a:xfrm>
          <a:prstGeom prst="rect">
            <a:avLst/>
          </a:prstGeom>
          <a:noFill/>
        </p:spPr>
        <p:txBody>
          <a:bodyPr wrap="square" lIns="0" rIns="0" tIns="0" bIns="0" anchor="ctr">
            <a:spAutoFit/>
          </a:bodyPr>
          <a:lstStyle/>
          <a:p>
            <a:pPr algn="l">
              <a:lnSpc>
                <a:spcPct val="115000"/>
              </a:lnSpc>
              <a:spcAft>
                <a:spcPts val="0"/>
              </a:spcAft>
            </a:pPr>
            <a:r>
              <a:rPr sz="1050" b="0">
                <a:solidFill>
                  <a:srgbClr val="172733"/>
                </a:solidFill>
                <a:latin typeface="Open Sans"/>
              </a:rPr>
              <a:t>Conflict of interest</a:t>
            </a:r>
          </a:p>
        </p:txBody>
      </p:sp>
      <p:sp>
        <p:nvSpPr>
          <p:cNvPr id="26" name="Oval 25"/>
          <p:cNvSpPr/>
          <p:nvPr/>
        </p:nvSpPr>
        <p:spPr>
          <a:xfrm>
            <a:off x="3977639" y="3246120"/>
            <a:ext cx="109728" cy="109728"/>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60520" y="3081528"/>
            <a:ext cx="2011680" cy="438912"/>
          </a:xfrm>
          <a:prstGeom prst="rect">
            <a:avLst/>
          </a:prstGeom>
          <a:noFill/>
        </p:spPr>
        <p:txBody>
          <a:bodyPr wrap="square" lIns="0" rIns="0" tIns="0" bIns="0" anchor="ctr">
            <a:spAutoFit/>
          </a:bodyPr>
          <a:lstStyle/>
          <a:p>
            <a:pPr algn="l">
              <a:lnSpc>
                <a:spcPct val="115000"/>
              </a:lnSpc>
              <a:spcAft>
                <a:spcPts val="0"/>
              </a:spcAft>
            </a:pPr>
            <a:r>
              <a:rPr sz="1050" b="1">
                <a:solidFill>
                  <a:srgbClr val="B3261E"/>
                </a:solidFill>
                <a:latin typeface="Open Sans"/>
              </a:rPr>
              <a:t>Acknowledge · today</a:t>
            </a:r>
          </a:p>
        </p:txBody>
      </p:sp>
      <p:sp>
        <p:nvSpPr>
          <p:cNvPr id="28" name="Rounded Rectangle 27"/>
          <p:cNvSpPr/>
          <p:nvPr/>
        </p:nvSpPr>
        <p:spPr>
          <a:xfrm>
            <a:off x="777240" y="3593592"/>
            <a:ext cx="5349240" cy="438912"/>
          </a:xfrm>
          <a:prstGeom prst="roundRect">
            <a:avLst>
              <a:gd name="adj" fmla="val 12500"/>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60120" y="3593592"/>
            <a:ext cx="1645920" cy="438912"/>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HW-7Q4M-2X9D</a:t>
            </a:r>
          </a:p>
        </p:txBody>
      </p:sp>
      <p:sp>
        <p:nvSpPr>
          <p:cNvPr id="30" name="TextBox 29"/>
          <p:cNvSpPr txBox="1"/>
          <p:nvPr/>
        </p:nvSpPr>
        <p:spPr>
          <a:xfrm>
            <a:off x="2560320" y="3593592"/>
            <a:ext cx="1463040" cy="438912"/>
          </a:xfrm>
          <a:prstGeom prst="rect">
            <a:avLst/>
          </a:prstGeom>
          <a:noFill/>
        </p:spPr>
        <p:txBody>
          <a:bodyPr wrap="square" lIns="0" rIns="0" tIns="0" bIns="0" anchor="ctr">
            <a:spAutoFit/>
          </a:bodyPr>
          <a:lstStyle/>
          <a:p>
            <a:pPr algn="l">
              <a:lnSpc>
                <a:spcPct val="115000"/>
              </a:lnSpc>
              <a:spcAft>
                <a:spcPts val="0"/>
              </a:spcAft>
            </a:pPr>
            <a:r>
              <a:rPr sz="1050" b="0">
                <a:solidFill>
                  <a:srgbClr val="172733"/>
                </a:solidFill>
                <a:latin typeface="Open Sans"/>
              </a:rPr>
              <a:t>Fraud</a:t>
            </a:r>
          </a:p>
        </p:txBody>
      </p:sp>
      <p:sp>
        <p:nvSpPr>
          <p:cNvPr id="31" name="Oval 30"/>
          <p:cNvSpPr/>
          <p:nvPr/>
        </p:nvSpPr>
        <p:spPr>
          <a:xfrm>
            <a:off x="3977639" y="3758184"/>
            <a:ext cx="109728" cy="109728"/>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160520" y="3593592"/>
            <a:ext cx="2011680" cy="438912"/>
          </a:xfrm>
          <a:prstGeom prst="rect">
            <a:avLst/>
          </a:prstGeom>
          <a:noFill/>
        </p:spPr>
        <p:txBody>
          <a:bodyPr wrap="square" lIns="0" rIns="0" tIns="0" bIns="0" anchor="ctr">
            <a:spAutoFit/>
          </a:bodyPr>
          <a:lstStyle/>
          <a:p>
            <a:pPr algn="l">
              <a:lnSpc>
                <a:spcPct val="115000"/>
              </a:lnSpc>
              <a:spcAft>
                <a:spcPts val="0"/>
              </a:spcAft>
            </a:pPr>
            <a:r>
              <a:rPr sz="1050" b="1">
                <a:solidFill>
                  <a:srgbClr val="B7791F"/>
                </a:solidFill>
                <a:latin typeface="Open Sans"/>
              </a:rPr>
              <a:t>Acknowledge · 2 days</a:t>
            </a:r>
          </a:p>
        </p:txBody>
      </p:sp>
      <p:sp>
        <p:nvSpPr>
          <p:cNvPr id="33" name="Rounded Rectangle 32"/>
          <p:cNvSpPr/>
          <p:nvPr/>
        </p:nvSpPr>
        <p:spPr>
          <a:xfrm>
            <a:off x="777240" y="4105656"/>
            <a:ext cx="5349240" cy="438912"/>
          </a:xfrm>
          <a:prstGeom prst="roundRect">
            <a:avLst>
              <a:gd name="adj" fmla="val 12500"/>
            </a:avLst>
          </a:prstGeom>
          <a:solidFill>
            <a:srgbClr val="F7F9FA"/>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60120" y="4105656"/>
            <a:ext cx="1645920" cy="438912"/>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HW-K3PA-9T6R</a:t>
            </a:r>
          </a:p>
        </p:txBody>
      </p:sp>
      <p:sp>
        <p:nvSpPr>
          <p:cNvPr id="35" name="TextBox 34"/>
          <p:cNvSpPr txBox="1"/>
          <p:nvPr/>
        </p:nvSpPr>
        <p:spPr>
          <a:xfrm>
            <a:off x="2560320" y="4105656"/>
            <a:ext cx="1463040" cy="438912"/>
          </a:xfrm>
          <a:prstGeom prst="rect">
            <a:avLst/>
          </a:prstGeom>
          <a:noFill/>
        </p:spPr>
        <p:txBody>
          <a:bodyPr wrap="square" lIns="0" rIns="0" tIns="0" bIns="0" anchor="ctr">
            <a:spAutoFit/>
          </a:bodyPr>
          <a:lstStyle/>
          <a:p>
            <a:pPr algn="l">
              <a:lnSpc>
                <a:spcPct val="115000"/>
              </a:lnSpc>
              <a:spcAft>
                <a:spcPts val="0"/>
              </a:spcAft>
            </a:pPr>
            <a:r>
              <a:rPr sz="1050" b="0">
                <a:solidFill>
                  <a:srgbClr val="172733"/>
                </a:solidFill>
                <a:latin typeface="Open Sans"/>
              </a:rPr>
              <a:t>Safety</a:t>
            </a:r>
          </a:p>
        </p:txBody>
      </p:sp>
      <p:sp>
        <p:nvSpPr>
          <p:cNvPr id="36" name="Oval 35"/>
          <p:cNvSpPr/>
          <p:nvPr/>
        </p:nvSpPr>
        <p:spPr>
          <a:xfrm>
            <a:off x="3977639" y="4270248"/>
            <a:ext cx="109728" cy="109728"/>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160520" y="4105656"/>
            <a:ext cx="2011680" cy="438912"/>
          </a:xfrm>
          <a:prstGeom prst="rect">
            <a:avLst/>
          </a:prstGeom>
          <a:noFill/>
        </p:spPr>
        <p:txBody>
          <a:bodyPr wrap="square" lIns="0" rIns="0" tIns="0" bIns="0" anchor="ctr">
            <a:spAutoFit/>
          </a:bodyPr>
          <a:lstStyle/>
          <a:p>
            <a:pPr algn="l">
              <a:lnSpc>
                <a:spcPct val="115000"/>
              </a:lnSpc>
              <a:spcAft>
                <a:spcPts val="0"/>
              </a:spcAft>
            </a:pPr>
            <a:r>
              <a:rPr sz="1050" b="1">
                <a:solidFill>
                  <a:srgbClr val="2E7D4F"/>
                </a:solidFill>
                <a:latin typeface="Open Sans"/>
              </a:rPr>
              <a:t>Feedback · 74 days</a:t>
            </a:r>
          </a:p>
        </p:txBody>
      </p:sp>
      <p:sp>
        <p:nvSpPr>
          <p:cNvPr id="38" name="Rounded Rectangle 37"/>
          <p:cNvSpPr/>
          <p:nvPr/>
        </p:nvSpPr>
        <p:spPr>
          <a:xfrm>
            <a:off x="777240" y="4617720"/>
            <a:ext cx="5349240" cy="438912"/>
          </a:xfrm>
          <a:prstGeom prst="roundRect">
            <a:avLst>
              <a:gd name="adj" fmla="val 12500"/>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60120" y="4617720"/>
            <a:ext cx="1645920" cy="438912"/>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HW-D4XV-8KMC</a:t>
            </a:r>
          </a:p>
        </p:txBody>
      </p:sp>
      <p:sp>
        <p:nvSpPr>
          <p:cNvPr id="40" name="TextBox 39"/>
          <p:cNvSpPr txBox="1"/>
          <p:nvPr/>
        </p:nvSpPr>
        <p:spPr>
          <a:xfrm>
            <a:off x="2560320" y="4617720"/>
            <a:ext cx="1463040" cy="438912"/>
          </a:xfrm>
          <a:prstGeom prst="rect">
            <a:avLst/>
          </a:prstGeom>
          <a:noFill/>
        </p:spPr>
        <p:txBody>
          <a:bodyPr wrap="square" lIns="0" rIns="0" tIns="0" bIns="0" anchor="ctr">
            <a:spAutoFit/>
          </a:bodyPr>
          <a:lstStyle/>
          <a:p>
            <a:pPr algn="l">
              <a:lnSpc>
                <a:spcPct val="115000"/>
              </a:lnSpc>
              <a:spcAft>
                <a:spcPts val="0"/>
              </a:spcAft>
            </a:pPr>
            <a:r>
              <a:rPr sz="1050" b="0">
                <a:solidFill>
                  <a:srgbClr val="172733"/>
                </a:solidFill>
                <a:latin typeface="Open Sans"/>
              </a:rPr>
              <a:t>Harassment</a:t>
            </a:r>
          </a:p>
        </p:txBody>
      </p:sp>
      <p:sp>
        <p:nvSpPr>
          <p:cNvPr id="41" name="Oval 40"/>
          <p:cNvSpPr/>
          <p:nvPr/>
        </p:nvSpPr>
        <p:spPr>
          <a:xfrm>
            <a:off x="3977639" y="4782312"/>
            <a:ext cx="109728" cy="109728"/>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160520" y="4617720"/>
            <a:ext cx="2011680" cy="438912"/>
          </a:xfrm>
          <a:prstGeom prst="rect">
            <a:avLst/>
          </a:prstGeom>
          <a:noFill/>
        </p:spPr>
        <p:txBody>
          <a:bodyPr wrap="square" lIns="0" rIns="0" tIns="0" bIns="0" anchor="ctr">
            <a:spAutoFit/>
          </a:bodyPr>
          <a:lstStyle/>
          <a:p>
            <a:pPr algn="l">
              <a:lnSpc>
                <a:spcPct val="115000"/>
              </a:lnSpc>
              <a:spcAft>
                <a:spcPts val="0"/>
              </a:spcAft>
            </a:pPr>
            <a:r>
              <a:rPr sz="1050" b="1">
                <a:solidFill>
                  <a:srgbClr val="2E7D4F"/>
                </a:solidFill>
                <a:latin typeface="Open Sans"/>
              </a:rPr>
              <a:t>Feedback · 81 days</a:t>
            </a:r>
          </a:p>
        </p:txBody>
      </p:sp>
      <p:sp>
        <p:nvSpPr>
          <p:cNvPr id="43" name="Rounded Rectangle 42"/>
          <p:cNvSpPr/>
          <p:nvPr/>
        </p:nvSpPr>
        <p:spPr>
          <a:xfrm>
            <a:off x="3931920" y="2295144"/>
            <a:ext cx="960120" cy="301752"/>
          </a:xfrm>
          <a:prstGeom prst="roundRect">
            <a:avLst>
              <a:gd name="adj" fmla="val 24242"/>
            </a:avLst>
          </a:prstGeom>
          <a:solidFill>
            <a:srgbClr val="FFFFFF"/>
          </a:solidFill>
          <a:ln w="9525">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3931920" y="2295144"/>
            <a:ext cx="960120" cy="301752"/>
          </a:xfrm>
          <a:prstGeom prst="rect">
            <a:avLst/>
          </a:prstGeom>
          <a:noFill/>
        </p:spPr>
        <p:txBody>
          <a:bodyPr wrap="square" lIns="0" rIns="0" tIns="0" bIns="0" anchor="ctr">
            <a:spAutoFit/>
          </a:bodyPr>
          <a:lstStyle/>
          <a:p>
            <a:pPr algn="ctr">
              <a:lnSpc>
                <a:spcPct val="115000"/>
              </a:lnSpc>
              <a:spcAft>
                <a:spcPts val="0"/>
              </a:spcAft>
            </a:pPr>
            <a:r>
              <a:rPr sz="1050" b="1">
                <a:solidFill>
                  <a:srgbClr val="307098"/>
                </a:solidFill>
                <a:latin typeface="Open Sans"/>
              </a:rPr>
              <a:t>Export</a:t>
            </a:r>
          </a:p>
        </p:txBody>
      </p:sp>
      <p:sp>
        <p:nvSpPr>
          <p:cNvPr id="45" name="Rounded Rectangle 44"/>
          <p:cNvSpPr/>
          <p:nvPr/>
        </p:nvSpPr>
        <p:spPr>
          <a:xfrm>
            <a:off x="4983479" y="2295144"/>
            <a:ext cx="960120" cy="301752"/>
          </a:xfrm>
          <a:prstGeom prst="roundRect">
            <a:avLst>
              <a:gd name="adj" fmla="val 24242"/>
            </a:avLst>
          </a:prstGeom>
          <a:solidFill>
            <a:srgbClr val="FFFFFF"/>
          </a:solidFill>
          <a:ln w="952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4983479" y="2295144"/>
            <a:ext cx="960120" cy="301752"/>
          </a:xfrm>
          <a:prstGeom prst="rect">
            <a:avLst/>
          </a:prstGeom>
          <a:noFill/>
        </p:spPr>
        <p:txBody>
          <a:bodyPr wrap="square" lIns="0" rIns="0" tIns="0" bIns="0" anchor="ctr">
            <a:spAutoFit/>
          </a:bodyPr>
          <a:lstStyle/>
          <a:p>
            <a:pPr algn="ctr">
              <a:lnSpc>
                <a:spcPct val="115000"/>
              </a:lnSpc>
              <a:spcAft>
                <a:spcPts val="0"/>
              </a:spcAft>
            </a:pPr>
            <a:r>
              <a:rPr sz="1050" b="1">
                <a:solidFill>
                  <a:srgbClr val="B3261E"/>
                </a:solidFill>
                <a:latin typeface="Open Sans"/>
              </a:rPr>
              <a:t>Delete</a:t>
            </a:r>
          </a:p>
        </p:txBody>
      </p:sp>
      <p:sp>
        <p:nvSpPr>
          <p:cNvPr id="47" name="Rectangle 46"/>
          <p:cNvSpPr/>
          <p:nvPr/>
        </p:nvSpPr>
        <p:spPr>
          <a:xfrm>
            <a:off x="6766559" y="1636776"/>
            <a:ext cx="54864" cy="713232"/>
          </a:xfrm>
          <a:prstGeom prst="rect">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995159" y="1600200"/>
            <a:ext cx="4647895" cy="274320"/>
          </a:xfrm>
          <a:prstGeom prst="rect">
            <a:avLst/>
          </a:prstGeom>
          <a:noFill/>
        </p:spPr>
        <p:txBody>
          <a:bodyPr wrap="square" lIns="0" rIns="0" tIns="0" bIns="0" anchor="t">
            <a:spAutoFit/>
          </a:bodyPr>
          <a:lstStyle/>
          <a:p>
            <a:pPr algn="l">
              <a:lnSpc>
                <a:spcPct val="115000"/>
              </a:lnSpc>
              <a:spcAft>
                <a:spcPts val="0"/>
              </a:spcAft>
            </a:pPr>
            <a:r>
              <a:rPr sz="1450" b="1">
                <a:solidFill>
                  <a:srgbClr val="172733"/>
                </a:solidFill>
                <a:latin typeface="Open Sans"/>
              </a:rPr>
              <a:t>Deadlines at a glance</a:t>
            </a:r>
          </a:p>
        </p:txBody>
      </p:sp>
      <p:sp>
        <p:nvSpPr>
          <p:cNvPr id="49" name="TextBox 48"/>
          <p:cNvSpPr txBox="1"/>
          <p:nvPr/>
        </p:nvSpPr>
        <p:spPr>
          <a:xfrm>
            <a:off x="6995159" y="1892807"/>
            <a:ext cx="4647895" cy="59436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Open cases sorted by the next deadline, marked red, amber or green.</a:t>
            </a:r>
          </a:p>
        </p:txBody>
      </p:sp>
      <p:sp>
        <p:nvSpPr>
          <p:cNvPr id="50" name="Rectangle 49"/>
          <p:cNvSpPr/>
          <p:nvPr/>
        </p:nvSpPr>
        <p:spPr>
          <a:xfrm>
            <a:off x="6766559" y="2587752"/>
            <a:ext cx="54864" cy="713232"/>
          </a:xfrm>
          <a:prstGeom prst="rect">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995159" y="2551176"/>
            <a:ext cx="4647895" cy="274320"/>
          </a:xfrm>
          <a:prstGeom prst="rect">
            <a:avLst/>
          </a:prstGeom>
          <a:noFill/>
        </p:spPr>
        <p:txBody>
          <a:bodyPr wrap="square" lIns="0" rIns="0" tIns="0" bIns="0" anchor="t">
            <a:spAutoFit/>
          </a:bodyPr>
          <a:lstStyle/>
          <a:p>
            <a:pPr algn="l">
              <a:lnSpc>
                <a:spcPct val="115000"/>
              </a:lnSpc>
              <a:spcAft>
                <a:spcPts val="0"/>
              </a:spcAft>
            </a:pPr>
            <a:r>
              <a:rPr sz="1450" b="1">
                <a:solidFill>
                  <a:srgbClr val="172733"/>
                </a:solidFill>
                <a:latin typeface="Open Sans"/>
              </a:rPr>
              <a:t>Delete a case</a:t>
            </a:r>
          </a:p>
        </p:txBody>
      </p:sp>
      <p:sp>
        <p:nvSpPr>
          <p:cNvPr id="52" name="TextBox 51"/>
          <p:cNvSpPr txBox="1"/>
          <p:nvPr/>
        </p:nvSpPr>
        <p:spPr>
          <a:xfrm>
            <a:off x="6995159" y="2843784"/>
            <a:ext cx="4647895" cy="59436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The case officer types the case code to confirm. A deletion log keeps only the case code and the time, no content.</a:t>
            </a:r>
          </a:p>
        </p:txBody>
      </p:sp>
      <p:sp>
        <p:nvSpPr>
          <p:cNvPr id="53" name="Rectangle 52"/>
          <p:cNvSpPr/>
          <p:nvPr/>
        </p:nvSpPr>
        <p:spPr>
          <a:xfrm>
            <a:off x="6766559" y="3538728"/>
            <a:ext cx="54864" cy="713232"/>
          </a:xfrm>
          <a:prstGeom prst="rect">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995159" y="3502152"/>
            <a:ext cx="4647895" cy="274320"/>
          </a:xfrm>
          <a:prstGeom prst="rect">
            <a:avLst/>
          </a:prstGeom>
          <a:noFill/>
        </p:spPr>
        <p:txBody>
          <a:bodyPr wrap="square" lIns="0" rIns="0" tIns="0" bIns="0" anchor="t">
            <a:spAutoFit/>
          </a:bodyPr>
          <a:lstStyle/>
          <a:p>
            <a:pPr algn="l">
              <a:lnSpc>
                <a:spcPct val="115000"/>
              </a:lnSpc>
              <a:spcAft>
                <a:spcPts val="0"/>
              </a:spcAft>
            </a:pPr>
            <a:r>
              <a:rPr sz="1450" b="1">
                <a:solidFill>
                  <a:srgbClr val="172733"/>
                </a:solidFill>
                <a:latin typeface="Open Sans"/>
              </a:rPr>
              <a:t>Export a case</a:t>
            </a:r>
          </a:p>
        </p:txBody>
      </p:sp>
      <p:sp>
        <p:nvSpPr>
          <p:cNvPr id="55" name="TextBox 54"/>
          <p:cNvSpPr txBox="1"/>
          <p:nvPr/>
        </p:nvSpPr>
        <p:spPr>
          <a:xfrm>
            <a:off x="6995159" y="3794760"/>
            <a:ext cx="4647895" cy="59436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A printable file in Romanian or English with dates, deadlines, status changes and the whole conversation.</a:t>
            </a:r>
          </a:p>
        </p:txBody>
      </p:sp>
      <p:sp>
        <p:nvSpPr>
          <p:cNvPr id="56" name="Rectangle 55"/>
          <p:cNvSpPr/>
          <p:nvPr/>
        </p:nvSpPr>
        <p:spPr>
          <a:xfrm>
            <a:off x="6766559" y="4489704"/>
            <a:ext cx="54864" cy="713232"/>
          </a:xfrm>
          <a:prstGeom prst="rect">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995159" y="4453128"/>
            <a:ext cx="4647895" cy="274320"/>
          </a:xfrm>
          <a:prstGeom prst="rect">
            <a:avLst/>
          </a:prstGeom>
          <a:noFill/>
        </p:spPr>
        <p:txBody>
          <a:bodyPr wrap="square" lIns="0" rIns="0" tIns="0" bIns="0" anchor="t">
            <a:spAutoFit/>
          </a:bodyPr>
          <a:lstStyle/>
          <a:p>
            <a:pPr algn="l">
              <a:lnSpc>
                <a:spcPct val="115000"/>
              </a:lnSpc>
              <a:spcAft>
                <a:spcPts val="0"/>
              </a:spcAft>
            </a:pPr>
            <a:r>
              <a:rPr sz="1450" b="1">
                <a:solidFill>
                  <a:srgbClr val="172733"/>
                </a:solidFill>
                <a:latin typeface="Open Sans"/>
              </a:rPr>
              <a:t>Evidence pack for your DPO</a:t>
            </a:r>
          </a:p>
        </p:txBody>
      </p:sp>
      <p:sp>
        <p:nvSpPr>
          <p:cNvPr id="58" name="TextBox 57"/>
          <p:cNvSpPr txBox="1"/>
          <p:nvPr/>
        </p:nvSpPr>
        <p:spPr>
          <a:xfrm>
            <a:off x="6995159" y="4745736"/>
            <a:ext cx="4647895" cy="59436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Technical overview, technical and organisational measures, impact assessment template, data processing agreement template.</a:t>
            </a:r>
          </a:p>
        </p:txBody>
      </p:sp>
      <p:sp>
        <p:nvSpPr>
          <p:cNvPr id="59" name="Rounded Rectangle 58"/>
          <p:cNvSpPr/>
          <p:nvPr/>
        </p:nvSpPr>
        <p:spPr>
          <a:xfrm>
            <a:off x="548640" y="5532120"/>
            <a:ext cx="11094415" cy="640080"/>
          </a:xfrm>
          <a:prstGeom prst="roundRect">
            <a:avLst>
              <a:gd name="adj" fmla="val 14285"/>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22959" y="5532120"/>
            <a:ext cx="10545775" cy="640080"/>
          </a:xfrm>
          <a:prstGeom prst="rect">
            <a:avLst/>
          </a:prstGeom>
          <a:noFill/>
        </p:spPr>
        <p:txBody>
          <a:bodyPr wrap="square" lIns="0" rIns="0" tIns="0" bIns="0" anchor="ctr">
            <a:spAutoFit/>
          </a:bodyPr>
          <a:lstStyle/>
          <a:p>
            <a:pPr algn="l">
              <a:lnSpc>
                <a:spcPct val="115000"/>
              </a:lnSpc>
              <a:spcAft>
                <a:spcPts val="0"/>
              </a:spcAft>
            </a:pPr>
            <a:r>
              <a:rPr sz="1100" b="0">
                <a:solidFill>
                  <a:srgbClr val="505B63"/>
                </a:solidFill>
                <a:latin typeface="Open Sans"/>
              </a:rPr>
              <a:t>The architecture supports data minimisation, storage limitation and confidentiality (GDPR Art. 5, 25, 32). Your organisation is the controller; your DPO or lawyer confirms.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384048"/>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8640" y="150876"/>
            <a:ext cx="82296" cy="82296"/>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54864"/>
            <a:ext cx="3657600" cy="274320"/>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unpruuf Compliance</a:t>
            </a:r>
          </a:p>
        </p:txBody>
      </p:sp>
      <p:sp>
        <p:nvSpPr>
          <p:cNvPr id="6" name="TextBox 5"/>
          <p:cNvSpPr txBox="1"/>
          <p:nvPr/>
        </p:nvSpPr>
        <p:spPr>
          <a:xfrm>
            <a:off x="3383280" y="54864"/>
            <a:ext cx="5394960" cy="274320"/>
          </a:xfrm>
          <a:prstGeom prst="rect">
            <a:avLst/>
          </a:prstGeom>
          <a:noFill/>
        </p:spPr>
        <p:txBody>
          <a:bodyPr wrap="square" lIns="0" rIns="0" tIns="0" bIns="0" anchor="ctr">
            <a:spAutoFit/>
          </a:bodyPr>
          <a:lstStyle/>
          <a:p>
            <a:pPr algn="ctr">
              <a:lnSpc>
                <a:spcPct val="115000"/>
              </a:lnSpc>
              <a:spcAft>
                <a:spcPts val="0"/>
              </a:spcAft>
            </a:pPr>
            <a:r>
              <a:rPr sz="950" b="0">
                <a:solidFill>
                  <a:srgbClr val="505B63"/>
                </a:solidFill>
                <a:latin typeface="DejaVu Sans Mono"/>
              </a:rPr>
              <a:t>Tested · not independently audited · not certified</a:t>
            </a:r>
          </a:p>
        </p:txBody>
      </p:sp>
      <p:sp>
        <p:nvSpPr>
          <p:cNvPr id="7" name="TextBox 6"/>
          <p:cNvSpPr txBox="1"/>
          <p:nvPr/>
        </p:nvSpPr>
        <p:spPr>
          <a:xfrm>
            <a:off x="9814255" y="54864"/>
            <a:ext cx="1828800" cy="274320"/>
          </a:xfrm>
          <a:prstGeom prst="rect">
            <a:avLst/>
          </a:prstGeom>
          <a:noFill/>
        </p:spPr>
        <p:txBody>
          <a:bodyPr wrap="square" lIns="0" rIns="0" tIns="0" bIns="0" anchor="ctr">
            <a:spAutoFit/>
          </a:bodyPr>
          <a:lstStyle/>
          <a:p>
            <a:pPr algn="r">
              <a:lnSpc>
                <a:spcPct val="115000"/>
              </a:lnSpc>
              <a:spcAft>
                <a:spcPts val="0"/>
              </a:spcAft>
            </a:pPr>
            <a:r>
              <a:rPr sz="1000" b="1">
                <a:solidFill>
                  <a:srgbClr val="307098"/>
                </a:solidFill>
                <a:latin typeface="DejaVu Sans Mono"/>
              </a:rPr>
              <a:t>EN</a:t>
            </a:r>
          </a:p>
        </p:txBody>
      </p:sp>
      <p:sp>
        <p:nvSpPr>
          <p:cNvPr id="8" name="Rectangle 7"/>
          <p:cNvSpPr/>
          <p:nvPr/>
        </p:nvSpPr>
        <p:spPr>
          <a:xfrm>
            <a:off x="0" y="6355080"/>
            <a:ext cx="12191695"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6355080"/>
            <a:ext cx="12191695" cy="10972"/>
          </a:xfrm>
          <a:prstGeom prst="rect">
            <a:avLst/>
          </a:prstGeom>
          <a:solidFill>
            <a:srgbClr val="D9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exonai-logo.png"/>
          <p:cNvPicPr>
            <a:picLocks noChangeAspect="1"/>
          </p:cNvPicPr>
          <p:nvPr/>
        </p:nvPicPr>
        <p:blipFill>
          <a:blip r:embed="rId2"/>
          <a:stretch>
            <a:fillRect/>
          </a:stretch>
        </p:blipFill>
        <p:spPr>
          <a:xfrm>
            <a:off x="548640" y="6446520"/>
            <a:ext cx="881829" cy="329184"/>
          </a:xfrm>
          <a:prstGeom prst="rect">
            <a:avLst/>
          </a:prstGeom>
        </p:spPr>
      </p:pic>
      <p:sp>
        <p:nvSpPr>
          <p:cNvPr id="11" name="TextBox 10"/>
          <p:cNvSpPr txBox="1"/>
          <p:nvPr/>
        </p:nvSpPr>
        <p:spPr>
          <a:xfrm>
            <a:off x="1613348" y="6446520"/>
            <a:ext cx="3657600" cy="329184"/>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Open Sans"/>
              </a:rPr>
              <a:t>NexonAI Consulting SRL</a:t>
            </a:r>
          </a:p>
        </p:txBody>
      </p:sp>
      <p:sp>
        <p:nvSpPr>
          <p:cNvPr id="12" name="TextBox 11"/>
          <p:cNvSpPr txBox="1"/>
          <p:nvPr/>
        </p:nvSpPr>
        <p:spPr>
          <a:xfrm>
            <a:off x="7071055" y="6446520"/>
            <a:ext cx="4572000" cy="329184"/>
          </a:xfrm>
          <a:prstGeom prst="rect">
            <a:avLst/>
          </a:prstGeom>
          <a:noFill/>
        </p:spPr>
        <p:txBody>
          <a:bodyPr wrap="square" lIns="0" rIns="0" tIns="0" bIns="0" anchor="ctr">
            <a:spAutoFit/>
          </a:bodyPr>
          <a:lstStyle/>
          <a:p>
            <a:pPr algn="r">
              <a:lnSpc>
                <a:spcPct val="115000"/>
              </a:lnSpc>
              <a:spcAft>
                <a:spcPts val="0"/>
              </a:spcAft>
            </a:pPr>
            <a:r>
              <a:rPr sz="950" b="0">
                <a:solidFill>
                  <a:srgbClr val="505B63"/>
                </a:solidFill>
                <a:latin typeface="DejaVu Sans Mono"/>
              </a:rPr>
              <a:t>Alba Iulia  ·  unpruuf@nexonai.ro  ·  5 / 6</a:t>
            </a:r>
          </a:p>
        </p:txBody>
      </p:sp>
      <p:sp>
        <p:nvSpPr>
          <p:cNvPr id="13" name="TextBox 12"/>
          <p:cNvSpPr txBox="1"/>
          <p:nvPr/>
        </p:nvSpPr>
        <p:spPr>
          <a:xfrm>
            <a:off x="548640" y="658368"/>
            <a:ext cx="8229600" cy="274320"/>
          </a:xfrm>
          <a:prstGeom prst="rect">
            <a:avLst/>
          </a:prstGeom>
          <a:noFill/>
        </p:spPr>
        <p:txBody>
          <a:bodyPr wrap="square" lIns="0" rIns="0" tIns="0" bIns="0" anchor="t">
            <a:spAutoFit/>
          </a:bodyPr>
          <a:lstStyle/>
          <a:p>
            <a:pPr algn="l">
              <a:lnSpc>
                <a:spcPct val="115000"/>
              </a:lnSpc>
              <a:spcAft>
                <a:spcPts val="0"/>
              </a:spcAft>
            </a:pPr>
            <a:r>
              <a:rPr sz="1050" b="1">
                <a:solidFill>
                  <a:srgbClr val="307098"/>
                </a:solidFill>
                <a:latin typeface="DejaVu Sans Mono"/>
              </a:rPr>
              <a:t>LAW 361/2022 IN BRIEF</a:t>
            </a:r>
          </a:p>
        </p:txBody>
      </p:sp>
      <p:sp>
        <p:nvSpPr>
          <p:cNvPr id="14" name="TextBox 13"/>
          <p:cNvSpPr txBox="1"/>
          <p:nvPr/>
        </p:nvSpPr>
        <p:spPr>
          <a:xfrm>
            <a:off x="548640" y="969264"/>
            <a:ext cx="11094415" cy="640080"/>
          </a:xfrm>
          <a:prstGeom prst="rect">
            <a:avLst/>
          </a:prstGeom>
          <a:noFill/>
        </p:spPr>
        <p:txBody>
          <a:bodyPr wrap="square" lIns="0" rIns="0" tIns="0" bIns="0" anchor="t">
            <a:spAutoFit/>
          </a:bodyPr>
          <a:lstStyle/>
          <a:p>
            <a:pPr algn="l">
              <a:lnSpc>
                <a:spcPct val="115000"/>
              </a:lnSpc>
              <a:spcAft>
                <a:spcPts val="0"/>
              </a:spcAft>
            </a:pPr>
            <a:r>
              <a:rPr sz="3000" b="1">
                <a:solidFill>
                  <a:srgbClr val="172733"/>
                </a:solidFill>
                <a:latin typeface="Open Sans"/>
              </a:rPr>
              <a:t>What the law asks of your organisation.</a:t>
            </a:r>
          </a:p>
        </p:txBody>
      </p:sp>
      <p:sp>
        <p:nvSpPr>
          <p:cNvPr id="15" name="TextBox 14"/>
          <p:cNvSpPr txBox="1"/>
          <p:nvPr/>
        </p:nvSpPr>
        <p:spPr>
          <a:xfrm>
            <a:off x="548640" y="1591056"/>
            <a:ext cx="11094415" cy="365760"/>
          </a:xfrm>
          <a:prstGeom prst="rect">
            <a:avLst/>
          </a:prstGeom>
          <a:noFill/>
        </p:spPr>
        <p:txBody>
          <a:bodyPr wrap="square" lIns="0" rIns="0" tIns="0" bIns="0" anchor="t">
            <a:spAutoFit/>
          </a:bodyPr>
          <a:lstStyle/>
          <a:p>
            <a:pPr algn="l">
              <a:lnSpc>
                <a:spcPct val="115000"/>
              </a:lnSpc>
              <a:spcAft>
                <a:spcPts val="0"/>
              </a:spcAft>
            </a:pPr>
            <a:r>
              <a:rPr sz="1500" b="0">
                <a:solidFill>
                  <a:srgbClr val="505B63"/>
                </a:solidFill>
                <a:latin typeface="Open Sans"/>
              </a:rPr>
              <a:t>Romania transposed Directive (EU) 2019/1937 with Law 361/2022.</a:t>
            </a:r>
          </a:p>
        </p:txBody>
      </p:sp>
      <p:sp>
        <p:nvSpPr>
          <p:cNvPr id="16" name="Rounded Rectangle 15"/>
          <p:cNvSpPr/>
          <p:nvPr/>
        </p:nvSpPr>
        <p:spPr>
          <a:xfrm>
            <a:off x="548640" y="2148840"/>
            <a:ext cx="2567863" cy="3017520"/>
          </a:xfrm>
          <a:prstGeom prst="roundRect">
            <a:avLst>
              <a:gd name="adj" fmla="val 5946"/>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59" y="2395728"/>
            <a:ext cx="2019223" cy="274320"/>
          </a:xfrm>
          <a:prstGeom prst="rect">
            <a:avLst/>
          </a:prstGeom>
          <a:noFill/>
        </p:spPr>
        <p:txBody>
          <a:bodyPr wrap="square" lIns="0" rIns="0" tIns="0" bIns="0" anchor="t">
            <a:spAutoFit/>
          </a:bodyPr>
          <a:lstStyle/>
          <a:p>
            <a:pPr algn="l">
              <a:lnSpc>
                <a:spcPct val="115000"/>
              </a:lnSpc>
              <a:spcAft>
                <a:spcPts val="0"/>
              </a:spcAft>
            </a:pPr>
            <a:r>
              <a:rPr sz="1000" b="1">
                <a:solidFill>
                  <a:srgbClr val="307098"/>
                </a:solidFill>
                <a:latin typeface="DejaVu Sans Mono"/>
              </a:rPr>
              <a:t>WHO</a:t>
            </a:r>
          </a:p>
        </p:txBody>
      </p:sp>
      <p:sp>
        <p:nvSpPr>
          <p:cNvPr id="18" name="TextBox 17"/>
          <p:cNvSpPr txBox="1"/>
          <p:nvPr/>
        </p:nvSpPr>
        <p:spPr>
          <a:xfrm>
            <a:off x="822959" y="2697480"/>
            <a:ext cx="2019223" cy="731520"/>
          </a:xfrm>
          <a:prstGeom prst="rect">
            <a:avLst/>
          </a:prstGeom>
          <a:noFill/>
        </p:spPr>
        <p:txBody>
          <a:bodyPr wrap="square" lIns="0" rIns="0" tIns="0" bIns="0" anchor="t">
            <a:spAutoFit/>
          </a:bodyPr>
          <a:lstStyle/>
          <a:p>
            <a:pPr algn="l">
              <a:lnSpc>
                <a:spcPct val="115000"/>
              </a:lnSpc>
              <a:spcAft>
                <a:spcPts val="0"/>
              </a:spcAft>
            </a:pPr>
            <a:r>
              <a:rPr sz="2000" b="1">
                <a:solidFill>
                  <a:srgbClr val="0F2A3A"/>
                </a:solidFill>
                <a:latin typeface="Open Sans"/>
              </a:rPr>
              <a:t>50+ employees</a:t>
            </a:r>
          </a:p>
        </p:txBody>
      </p:sp>
      <p:sp>
        <p:nvSpPr>
          <p:cNvPr id="19" name="TextBox 18"/>
          <p:cNvSpPr txBox="1"/>
          <p:nvPr/>
        </p:nvSpPr>
        <p:spPr>
          <a:xfrm>
            <a:off x="822959" y="3520440"/>
            <a:ext cx="2019223" cy="1554480"/>
          </a:xfrm>
          <a:prstGeom prst="rect">
            <a:avLst/>
          </a:prstGeom>
          <a:noFill/>
        </p:spPr>
        <p:txBody>
          <a:bodyPr wrap="square" lIns="0" rIns="0" tIns="0" bIns="0" anchor="t">
            <a:spAutoFit/>
          </a:bodyPr>
          <a:lstStyle/>
          <a:p>
            <a:pPr algn="l">
              <a:lnSpc>
                <a:spcPct val="115000"/>
              </a:lnSpc>
              <a:spcAft>
                <a:spcPts val="0"/>
              </a:spcAft>
            </a:pPr>
            <a:r>
              <a:rPr sz="1200" b="0">
                <a:solidFill>
                  <a:srgbClr val="505B63"/>
                </a:solidFill>
                <a:latin typeface="Open Sans"/>
              </a:rPr>
              <a:t>Private employers with 50 or more employees need an internal reporting channel. For 50–249 employees, this applies since 17.12.2023.</a:t>
            </a:r>
          </a:p>
        </p:txBody>
      </p:sp>
      <p:sp>
        <p:nvSpPr>
          <p:cNvPr id="20" name="Rounded Rectangle 19"/>
          <p:cNvSpPr/>
          <p:nvPr/>
        </p:nvSpPr>
        <p:spPr>
          <a:xfrm>
            <a:off x="3390823" y="2148840"/>
            <a:ext cx="2567863" cy="3017520"/>
          </a:xfrm>
          <a:prstGeom prst="roundRect">
            <a:avLst>
              <a:gd name="adj" fmla="val 5946"/>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665143" y="2395728"/>
            <a:ext cx="2019223" cy="274320"/>
          </a:xfrm>
          <a:prstGeom prst="rect">
            <a:avLst/>
          </a:prstGeom>
          <a:noFill/>
        </p:spPr>
        <p:txBody>
          <a:bodyPr wrap="square" lIns="0" rIns="0" tIns="0" bIns="0" anchor="t">
            <a:spAutoFit/>
          </a:bodyPr>
          <a:lstStyle/>
          <a:p>
            <a:pPr algn="l">
              <a:lnSpc>
                <a:spcPct val="115000"/>
              </a:lnSpc>
              <a:spcAft>
                <a:spcPts val="0"/>
              </a:spcAft>
            </a:pPr>
            <a:r>
              <a:rPr sz="1000" b="1">
                <a:solidFill>
                  <a:srgbClr val="307098"/>
                </a:solidFill>
                <a:latin typeface="DejaVu Sans Mono"/>
              </a:rPr>
              <a:t>DEADLINES</a:t>
            </a:r>
          </a:p>
        </p:txBody>
      </p:sp>
      <p:sp>
        <p:nvSpPr>
          <p:cNvPr id="22" name="TextBox 21"/>
          <p:cNvSpPr txBox="1"/>
          <p:nvPr/>
        </p:nvSpPr>
        <p:spPr>
          <a:xfrm>
            <a:off x="3665143" y="2697480"/>
            <a:ext cx="2019223" cy="731520"/>
          </a:xfrm>
          <a:prstGeom prst="rect">
            <a:avLst/>
          </a:prstGeom>
          <a:noFill/>
        </p:spPr>
        <p:txBody>
          <a:bodyPr wrap="square" lIns="0" rIns="0" tIns="0" bIns="0" anchor="t">
            <a:spAutoFit/>
          </a:bodyPr>
          <a:lstStyle/>
          <a:p>
            <a:pPr algn="l">
              <a:lnSpc>
                <a:spcPct val="115000"/>
              </a:lnSpc>
              <a:spcAft>
                <a:spcPts val="0"/>
              </a:spcAft>
            </a:pPr>
            <a:r>
              <a:rPr sz="2000" b="1">
                <a:solidFill>
                  <a:srgbClr val="0F2A3A"/>
                </a:solidFill>
                <a:latin typeface="Open Sans"/>
              </a:rPr>
              <a:t>7 days · 3 months</a:t>
            </a:r>
          </a:p>
        </p:txBody>
      </p:sp>
      <p:sp>
        <p:nvSpPr>
          <p:cNvPr id="23" name="TextBox 22"/>
          <p:cNvSpPr txBox="1"/>
          <p:nvPr/>
        </p:nvSpPr>
        <p:spPr>
          <a:xfrm>
            <a:off x="3665143" y="3520440"/>
            <a:ext cx="2019223" cy="1554480"/>
          </a:xfrm>
          <a:prstGeom prst="rect">
            <a:avLst/>
          </a:prstGeom>
          <a:noFill/>
        </p:spPr>
        <p:txBody>
          <a:bodyPr wrap="square" lIns="0" rIns="0" tIns="0" bIns="0" anchor="t">
            <a:spAutoFit/>
          </a:bodyPr>
          <a:lstStyle/>
          <a:p>
            <a:pPr algn="l">
              <a:lnSpc>
                <a:spcPct val="115000"/>
              </a:lnSpc>
              <a:spcAft>
                <a:spcPts val="0"/>
              </a:spcAft>
            </a:pPr>
            <a:r>
              <a:rPr sz="1200" b="0">
                <a:solidFill>
                  <a:srgbClr val="505B63"/>
                </a:solidFill>
                <a:latin typeface="Open Sans"/>
              </a:rPr>
              <a:t>Acknowledge receipt within 7 days. Give feedback to the reporter within 3 months.</a:t>
            </a:r>
          </a:p>
        </p:txBody>
      </p:sp>
      <p:sp>
        <p:nvSpPr>
          <p:cNvPr id="24" name="Rounded Rectangle 23"/>
          <p:cNvSpPr/>
          <p:nvPr/>
        </p:nvSpPr>
        <p:spPr>
          <a:xfrm>
            <a:off x="6233007" y="2148840"/>
            <a:ext cx="2567863" cy="3017520"/>
          </a:xfrm>
          <a:prstGeom prst="roundRect">
            <a:avLst>
              <a:gd name="adj" fmla="val 5946"/>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07327" y="2395728"/>
            <a:ext cx="2019223" cy="274320"/>
          </a:xfrm>
          <a:prstGeom prst="rect">
            <a:avLst/>
          </a:prstGeom>
          <a:noFill/>
        </p:spPr>
        <p:txBody>
          <a:bodyPr wrap="square" lIns="0" rIns="0" tIns="0" bIns="0" anchor="t">
            <a:spAutoFit/>
          </a:bodyPr>
          <a:lstStyle/>
          <a:p>
            <a:pPr algn="l">
              <a:lnSpc>
                <a:spcPct val="115000"/>
              </a:lnSpc>
              <a:spcAft>
                <a:spcPts val="0"/>
              </a:spcAft>
            </a:pPr>
            <a:r>
              <a:rPr sz="1000" b="1">
                <a:solidFill>
                  <a:srgbClr val="307098"/>
                </a:solidFill>
                <a:latin typeface="DejaVu Sans Mono"/>
              </a:rPr>
              <a:t>REGISTER</a:t>
            </a:r>
          </a:p>
        </p:txBody>
      </p:sp>
      <p:sp>
        <p:nvSpPr>
          <p:cNvPr id="26" name="TextBox 25"/>
          <p:cNvSpPr txBox="1"/>
          <p:nvPr/>
        </p:nvSpPr>
        <p:spPr>
          <a:xfrm>
            <a:off x="6507327" y="2697480"/>
            <a:ext cx="2019223" cy="731520"/>
          </a:xfrm>
          <a:prstGeom prst="rect">
            <a:avLst/>
          </a:prstGeom>
          <a:noFill/>
        </p:spPr>
        <p:txBody>
          <a:bodyPr wrap="square" lIns="0" rIns="0" tIns="0" bIns="0" anchor="t">
            <a:spAutoFit/>
          </a:bodyPr>
          <a:lstStyle/>
          <a:p>
            <a:pPr algn="l">
              <a:lnSpc>
                <a:spcPct val="115000"/>
              </a:lnSpc>
              <a:spcAft>
                <a:spcPts val="0"/>
              </a:spcAft>
            </a:pPr>
            <a:r>
              <a:rPr sz="2000" b="1">
                <a:solidFill>
                  <a:srgbClr val="0F2A3A"/>
                </a:solidFill>
                <a:latin typeface="Open Sans"/>
              </a:rPr>
              <a:t>5 years</a:t>
            </a:r>
          </a:p>
        </p:txBody>
      </p:sp>
      <p:sp>
        <p:nvSpPr>
          <p:cNvPr id="27" name="TextBox 26"/>
          <p:cNvSpPr txBox="1"/>
          <p:nvPr/>
        </p:nvSpPr>
        <p:spPr>
          <a:xfrm>
            <a:off x="6507327" y="3520440"/>
            <a:ext cx="2019223" cy="1554480"/>
          </a:xfrm>
          <a:prstGeom prst="rect">
            <a:avLst/>
          </a:prstGeom>
          <a:noFill/>
        </p:spPr>
        <p:txBody>
          <a:bodyPr wrap="square" lIns="0" rIns="0" tIns="0" bIns="0" anchor="t">
            <a:spAutoFit/>
          </a:bodyPr>
          <a:lstStyle/>
          <a:p>
            <a:pPr algn="l">
              <a:lnSpc>
                <a:spcPct val="115000"/>
              </a:lnSpc>
              <a:spcAft>
                <a:spcPts val="0"/>
              </a:spcAft>
            </a:pPr>
            <a:r>
              <a:rPr sz="1200" b="0">
                <a:solidFill>
                  <a:srgbClr val="505B63"/>
                </a:solidFill>
                <a:latin typeface="Open Sans"/>
              </a:rPr>
              <a:t>Reports are kept in a register for 5 years.</a:t>
            </a:r>
          </a:p>
        </p:txBody>
      </p:sp>
      <p:sp>
        <p:nvSpPr>
          <p:cNvPr id="28" name="Rounded Rectangle 27"/>
          <p:cNvSpPr/>
          <p:nvPr/>
        </p:nvSpPr>
        <p:spPr>
          <a:xfrm>
            <a:off x="9075191" y="2148840"/>
            <a:ext cx="2567863" cy="3017520"/>
          </a:xfrm>
          <a:prstGeom prst="roundRect">
            <a:avLst>
              <a:gd name="adj" fmla="val 5946"/>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349511" y="2395728"/>
            <a:ext cx="2019223" cy="274320"/>
          </a:xfrm>
          <a:prstGeom prst="rect">
            <a:avLst/>
          </a:prstGeom>
          <a:noFill/>
        </p:spPr>
        <p:txBody>
          <a:bodyPr wrap="square" lIns="0" rIns="0" tIns="0" bIns="0" anchor="t">
            <a:spAutoFit/>
          </a:bodyPr>
          <a:lstStyle/>
          <a:p>
            <a:pPr algn="l">
              <a:lnSpc>
                <a:spcPct val="115000"/>
              </a:lnSpc>
              <a:spcAft>
                <a:spcPts val="0"/>
              </a:spcAft>
            </a:pPr>
            <a:r>
              <a:rPr sz="1000" b="1">
                <a:solidFill>
                  <a:srgbClr val="307098"/>
                </a:solidFill>
                <a:latin typeface="DejaVu Sans Mono"/>
              </a:rPr>
              <a:t>AUTHORITY</a:t>
            </a:r>
          </a:p>
        </p:txBody>
      </p:sp>
      <p:sp>
        <p:nvSpPr>
          <p:cNvPr id="30" name="TextBox 29"/>
          <p:cNvSpPr txBox="1"/>
          <p:nvPr/>
        </p:nvSpPr>
        <p:spPr>
          <a:xfrm>
            <a:off x="9349511" y="2697480"/>
            <a:ext cx="2019223" cy="731520"/>
          </a:xfrm>
          <a:prstGeom prst="rect">
            <a:avLst/>
          </a:prstGeom>
          <a:noFill/>
        </p:spPr>
        <p:txBody>
          <a:bodyPr wrap="square" lIns="0" rIns="0" tIns="0" bIns="0" anchor="t">
            <a:spAutoFit/>
          </a:bodyPr>
          <a:lstStyle/>
          <a:p>
            <a:pPr algn="l">
              <a:lnSpc>
                <a:spcPct val="115000"/>
              </a:lnSpc>
              <a:spcAft>
                <a:spcPts val="0"/>
              </a:spcAft>
            </a:pPr>
            <a:r>
              <a:rPr sz="2000" b="1">
                <a:solidFill>
                  <a:srgbClr val="0F2A3A"/>
                </a:solidFill>
                <a:latin typeface="Open Sans"/>
              </a:rPr>
              <a:t>ANI</a:t>
            </a:r>
          </a:p>
        </p:txBody>
      </p:sp>
      <p:sp>
        <p:nvSpPr>
          <p:cNvPr id="31" name="TextBox 30"/>
          <p:cNvSpPr txBox="1"/>
          <p:nvPr/>
        </p:nvSpPr>
        <p:spPr>
          <a:xfrm>
            <a:off x="9349511" y="3520440"/>
            <a:ext cx="2019223" cy="1554480"/>
          </a:xfrm>
          <a:prstGeom prst="rect">
            <a:avLst/>
          </a:prstGeom>
          <a:noFill/>
        </p:spPr>
        <p:txBody>
          <a:bodyPr wrap="square" lIns="0" rIns="0" tIns="0" bIns="0" anchor="t">
            <a:spAutoFit/>
          </a:bodyPr>
          <a:lstStyle/>
          <a:p>
            <a:pPr algn="l">
              <a:lnSpc>
                <a:spcPct val="115000"/>
              </a:lnSpc>
              <a:spcAft>
                <a:spcPts val="0"/>
              </a:spcAft>
            </a:pPr>
            <a:r>
              <a:rPr sz="1200" b="0">
                <a:solidFill>
                  <a:srgbClr val="505B63"/>
                </a:solidFill>
                <a:latin typeface="Open Sans"/>
              </a:rPr>
              <a:t>The National Integrity Agency is the external reporting channel and the sanctioning authority.</a:t>
            </a:r>
          </a:p>
        </p:txBody>
      </p:sp>
      <p:sp>
        <p:nvSpPr>
          <p:cNvPr id="32" name="TextBox 31"/>
          <p:cNvSpPr txBox="1"/>
          <p:nvPr/>
        </p:nvSpPr>
        <p:spPr>
          <a:xfrm>
            <a:off x="548640" y="5376672"/>
            <a:ext cx="11094415" cy="320040"/>
          </a:xfrm>
          <a:prstGeom prst="rect">
            <a:avLst/>
          </a:prstGeom>
          <a:noFill/>
        </p:spPr>
        <p:txBody>
          <a:bodyPr wrap="square" lIns="0" rIns="0" tIns="0" bIns="0" anchor="t">
            <a:spAutoFit/>
          </a:bodyPr>
          <a:lstStyle/>
          <a:p>
            <a:pPr algn="l">
              <a:lnSpc>
                <a:spcPct val="115000"/>
              </a:lnSpc>
              <a:spcAft>
                <a:spcPts val="0"/>
              </a:spcAft>
            </a:pPr>
            <a:r>
              <a:rPr sz="1300" b="1">
                <a:solidFill>
                  <a:srgbClr val="172733"/>
                </a:solidFill>
                <a:latin typeface="Open Sans"/>
              </a:rPr>
              <a:t>The law does not require a certification of the reporting channel.</a:t>
            </a:r>
          </a:p>
        </p:txBody>
      </p:sp>
      <p:sp>
        <p:nvSpPr>
          <p:cNvPr id="33" name="TextBox 32"/>
          <p:cNvSpPr txBox="1"/>
          <p:nvPr/>
        </p:nvSpPr>
        <p:spPr>
          <a:xfrm>
            <a:off x="548640" y="5779008"/>
            <a:ext cx="11094415" cy="457200"/>
          </a:xfrm>
          <a:prstGeom prst="rect">
            <a:avLst/>
          </a:prstGeom>
          <a:noFill/>
        </p:spPr>
        <p:txBody>
          <a:bodyPr wrap="square" lIns="0" rIns="0" tIns="0" bIns="0" anchor="t">
            <a:spAutoFit/>
          </a:bodyPr>
          <a:lstStyle/>
          <a:p>
            <a:pPr algn="l">
              <a:lnSpc>
                <a:spcPct val="115000"/>
              </a:lnSpc>
              <a:spcAft>
                <a:spcPts val="0"/>
              </a:spcAft>
            </a:pPr>
            <a:r>
              <a:rPr sz="950" b="0">
                <a:solidFill>
                  <a:srgbClr val="505B63"/>
                </a:solidFill>
                <a:latin typeface="DejaVu Sans Mono"/>
              </a:rPr>
              <a:t>Source: Legea 361/2022, art. 7, 9, 10, 36  ·  checked 30.10.2026  ·  not legal advice, your lawyer confirms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384048"/>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8640" y="150876"/>
            <a:ext cx="82296" cy="82296"/>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54864"/>
            <a:ext cx="3657600" cy="274320"/>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unpruuf Compliance</a:t>
            </a:r>
          </a:p>
        </p:txBody>
      </p:sp>
      <p:sp>
        <p:nvSpPr>
          <p:cNvPr id="6" name="TextBox 5"/>
          <p:cNvSpPr txBox="1"/>
          <p:nvPr/>
        </p:nvSpPr>
        <p:spPr>
          <a:xfrm>
            <a:off x="3383280" y="54864"/>
            <a:ext cx="5394960" cy="274320"/>
          </a:xfrm>
          <a:prstGeom prst="rect">
            <a:avLst/>
          </a:prstGeom>
          <a:noFill/>
        </p:spPr>
        <p:txBody>
          <a:bodyPr wrap="square" lIns="0" rIns="0" tIns="0" bIns="0" anchor="ctr">
            <a:spAutoFit/>
          </a:bodyPr>
          <a:lstStyle/>
          <a:p>
            <a:pPr algn="ctr">
              <a:lnSpc>
                <a:spcPct val="115000"/>
              </a:lnSpc>
              <a:spcAft>
                <a:spcPts val="0"/>
              </a:spcAft>
            </a:pPr>
            <a:r>
              <a:rPr sz="950" b="0">
                <a:solidFill>
                  <a:srgbClr val="505B63"/>
                </a:solidFill>
                <a:latin typeface="DejaVu Sans Mono"/>
              </a:rPr>
              <a:t>Tested · not independently audited · not certified</a:t>
            </a:r>
          </a:p>
        </p:txBody>
      </p:sp>
      <p:sp>
        <p:nvSpPr>
          <p:cNvPr id="7" name="TextBox 6"/>
          <p:cNvSpPr txBox="1"/>
          <p:nvPr/>
        </p:nvSpPr>
        <p:spPr>
          <a:xfrm>
            <a:off x="9814255" y="54864"/>
            <a:ext cx="1828800" cy="274320"/>
          </a:xfrm>
          <a:prstGeom prst="rect">
            <a:avLst/>
          </a:prstGeom>
          <a:noFill/>
        </p:spPr>
        <p:txBody>
          <a:bodyPr wrap="square" lIns="0" rIns="0" tIns="0" bIns="0" anchor="ctr">
            <a:spAutoFit/>
          </a:bodyPr>
          <a:lstStyle/>
          <a:p>
            <a:pPr algn="r">
              <a:lnSpc>
                <a:spcPct val="115000"/>
              </a:lnSpc>
              <a:spcAft>
                <a:spcPts val="0"/>
              </a:spcAft>
            </a:pPr>
            <a:r>
              <a:rPr sz="1000" b="1">
                <a:solidFill>
                  <a:srgbClr val="307098"/>
                </a:solidFill>
                <a:latin typeface="DejaVu Sans Mono"/>
              </a:rPr>
              <a:t>EN</a:t>
            </a:r>
          </a:p>
        </p:txBody>
      </p:sp>
      <p:sp>
        <p:nvSpPr>
          <p:cNvPr id="8" name="Rectangle 7"/>
          <p:cNvSpPr/>
          <p:nvPr/>
        </p:nvSpPr>
        <p:spPr>
          <a:xfrm>
            <a:off x="0" y="6355080"/>
            <a:ext cx="12191695"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6355080"/>
            <a:ext cx="12191695" cy="10972"/>
          </a:xfrm>
          <a:prstGeom prst="rect">
            <a:avLst/>
          </a:prstGeom>
          <a:solidFill>
            <a:srgbClr val="D9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exonai-logo.png"/>
          <p:cNvPicPr>
            <a:picLocks noChangeAspect="1"/>
          </p:cNvPicPr>
          <p:nvPr/>
        </p:nvPicPr>
        <p:blipFill>
          <a:blip r:embed="rId2"/>
          <a:stretch>
            <a:fillRect/>
          </a:stretch>
        </p:blipFill>
        <p:spPr>
          <a:xfrm>
            <a:off x="548640" y="6446520"/>
            <a:ext cx="881829" cy="329184"/>
          </a:xfrm>
          <a:prstGeom prst="rect">
            <a:avLst/>
          </a:prstGeom>
        </p:spPr>
      </p:pic>
      <p:sp>
        <p:nvSpPr>
          <p:cNvPr id="11" name="TextBox 10"/>
          <p:cNvSpPr txBox="1"/>
          <p:nvPr/>
        </p:nvSpPr>
        <p:spPr>
          <a:xfrm>
            <a:off x="1613348" y="6446520"/>
            <a:ext cx="3657600" cy="329184"/>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Open Sans"/>
              </a:rPr>
              <a:t>NexonAI Consulting SRL</a:t>
            </a:r>
          </a:p>
        </p:txBody>
      </p:sp>
      <p:sp>
        <p:nvSpPr>
          <p:cNvPr id="12" name="TextBox 11"/>
          <p:cNvSpPr txBox="1"/>
          <p:nvPr/>
        </p:nvSpPr>
        <p:spPr>
          <a:xfrm>
            <a:off x="7071055" y="6446520"/>
            <a:ext cx="4572000" cy="329184"/>
          </a:xfrm>
          <a:prstGeom prst="rect">
            <a:avLst/>
          </a:prstGeom>
          <a:noFill/>
        </p:spPr>
        <p:txBody>
          <a:bodyPr wrap="square" lIns="0" rIns="0" tIns="0" bIns="0" anchor="ctr">
            <a:spAutoFit/>
          </a:bodyPr>
          <a:lstStyle/>
          <a:p>
            <a:pPr algn="r">
              <a:lnSpc>
                <a:spcPct val="115000"/>
              </a:lnSpc>
              <a:spcAft>
                <a:spcPts val="0"/>
              </a:spcAft>
            </a:pPr>
            <a:r>
              <a:rPr sz="950" b="0">
                <a:solidFill>
                  <a:srgbClr val="505B63"/>
                </a:solidFill>
                <a:latin typeface="DejaVu Sans Mono"/>
              </a:rPr>
              <a:t>Alba Iulia  ·  unpruuf@nexonai.ro  ·  6 / 6</a:t>
            </a:r>
          </a:p>
        </p:txBody>
      </p:sp>
      <p:sp>
        <p:nvSpPr>
          <p:cNvPr id="13" name="TextBox 12"/>
          <p:cNvSpPr txBox="1"/>
          <p:nvPr/>
        </p:nvSpPr>
        <p:spPr>
          <a:xfrm>
            <a:off x="548640" y="658368"/>
            <a:ext cx="8229600" cy="274320"/>
          </a:xfrm>
          <a:prstGeom prst="rect">
            <a:avLst/>
          </a:prstGeom>
          <a:noFill/>
        </p:spPr>
        <p:txBody>
          <a:bodyPr wrap="square" lIns="0" rIns="0" tIns="0" bIns="0" anchor="t">
            <a:spAutoFit/>
          </a:bodyPr>
          <a:lstStyle/>
          <a:p>
            <a:pPr algn="l">
              <a:lnSpc>
                <a:spcPct val="115000"/>
              </a:lnSpc>
              <a:spcAft>
                <a:spcPts val="0"/>
              </a:spcAft>
            </a:pPr>
            <a:r>
              <a:rPr sz="1050" b="1">
                <a:solidFill>
                  <a:srgbClr val="307098"/>
                </a:solidFill>
                <a:latin typeface="DejaVu Sans Mono"/>
              </a:rPr>
              <a:t>START IN ONE WEEK</a:t>
            </a:r>
          </a:p>
        </p:txBody>
      </p:sp>
      <p:sp>
        <p:nvSpPr>
          <p:cNvPr id="14" name="TextBox 13"/>
          <p:cNvSpPr txBox="1"/>
          <p:nvPr/>
        </p:nvSpPr>
        <p:spPr>
          <a:xfrm>
            <a:off x="548640" y="969264"/>
            <a:ext cx="11094415" cy="640080"/>
          </a:xfrm>
          <a:prstGeom prst="rect">
            <a:avLst/>
          </a:prstGeom>
          <a:noFill/>
        </p:spPr>
        <p:txBody>
          <a:bodyPr wrap="square" lIns="0" rIns="0" tIns="0" bIns="0" anchor="t">
            <a:spAutoFit/>
          </a:bodyPr>
          <a:lstStyle/>
          <a:p>
            <a:pPr algn="l">
              <a:lnSpc>
                <a:spcPct val="115000"/>
              </a:lnSpc>
              <a:spcAft>
                <a:spcPts val="0"/>
              </a:spcAft>
            </a:pPr>
            <a:r>
              <a:rPr sz="3000" b="1">
                <a:solidFill>
                  <a:srgbClr val="172733"/>
                </a:solidFill>
                <a:latin typeface="Open Sans"/>
              </a:rPr>
              <a:t>unpruuf Compliance Start</a:t>
            </a:r>
          </a:p>
        </p:txBody>
      </p:sp>
      <p:sp>
        <p:nvSpPr>
          <p:cNvPr id="15" name="TextBox 14"/>
          <p:cNvSpPr txBox="1"/>
          <p:nvPr/>
        </p:nvSpPr>
        <p:spPr>
          <a:xfrm>
            <a:off x="548640" y="1591056"/>
            <a:ext cx="11094415" cy="365760"/>
          </a:xfrm>
          <a:prstGeom prst="rect">
            <a:avLst/>
          </a:prstGeom>
          <a:noFill/>
        </p:spPr>
        <p:txBody>
          <a:bodyPr wrap="square" lIns="0" rIns="0" tIns="0" bIns="0" anchor="t">
            <a:spAutoFit/>
          </a:bodyPr>
          <a:lstStyle/>
          <a:p>
            <a:pPr algn="l">
              <a:lnSpc>
                <a:spcPct val="115000"/>
              </a:lnSpc>
              <a:spcAft>
                <a:spcPts val="0"/>
              </a:spcAft>
            </a:pPr>
            <a:r>
              <a:rPr sz="1500" b="0">
                <a:solidFill>
                  <a:srgbClr val="505B63"/>
                </a:solidFill>
                <a:latin typeface="Open Sans"/>
              </a:rPr>
              <a:t>Everything you need to run your own channel, ready in one week.</a:t>
            </a:r>
          </a:p>
        </p:txBody>
      </p:sp>
      <p:sp>
        <p:nvSpPr>
          <p:cNvPr id="16" name="Rounded Rectangle 15"/>
          <p:cNvSpPr/>
          <p:nvPr/>
        </p:nvSpPr>
        <p:spPr>
          <a:xfrm>
            <a:off x="548640" y="2103120"/>
            <a:ext cx="6400800" cy="4023360"/>
          </a:xfrm>
          <a:prstGeom prst="roundRect">
            <a:avLst>
              <a:gd name="adj" fmla="val 3795"/>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 y="2304288"/>
            <a:ext cx="5486400" cy="274320"/>
          </a:xfrm>
          <a:prstGeom prst="rect">
            <a:avLst/>
          </a:prstGeom>
          <a:noFill/>
        </p:spPr>
        <p:txBody>
          <a:bodyPr wrap="square" lIns="0" rIns="0" tIns="0" bIns="0" anchor="t">
            <a:spAutoFit/>
          </a:bodyPr>
          <a:lstStyle/>
          <a:p>
            <a:pPr algn="l">
              <a:lnSpc>
                <a:spcPct val="115000"/>
              </a:lnSpc>
              <a:spcAft>
                <a:spcPts val="0"/>
              </a:spcAft>
            </a:pPr>
            <a:r>
              <a:rPr sz="1000" b="1">
                <a:solidFill>
                  <a:srgbClr val="307098"/>
                </a:solidFill>
                <a:latin typeface="DejaVu Sans Mono"/>
              </a:rPr>
              <a:t>THE PACKAGE INCLUDES</a:t>
            </a:r>
          </a:p>
        </p:txBody>
      </p:sp>
      <p:sp>
        <p:nvSpPr>
          <p:cNvPr id="18" name="Rounded Rectangle 17"/>
          <p:cNvSpPr/>
          <p:nvPr/>
        </p:nvSpPr>
        <p:spPr>
          <a:xfrm>
            <a:off x="896112" y="2761488"/>
            <a:ext cx="146304" cy="146304"/>
          </a:xfrm>
          <a:prstGeom prst="roundRect">
            <a:avLst>
              <a:gd name="adj" fmla="val 18750"/>
            </a:avLst>
          </a:prstGeom>
          <a:solidFill>
            <a:srgbClr val="E3EEF6"/>
          </a:solidFill>
          <a:ln w="12700">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188719" y="2670048"/>
            <a:ext cx="5486400" cy="457200"/>
          </a:xfrm>
          <a:prstGeom prst="rect">
            <a:avLst/>
          </a:prstGeom>
          <a:noFill/>
        </p:spPr>
        <p:txBody>
          <a:bodyPr wrap="square" lIns="0" rIns="0" tIns="0" bIns="0" anchor="t">
            <a:spAutoFit/>
          </a:bodyPr>
          <a:lstStyle/>
          <a:p>
            <a:pPr algn="l">
              <a:lnSpc>
                <a:spcPct val="115000"/>
              </a:lnSpc>
              <a:spcAft>
                <a:spcPts val="0"/>
              </a:spcAft>
            </a:pPr>
            <a:r>
              <a:rPr sz="1250" b="0">
                <a:solidFill>
                  <a:srgbClr val="172733"/>
                </a:solidFill>
                <a:latin typeface="Open Sans"/>
              </a:rPr>
              <a:t>One licence for your server</a:t>
            </a:r>
          </a:p>
        </p:txBody>
      </p:sp>
      <p:sp>
        <p:nvSpPr>
          <p:cNvPr id="20" name="Rounded Rectangle 19"/>
          <p:cNvSpPr/>
          <p:nvPr/>
        </p:nvSpPr>
        <p:spPr>
          <a:xfrm>
            <a:off x="896112" y="3236976"/>
            <a:ext cx="146304" cy="146304"/>
          </a:xfrm>
          <a:prstGeom prst="roundRect">
            <a:avLst>
              <a:gd name="adj" fmla="val 18750"/>
            </a:avLst>
          </a:prstGeom>
          <a:solidFill>
            <a:srgbClr val="E3EEF6"/>
          </a:solidFill>
          <a:ln w="12700">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188719" y="3145536"/>
            <a:ext cx="5486400" cy="457200"/>
          </a:xfrm>
          <a:prstGeom prst="rect">
            <a:avLst/>
          </a:prstGeom>
          <a:noFill/>
        </p:spPr>
        <p:txBody>
          <a:bodyPr wrap="square" lIns="0" rIns="0" tIns="0" bIns="0" anchor="t">
            <a:spAutoFit/>
          </a:bodyPr>
          <a:lstStyle/>
          <a:p>
            <a:pPr algn="l">
              <a:lnSpc>
                <a:spcPct val="115000"/>
              </a:lnSpc>
              <a:spcAft>
                <a:spcPts val="0"/>
              </a:spcAft>
            </a:pPr>
            <a:r>
              <a:rPr sz="1250" b="0">
                <a:solidFill>
                  <a:srgbClr val="172733"/>
                </a:solidFill>
                <a:latin typeface="Open Sans"/>
              </a:rPr>
              <a:t>Installation of the server and the case officer app, remotely or on site</a:t>
            </a:r>
          </a:p>
        </p:txBody>
      </p:sp>
      <p:sp>
        <p:nvSpPr>
          <p:cNvPr id="22" name="Rounded Rectangle 21"/>
          <p:cNvSpPr/>
          <p:nvPr/>
        </p:nvSpPr>
        <p:spPr>
          <a:xfrm>
            <a:off x="896112" y="3712463"/>
            <a:ext cx="146304" cy="146304"/>
          </a:xfrm>
          <a:prstGeom prst="roundRect">
            <a:avLst>
              <a:gd name="adj" fmla="val 18750"/>
            </a:avLst>
          </a:prstGeom>
          <a:solidFill>
            <a:srgbClr val="E3EEF6"/>
          </a:solidFill>
          <a:ln w="12700">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188719" y="3621024"/>
            <a:ext cx="5486400" cy="457200"/>
          </a:xfrm>
          <a:prstGeom prst="rect">
            <a:avLst/>
          </a:prstGeom>
          <a:noFill/>
        </p:spPr>
        <p:txBody>
          <a:bodyPr wrap="square" lIns="0" rIns="0" tIns="0" bIns="0" anchor="t">
            <a:spAutoFit/>
          </a:bodyPr>
          <a:lstStyle/>
          <a:p>
            <a:pPr algn="l">
              <a:lnSpc>
                <a:spcPct val="115000"/>
              </a:lnSpc>
              <a:spcAft>
                <a:spcPts val="0"/>
              </a:spcAft>
            </a:pPr>
            <a:r>
              <a:rPr sz="1250" b="0">
                <a:solidFill>
                  <a:srgbClr val="172733"/>
                </a:solidFill>
                <a:latin typeface="Open Sans"/>
              </a:rPr>
              <a:t>Reporting page and QR code in Romanian and English</a:t>
            </a:r>
          </a:p>
        </p:txBody>
      </p:sp>
      <p:sp>
        <p:nvSpPr>
          <p:cNvPr id="24" name="Rounded Rectangle 23"/>
          <p:cNvSpPr/>
          <p:nvPr/>
        </p:nvSpPr>
        <p:spPr>
          <a:xfrm>
            <a:off x="896112" y="4187952"/>
            <a:ext cx="146304" cy="146304"/>
          </a:xfrm>
          <a:prstGeom prst="roundRect">
            <a:avLst>
              <a:gd name="adj" fmla="val 18750"/>
            </a:avLst>
          </a:prstGeom>
          <a:solidFill>
            <a:srgbClr val="E3EEF6"/>
          </a:solidFill>
          <a:ln w="12700">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88719" y="4096512"/>
            <a:ext cx="5486400" cy="457200"/>
          </a:xfrm>
          <a:prstGeom prst="rect">
            <a:avLst/>
          </a:prstGeom>
          <a:noFill/>
        </p:spPr>
        <p:txBody>
          <a:bodyPr wrap="square" lIns="0" rIns="0" tIns="0" bIns="0" anchor="t">
            <a:spAutoFit/>
          </a:bodyPr>
          <a:lstStyle/>
          <a:p>
            <a:pPr algn="l">
              <a:lnSpc>
                <a:spcPct val="115000"/>
              </a:lnSpc>
              <a:spcAft>
                <a:spcPts val="0"/>
              </a:spcAft>
            </a:pPr>
            <a:r>
              <a:rPr sz="1250" b="0">
                <a:solidFill>
                  <a:srgbClr val="172733"/>
                </a:solidFill>
                <a:latin typeface="Open Sans"/>
              </a:rPr>
              <a:t>2-hour training for your case officers</a:t>
            </a:r>
          </a:p>
        </p:txBody>
      </p:sp>
      <p:sp>
        <p:nvSpPr>
          <p:cNvPr id="26" name="Rounded Rectangle 25"/>
          <p:cNvSpPr/>
          <p:nvPr/>
        </p:nvSpPr>
        <p:spPr>
          <a:xfrm>
            <a:off x="896112" y="4663440"/>
            <a:ext cx="146304" cy="146304"/>
          </a:xfrm>
          <a:prstGeom prst="roundRect">
            <a:avLst>
              <a:gd name="adj" fmla="val 18750"/>
            </a:avLst>
          </a:prstGeom>
          <a:solidFill>
            <a:srgbClr val="E3EEF6"/>
          </a:solidFill>
          <a:ln w="12700">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188719" y="4572000"/>
            <a:ext cx="5486400" cy="457200"/>
          </a:xfrm>
          <a:prstGeom prst="rect">
            <a:avLst/>
          </a:prstGeom>
          <a:noFill/>
        </p:spPr>
        <p:txBody>
          <a:bodyPr wrap="square" lIns="0" rIns="0" tIns="0" bIns="0" anchor="t">
            <a:spAutoFit/>
          </a:bodyPr>
          <a:lstStyle/>
          <a:p>
            <a:pPr algn="l">
              <a:lnSpc>
                <a:spcPct val="115000"/>
              </a:lnSpc>
              <a:spcAft>
                <a:spcPts val="0"/>
              </a:spcAft>
            </a:pPr>
            <a:r>
              <a:rPr sz="1250" b="0">
                <a:solidFill>
                  <a:srgbClr val="172733"/>
                </a:solidFill>
                <a:latin typeface="Open Sans"/>
              </a:rPr>
              <a:t>Templates: workplace notice and employee information</a:t>
            </a:r>
          </a:p>
        </p:txBody>
      </p:sp>
      <p:sp>
        <p:nvSpPr>
          <p:cNvPr id="28" name="Rounded Rectangle 27"/>
          <p:cNvSpPr/>
          <p:nvPr/>
        </p:nvSpPr>
        <p:spPr>
          <a:xfrm>
            <a:off x="896112" y="5138927"/>
            <a:ext cx="146304" cy="146304"/>
          </a:xfrm>
          <a:prstGeom prst="roundRect">
            <a:avLst>
              <a:gd name="adj" fmla="val 18750"/>
            </a:avLst>
          </a:prstGeom>
          <a:solidFill>
            <a:srgbClr val="E3EEF6"/>
          </a:solidFill>
          <a:ln w="12700">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188719" y="5047488"/>
            <a:ext cx="5486400" cy="457200"/>
          </a:xfrm>
          <a:prstGeom prst="rect">
            <a:avLst/>
          </a:prstGeom>
          <a:noFill/>
        </p:spPr>
        <p:txBody>
          <a:bodyPr wrap="square" lIns="0" rIns="0" tIns="0" bIns="0" anchor="t">
            <a:spAutoFit/>
          </a:bodyPr>
          <a:lstStyle/>
          <a:p>
            <a:pPr algn="l">
              <a:lnSpc>
                <a:spcPct val="115000"/>
              </a:lnSpc>
              <a:spcAft>
                <a:spcPts val="0"/>
              </a:spcAft>
            </a:pPr>
            <a:r>
              <a:rPr sz="1250" b="0">
                <a:solidFill>
                  <a:srgbClr val="172733"/>
                </a:solidFill>
                <a:latin typeface="Open Sans"/>
              </a:rPr>
              <a:t>Evidence pack for your DPO</a:t>
            </a:r>
          </a:p>
        </p:txBody>
      </p:sp>
      <p:sp>
        <p:nvSpPr>
          <p:cNvPr id="30" name="Rounded Rectangle 29"/>
          <p:cNvSpPr/>
          <p:nvPr/>
        </p:nvSpPr>
        <p:spPr>
          <a:xfrm>
            <a:off x="896112" y="5614415"/>
            <a:ext cx="146304" cy="146304"/>
          </a:xfrm>
          <a:prstGeom prst="roundRect">
            <a:avLst>
              <a:gd name="adj" fmla="val 18750"/>
            </a:avLst>
          </a:prstGeom>
          <a:solidFill>
            <a:srgbClr val="E3EEF6"/>
          </a:solidFill>
          <a:ln w="12700">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88719" y="5522975"/>
            <a:ext cx="5486400" cy="457200"/>
          </a:xfrm>
          <a:prstGeom prst="rect">
            <a:avLst/>
          </a:prstGeom>
          <a:noFill/>
        </p:spPr>
        <p:txBody>
          <a:bodyPr wrap="square" lIns="0" rIns="0" tIns="0" bIns="0" anchor="t">
            <a:spAutoFit/>
          </a:bodyPr>
          <a:lstStyle/>
          <a:p>
            <a:pPr algn="l">
              <a:lnSpc>
                <a:spcPct val="115000"/>
              </a:lnSpc>
              <a:spcAft>
                <a:spcPts val="0"/>
              </a:spcAft>
            </a:pPr>
            <a:r>
              <a:rPr sz="1250" b="0">
                <a:solidFill>
                  <a:srgbClr val="172733"/>
                </a:solidFill>
                <a:latin typeface="Open Sans"/>
              </a:rPr>
              <a:t>One year of updates and e-mail support</a:t>
            </a:r>
          </a:p>
        </p:txBody>
      </p:sp>
      <p:sp>
        <p:nvSpPr>
          <p:cNvPr id="32" name="Rounded Rectangle 31"/>
          <p:cNvSpPr/>
          <p:nvPr/>
        </p:nvSpPr>
        <p:spPr>
          <a:xfrm>
            <a:off x="7269479" y="2103120"/>
            <a:ext cx="4373575" cy="1783080"/>
          </a:xfrm>
          <a:prstGeom prst="roundRect">
            <a:avLst>
              <a:gd name="adj" fmla="val 8564"/>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589519" y="2304288"/>
            <a:ext cx="3824935" cy="274320"/>
          </a:xfrm>
          <a:prstGeom prst="rect">
            <a:avLst/>
          </a:prstGeom>
          <a:noFill/>
        </p:spPr>
        <p:txBody>
          <a:bodyPr wrap="square" lIns="0" rIns="0" tIns="0" bIns="0" anchor="t">
            <a:spAutoFit/>
          </a:bodyPr>
          <a:lstStyle/>
          <a:p>
            <a:pPr algn="l">
              <a:lnSpc>
                <a:spcPct val="115000"/>
              </a:lnSpc>
              <a:spcAft>
                <a:spcPts val="0"/>
              </a:spcAft>
            </a:pPr>
            <a:r>
              <a:rPr sz="1000" b="1">
                <a:solidFill>
                  <a:srgbClr val="90C8E8"/>
                </a:solidFill>
                <a:latin typeface="DejaVu Sans Mono"/>
              </a:rPr>
              <a:t>FREE TRIAL</a:t>
            </a:r>
          </a:p>
        </p:txBody>
      </p:sp>
      <p:sp>
        <p:nvSpPr>
          <p:cNvPr id="34" name="TextBox 33"/>
          <p:cNvSpPr txBox="1"/>
          <p:nvPr/>
        </p:nvSpPr>
        <p:spPr>
          <a:xfrm>
            <a:off x="7589519" y="2606040"/>
            <a:ext cx="3824935" cy="457200"/>
          </a:xfrm>
          <a:prstGeom prst="rect">
            <a:avLst/>
          </a:prstGeom>
          <a:noFill/>
        </p:spPr>
        <p:txBody>
          <a:bodyPr wrap="square" lIns="0" rIns="0" tIns="0" bIns="0" anchor="t">
            <a:spAutoFit/>
          </a:bodyPr>
          <a:lstStyle/>
          <a:p>
            <a:pPr algn="l">
              <a:lnSpc>
                <a:spcPct val="115000"/>
              </a:lnSpc>
              <a:spcAft>
                <a:spcPts val="0"/>
              </a:spcAft>
            </a:pPr>
            <a:r>
              <a:rPr sz="2400" b="1">
                <a:solidFill>
                  <a:srgbClr val="FFFFFF"/>
                </a:solidFill>
                <a:latin typeface="Open Sans"/>
              </a:rPr>
              <a:t>30 days free</a:t>
            </a:r>
          </a:p>
        </p:txBody>
      </p:sp>
      <p:sp>
        <p:nvSpPr>
          <p:cNvPr id="35" name="TextBox 34"/>
          <p:cNvSpPr txBox="1"/>
          <p:nvPr/>
        </p:nvSpPr>
        <p:spPr>
          <a:xfrm>
            <a:off x="7589519" y="3127248"/>
            <a:ext cx="3824935" cy="685800"/>
          </a:xfrm>
          <a:prstGeom prst="rect">
            <a:avLst/>
          </a:prstGeom>
          <a:noFill/>
        </p:spPr>
        <p:txBody>
          <a:bodyPr wrap="square" lIns="0" rIns="0" tIns="0" bIns="0" anchor="t">
            <a:spAutoFit/>
          </a:bodyPr>
          <a:lstStyle/>
          <a:p>
            <a:pPr algn="l">
              <a:lnSpc>
                <a:spcPct val="115000"/>
              </a:lnSpc>
              <a:spcAft>
                <a:spcPts val="0"/>
              </a:spcAft>
            </a:pPr>
            <a:r>
              <a:rPr sz="1200" b="0">
                <a:solidFill>
                  <a:srgbClr val="DBE7EF"/>
                </a:solidFill>
                <a:latin typeface="Open Sans"/>
              </a:rPr>
              <a:t>Your case officers try reporting, dialogue and deadlines with test reports. Then you decide.</a:t>
            </a:r>
          </a:p>
        </p:txBody>
      </p:sp>
      <p:sp>
        <p:nvSpPr>
          <p:cNvPr id="36" name="Rounded Rectangle 35"/>
          <p:cNvSpPr/>
          <p:nvPr/>
        </p:nvSpPr>
        <p:spPr>
          <a:xfrm>
            <a:off x="7269479" y="4069080"/>
            <a:ext cx="4373575" cy="2057400"/>
          </a:xfrm>
          <a:prstGeom prst="roundRect">
            <a:avLst>
              <a:gd name="adj" fmla="val 7422"/>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589519" y="4270248"/>
            <a:ext cx="3824935" cy="274320"/>
          </a:xfrm>
          <a:prstGeom prst="rect">
            <a:avLst/>
          </a:prstGeom>
          <a:noFill/>
        </p:spPr>
        <p:txBody>
          <a:bodyPr wrap="square" lIns="0" rIns="0" tIns="0" bIns="0" anchor="t">
            <a:spAutoFit/>
          </a:bodyPr>
          <a:lstStyle/>
          <a:p>
            <a:pPr algn="l">
              <a:lnSpc>
                <a:spcPct val="115000"/>
              </a:lnSpc>
              <a:spcAft>
                <a:spcPts val="0"/>
              </a:spcAft>
            </a:pPr>
            <a:r>
              <a:rPr sz="1000" b="1">
                <a:solidFill>
                  <a:srgbClr val="307098"/>
                </a:solidFill>
                <a:latin typeface="DejaVu Sans Mono"/>
              </a:rPr>
              <a:t>NEXT STEP</a:t>
            </a:r>
          </a:p>
        </p:txBody>
      </p:sp>
      <p:sp>
        <p:nvSpPr>
          <p:cNvPr id="38" name="TextBox 37"/>
          <p:cNvSpPr txBox="1"/>
          <p:nvPr/>
        </p:nvSpPr>
        <p:spPr>
          <a:xfrm>
            <a:off x="7589519" y="4572000"/>
            <a:ext cx="3824935" cy="457200"/>
          </a:xfrm>
          <a:prstGeom prst="rect">
            <a:avLst/>
          </a:prstGeom>
          <a:noFill/>
        </p:spPr>
        <p:txBody>
          <a:bodyPr wrap="square" lIns="0" rIns="0" tIns="0" bIns="0" anchor="t">
            <a:spAutoFit/>
          </a:bodyPr>
          <a:lstStyle/>
          <a:p>
            <a:pPr algn="l">
              <a:lnSpc>
                <a:spcPct val="115000"/>
              </a:lnSpc>
              <a:spcAft>
                <a:spcPts val="0"/>
              </a:spcAft>
            </a:pPr>
            <a:r>
              <a:rPr sz="1900" b="1">
                <a:solidFill>
                  <a:srgbClr val="172733"/>
                </a:solidFill>
                <a:latin typeface="Open Sans"/>
              </a:rPr>
              <a:t>20-minute online demo</a:t>
            </a:r>
          </a:p>
        </p:txBody>
      </p:sp>
      <p:sp>
        <p:nvSpPr>
          <p:cNvPr id="39" name="TextBox 38"/>
          <p:cNvSpPr txBox="1"/>
          <p:nvPr/>
        </p:nvSpPr>
        <p:spPr>
          <a:xfrm>
            <a:off x="7589519" y="5074920"/>
            <a:ext cx="3824935" cy="320040"/>
          </a:xfrm>
          <a:prstGeom prst="rect">
            <a:avLst/>
          </a:prstGeom>
          <a:noFill/>
        </p:spPr>
        <p:txBody>
          <a:bodyPr wrap="square" lIns="0" rIns="0" tIns="0" bIns="0" anchor="t">
            <a:spAutoFit/>
          </a:bodyPr>
          <a:lstStyle/>
          <a:p>
            <a:pPr algn="l">
              <a:lnSpc>
                <a:spcPct val="115000"/>
              </a:lnSpc>
              <a:spcAft>
                <a:spcPts val="0"/>
              </a:spcAft>
            </a:pPr>
            <a:r>
              <a:rPr sz="1200" b="0">
                <a:solidFill>
                  <a:srgbClr val="505B63"/>
                </a:solidFill>
                <a:latin typeface="Open Sans"/>
              </a:rPr>
              <a:t>Write to us and pick a time.</a:t>
            </a:r>
          </a:p>
        </p:txBody>
      </p:sp>
      <p:sp>
        <p:nvSpPr>
          <p:cNvPr id="40" name="TextBox 39"/>
          <p:cNvSpPr txBox="1"/>
          <p:nvPr/>
        </p:nvSpPr>
        <p:spPr>
          <a:xfrm>
            <a:off x="7589519" y="5440680"/>
            <a:ext cx="3824935" cy="411480"/>
          </a:xfrm>
          <a:prstGeom prst="rect">
            <a:avLst/>
          </a:prstGeom>
          <a:noFill/>
        </p:spPr>
        <p:txBody>
          <a:bodyPr wrap="square" lIns="0" rIns="0" tIns="0" bIns="0" anchor="t">
            <a:spAutoFit/>
          </a:bodyPr>
          <a:lstStyle/>
          <a:p>
            <a:pPr algn="l">
              <a:lnSpc>
                <a:spcPct val="115000"/>
              </a:lnSpc>
              <a:spcAft>
                <a:spcPts val="0"/>
              </a:spcAft>
            </a:pPr>
            <a:r>
              <a:rPr sz="2000" b="1">
                <a:solidFill>
                  <a:srgbClr val="307098"/>
                </a:solidFill>
                <a:latin typeface="Open Sans"/>
              </a:rPr>
              <a:t>unpruuf@nexonai.ro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unpruuf Compliance</dc:title>
  <dc:subject/>
  <dc:creator>NexonAI Consulting SRL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