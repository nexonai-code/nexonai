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-2011680"/>
            <a:ext cx="5943600" cy="5943600"/>
          </a:xfrm>
          <a:prstGeom prst="ellipse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4389120"/>
            <a:ext cx="4023360" cy="4023360"/>
          </a:xfrm>
          <a:prstGeom prst="ellipse">
            <a:avLst/>
          </a:prstGeom>
          <a:solidFill>
            <a:srgbClr val="F0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exonai-logo-600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31520"/>
            <a:ext cx="2013358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331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307098"/>
                </a:solidFill>
                <a:latin typeface="Arial"/>
              </a:rPr>
              <a:t>PREZENTARE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9601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7200" b="1">
                <a:solidFill>
                  <a:srgbClr val="0F2A3A"/>
                </a:solidFill>
                <a:latin typeface="Arial"/>
              </a:rPr>
              <a:t>unpruuf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9875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07098"/>
                </a:solidFill>
                <a:latin typeface="Arial"/>
              </a:rPr>
              <a:t>Comunicare fără identități, cu servere operate chiar de client.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1206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05B63"/>
                </a:solidFill>
                <a:latin typeface="Arial"/>
              </a:rPr>
              <a:t>NexonAI Consulting SRL  ·  unpruuf@nexonai.ro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05B63"/>
                </a:solidFill>
                <a:latin typeface="Arial"/>
              </a:rPr>
              <a:t>Neauditat, necertificat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307098"/>
                </a:solidFill>
                <a:latin typeface="Arial"/>
              </a:rPr>
              <a:t>PUNCTUL DE PLECARE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2A3A"/>
                </a:solidFill>
                <a:latin typeface="Arial"/>
              </a:rPr>
              <a:t>Orice furnizor din mijloc este o problemă.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505B63"/>
                </a:solidFill>
                <a:latin typeface="Arial"/>
              </a:rPr>
              <a:t>Mesagerii obișnuiți au un furnizor între tine și contactul tău. Asta aduce trei riscuri.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560320"/>
            <a:ext cx="3474720" cy="2377440"/>
          </a:xfrm>
          <a:prstGeom prst="roundRect">
            <a:avLst>
              <a:gd name="adj" fmla="val 5384"/>
            </a:avLst>
          </a:prstGeom>
          <a:solidFill>
            <a:srgbClr val="FFFFFF"/>
          </a:solidFill>
          <a:ln w="19050">
            <a:solidFill>
              <a:srgbClr val="D9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761488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2A3A"/>
                </a:solidFill>
                <a:latin typeface="Arial"/>
              </a:rPr>
              <a:t>Poate fi atacat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337560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05B63"/>
                </a:solidFill>
                <a:latin typeface="Arial"/>
              </a:rPr>
              <a:t>Un furnizor central este o țintă. O singură breșă expune pe toți utilizatorii.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560320"/>
            <a:ext cx="3474720" cy="2377440"/>
          </a:xfrm>
          <a:prstGeom prst="roundRect">
            <a:avLst>
              <a:gd name="adj" fmla="val 5384"/>
            </a:avLst>
          </a:prstGeom>
          <a:solidFill>
            <a:srgbClr val="FFFFFF"/>
          </a:solidFill>
          <a:ln w="19050">
            <a:solidFill>
              <a:srgbClr val="D9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761488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2A3A"/>
                </a:solidFill>
                <a:latin typeface="Arial"/>
              </a:rPr>
              <a:t>Poate fi obligat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3337560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05B63"/>
                </a:solidFill>
                <a:latin typeface="Arial"/>
              </a:rPr>
              <a:t>Instanțele și autoritățile pot cere furnizorului să predea ce deține: conturi, jurnale, metadate.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59" y="2560320"/>
            <a:ext cx="3474720" cy="2377440"/>
          </a:xfrm>
          <a:prstGeom prst="roundRect">
            <a:avLst>
              <a:gd name="adj" fmla="val 5384"/>
            </a:avLst>
          </a:prstGeom>
          <a:solidFill>
            <a:srgbClr val="FFFFFF"/>
          </a:solidFill>
          <a:ln w="19050">
            <a:solidFill>
              <a:srgbClr val="D9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59" y="2761488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2A3A"/>
                </a:solidFill>
                <a:latin typeface="Arial"/>
              </a:rPr>
              <a:t>Își poate schimba regulile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59" y="3337560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05B63"/>
                </a:solidFill>
                <a:latin typeface="Arial"/>
              </a:rPr>
              <a:t>Termenii, prețurile, proprietarul și politica de păstrare se pot schimba oricând.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0352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2A3A"/>
                </a:solidFill>
                <a:latin typeface="Arial"/>
              </a:rPr>
              <a:t>Ce rămâne chiar și fără conținut: </a:t>
            </a:r>
            <a:r>
              <a:rPr sz="1800" b="0">
                <a:solidFill>
                  <a:srgbClr val="172733"/>
                </a:solidFill>
                <a:latin typeface="Arial"/>
              </a:rPr>
              <a:t>cine a vorbit cu cine, când și de unde. Aceste metadate pot spune prea mult.</a:t>
            </a:r>
          </a:p>
        </p:txBody>
      </p:sp>
      <p:pic>
        <p:nvPicPr>
          <p:cNvPr id="15" name="Picture 14" descr="nexonai-logo-600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0"/>
            <a:ext cx="704675" cy="256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657600" y="642823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05B63"/>
                </a:solidFill>
                <a:latin typeface="Arial"/>
              </a:rPr>
              <a:t>Neauditat, necertificat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282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05B63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307098"/>
                </a:solidFill>
                <a:latin typeface="Arial"/>
              </a:rPr>
              <a:t>IDEEA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2A3A"/>
                </a:solidFill>
                <a:latin typeface="Arial"/>
              </a:rPr>
              <a:t>Două părți: o aplicație și propriul tău server.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505B63"/>
                </a:solidFill>
                <a:latin typeface="Arial"/>
              </a:rPr>
              <a:t>NexonAI nu operează niciun server și nu vede niciun mesaj.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10881360" cy="3200400"/>
          </a:xfrm>
          <a:prstGeom prst="roundRect">
            <a:avLst>
              <a:gd name="adj" fmla="val 5714"/>
            </a:avLst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88720" y="3017520"/>
            <a:ext cx="822960" cy="146304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31750">
            <a:solidFill>
              <a:srgbClr val="3070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80160" y="3182112"/>
            <a:ext cx="640080" cy="960120"/>
          </a:xfrm>
          <a:prstGeom prst="roundRect">
            <a:avLst>
              <a:gd name="adj" fmla="val 7142"/>
            </a:avLst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9028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0F2A3A"/>
                </a:solidFill>
                <a:latin typeface="Arial"/>
              </a:rPr>
              <a:t>Tu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66960" y="3017520"/>
            <a:ext cx="822960" cy="146304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31750">
            <a:solidFill>
              <a:srgbClr val="3070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058400" y="3182112"/>
            <a:ext cx="640080" cy="960120"/>
          </a:xfrm>
          <a:prstGeom prst="roundRect">
            <a:avLst>
              <a:gd name="adj" fmla="val 7142"/>
            </a:avLst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0" y="459028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0F2A3A"/>
                </a:solidFill>
                <a:latin typeface="Arial"/>
              </a:rPr>
              <a:t>Contactul tău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3063240"/>
            <a:ext cx="21031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38100">
            <a:solidFill>
              <a:srgbClr val="0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303520" y="342900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EAF2F8"/>
          </a:solidFill>
          <a:ln w="19050">
            <a:solidFill>
              <a:srgbClr val="3070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52160" y="4114800"/>
            <a:ext cx="457200" cy="502920"/>
          </a:xfrm>
          <a:prstGeom prst="rect">
            <a:avLst/>
          </a:prstGeom>
          <a:solidFill>
            <a:srgbClr val="307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47091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0F2A3A"/>
                </a:solidFill>
                <a:latin typeface="Arial"/>
              </a:rPr>
              <a:t>Serverul tău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377440" y="3246120"/>
            <a:ext cx="2468880" cy="365760"/>
          </a:xfrm>
          <a:prstGeom prst="rightArrow">
            <a:avLst/>
          </a:prstGeom>
          <a:solidFill>
            <a:srgbClr val="307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7315200" y="3246120"/>
            <a:ext cx="2468880" cy="365760"/>
          </a:xfrm>
          <a:prstGeom prst="rightArrow">
            <a:avLst/>
          </a:prstGeom>
          <a:solidFill>
            <a:srgbClr val="307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0" y="283464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05B63"/>
                </a:solidFill>
                <a:latin typeface="Arial"/>
              </a:rPr>
              <a:t>pachet sigilat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83464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05B63"/>
                </a:solidFill>
                <a:latin typeface="Arial"/>
              </a:rPr>
              <a:t>ridicat de contact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172733"/>
                </a:solidFill>
                <a:latin typeface="Arial"/>
              </a:rPr>
              <a:t>Fiecare client își rulează propriile servere. O licență acoperă un server.</a:t>
            </a:r>
          </a:p>
        </p:txBody>
      </p:sp>
      <p:pic>
        <p:nvPicPr>
          <p:cNvPr id="21" name="Picture 20" descr="nexonai-logo-600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0"/>
            <a:ext cx="704675" cy="25603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657600" y="642823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05B63"/>
                </a:solidFill>
                <a:latin typeface="Arial"/>
              </a:rPr>
              <a:t>Neauditat, necertificat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282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05B63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307098"/>
                </a:solidFill>
                <a:latin typeface="Arial"/>
              </a:rPr>
              <a:t>CUM CIRCULĂ UN MESAJ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2A3A"/>
                </a:solidFill>
                <a:latin typeface="Arial"/>
              </a:rPr>
              <a:t>Un loc de trecere, nu un depozit.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2606040" cy="356616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9050">
            <a:solidFill>
              <a:srgbClr val="D9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2240280"/>
            <a:ext cx="640080" cy="640080"/>
          </a:xfrm>
          <a:prstGeom prst="ellipse">
            <a:avLst/>
          </a:prstGeom>
          <a:solidFill>
            <a:srgbClr val="307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402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6324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0F2A3A"/>
                </a:solidFill>
                <a:latin typeface="Arial"/>
              </a:rPr>
              <a:t>Sigilare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11880"/>
            <a:ext cx="219456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05B63"/>
                </a:solidFill>
                <a:latin typeface="Arial"/>
              </a:rPr>
              <a:t>Aplicația criptează mesajul și îl împachetează într-un pachet de dimensiune fixă.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011680"/>
            <a:ext cx="2606040" cy="356616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9050">
            <a:solidFill>
              <a:srgbClr val="D9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57600" y="2240280"/>
            <a:ext cx="640080" cy="640080"/>
          </a:xfrm>
          <a:prstGeom prst="ellipse">
            <a:avLst/>
          </a:prstGeom>
          <a:solidFill>
            <a:srgbClr val="307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2402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06324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0F2A3A"/>
                </a:solidFill>
                <a:latin typeface="Arial"/>
              </a:rPr>
              <a:t>Depunere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611880"/>
            <a:ext cx="219456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05B63"/>
                </a:solidFill>
                <a:latin typeface="Arial"/>
              </a:rPr>
              <a:t>Pachetul ajunge, prin Tor, în propria cutie poștală de pe serverul clientului.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011680"/>
            <a:ext cx="2606040" cy="356616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9050">
            <a:solidFill>
              <a:srgbClr val="D9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6520" y="2240280"/>
            <a:ext cx="640080" cy="640080"/>
          </a:xfrm>
          <a:prstGeom prst="ellipse">
            <a:avLst/>
          </a:prstGeom>
          <a:solidFill>
            <a:srgbClr val="307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2402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06324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0F2A3A"/>
                </a:solidFill>
                <a:latin typeface="Arial"/>
              </a:rPr>
              <a:t>Ridicare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611880"/>
            <a:ext cx="219456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05B63"/>
                </a:solidFill>
                <a:latin typeface="Arial"/>
              </a:rPr>
              <a:t>Contactul știe unde să caute și ridică pachetul. Răspunsul merge pe același drum.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39" y="2011680"/>
            <a:ext cx="2606040" cy="356616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9050">
            <a:solidFill>
              <a:srgbClr val="D9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35439" y="2240280"/>
            <a:ext cx="640080" cy="640080"/>
          </a:xfrm>
          <a:prstGeom prst="ellipse">
            <a:avLst/>
          </a:prstGeom>
          <a:solidFill>
            <a:srgbClr val="307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39" y="22402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39" y="306324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0F2A3A"/>
                </a:solidFill>
                <a:latin typeface="Arial"/>
              </a:rPr>
              <a:t>Dispariție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39" y="3611880"/>
            <a:ext cx="219456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05B63"/>
                </a:solidFill>
                <a:latin typeface="Arial"/>
              </a:rPr>
              <a:t>Ce rămâne neridicat dispare în cel mult o zi. Termenul îl stabilește operatorul.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72733"/>
                </a:solidFill>
                <a:latin typeface="Arial"/>
              </a:rPr>
              <a:t>Nu scrii niciodată direct unei persoane. Pui un mesaj sigilat în propria cutie poștală.</a:t>
            </a:r>
          </a:p>
        </p:txBody>
      </p:sp>
      <p:pic>
        <p:nvPicPr>
          <p:cNvPr id="25" name="Picture 24" descr="nexonai-logo-600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0"/>
            <a:ext cx="704675" cy="25603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657600" y="642823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05B63"/>
                </a:solidFill>
                <a:latin typeface="Arial"/>
              </a:rPr>
              <a:t>Neauditat, necertificat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4282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05B63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307098"/>
                </a:solidFill>
                <a:latin typeface="Arial"/>
              </a:rPr>
              <a:t>FĂRĂ IDENTITĂȚI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2A3A"/>
                </a:solidFill>
                <a:latin typeface="Arial"/>
              </a:rPr>
              <a:t>Nimeni nu este întrebat cine este.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5303520" cy="1783080"/>
          </a:xfrm>
          <a:prstGeom prst="roundRect">
            <a:avLst>
              <a:gd name="adj" fmla="val 7179"/>
            </a:avLst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0F2A3A"/>
                </a:solidFill>
                <a:latin typeface="Arial"/>
              </a:rPr>
              <a:t>Fără conturi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05B63"/>
                </a:solidFill>
                <a:latin typeface="Arial"/>
              </a:rPr>
              <a:t>Nu există înregistrare, nici nume de utilizator.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303520" cy="1783080"/>
          </a:xfrm>
          <a:prstGeom prst="roundRect">
            <a:avLst>
              <a:gd name="adj" fmla="val 7179"/>
            </a:avLst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0574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0F2A3A"/>
                </a:solidFill>
                <a:latin typeface="Arial"/>
              </a:rPr>
              <a:t>Fără număr de telefon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606040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05B63"/>
                </a:solidFill>
                <a:latin typeface="Arial"/>
              </a:rPr>
              <a:t>Nu se cere și nu se stochează.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886200"/>
            <a:ext cx="5303520" cy="1783080"/>
          </a:xfrm>
          <a:prstGeom prst="roundRect">
            <a:avLst>
              <a:gd name="adj" fmla="val 7179"/>
            </a:avLst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0F2A3A"/>
                </a:solidFill>
                <a:latin typeface="Arial"/>
              </a:rPr>
              <a:t>Fără director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63440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05B63"/>
                </a:solidFill>
                <a:latin typeface="Arial"/>
              </a:rPr>
              <a:t>Nu există o listă de utilizatori de unde să te găsească cineva.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886200"/>
            <a:ext cx="5303520" cy="1783080"/>
          </a:xfrm>
          <a:prstGeom prst="roundRect">
            <a:avLst>
              <a:gd name="adj" fmla="val 7179"/>
            </a:avLst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1148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0F2A3A"/>
                </a:solidFill>
                <a:latin typeface="Arial"/>
              </a:rPr>
              <a:t>Contact prin cod QR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663440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05B63"/>
                </a:solidFill>
                <a:latin typeface="Arial"/>
              </a:rPr>
              <a:t>Un contact se adaugă printr-un cod pe care îl schimbă doar cele două persoane, față în față.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307098"/>
                </a:solidFill>
                <a:latin typeface="Arial"/>
              </a:rPr>
              <a:t>Ce sistemul nu colectează, nu poate pierde și nu poate preda.</a:t>
            </a:r>
          </a:p>
        </p:txBody>
      </p:sp>
      <p:pic>
        <p:nvPicPr>
          <p:cNvPr id="17" name="Picture 16" descr="nexonai-logo-600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0"/>
            <a:ext cx="704675" cy="2560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57600" y="642823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05B63"/>
                </a:solidFill>
                <a:latin typeface="Arial"/>
              </a:rPr>
              <a:t>Neauditat, necertificat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282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05B63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307098"/>
                </a:solidFill>
                <a:latin typeface="Arial"/>
              </a:rPr>
              <a:t>CRIPTARE ȘI REȚEA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2A3A"/>
                </a:solidFill>
                <a:latin typeface="Arial"/>
              </a:rPr>
              <a:t>Ce se întâmplă sub capotă.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5303520" cy="2011680"/>
          </a:xfrm>
          <a:prstGeom prst="roundRect">
            <a:avLst>
              <a:gd name="adj" fmla="val 6363"/>
            </a:avLst>
          </a:prstGeom>
          <a:solidFill>
            <a:srgbClr val="FFFFFF"/>
          </a:solidFill>
          <a:ln w="19050">
            <a:solidFill>
              <a:srgbClr val="D9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29968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2A3A"/>
                </a:solidFill>
                <a:latin typeface="Arial"/>
              </a:rPr>
              <a:t>Criptare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06040"/>
            <a:ext cx="4846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>
                <a:solidFill>
                  <a:srgbClr val="505B63"/>
                </a:solidFill>
                <a:latin typeface="Arial"/>
              </a:rPr>
              <a:t>Double Ratchet (X25519, HKDF, XChaCha20-Poly1305) cu strat exterior AES-256-GCM. Secret înainte: o compromitere ulterioară nu deschide mesajele vechi.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303520" cy="2011680"/>
          </a:xfrm>
          <a:prstGeom prst="roundRect">
            <a:avLst>
              <a:gd name="adj" fmla="val 6363"/>
            </a:avLst>
          </a:prstGeom>
          <a:solidFill>
            <a:srgbClr val="FFFFFF"/>
          </a:solidFill>
          <a:ln w="19050">
            <a:solidFill>
              <a:srgbClr val="D9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29968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2A3A"/>
                </a:solidFill>
                <a:latin typeface="Arial"/>
              </a:rPr>
              <a:t>Rețea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606040"/>
            <a:ext cx="4846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>
                <a:solidFill>
                  <a:srgbClr val="505B63"/>
                </a:solidFill>
                <a:latin typeface="Arial"/>
              </a:rPr>
              <a:t>Tot traficul trece prin Tor. Serverul poate fi accesat doar ca serviciu ascuns, fără adresă IP publică expusă.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069080"/>
            <a:ext cx="5303520" cy="2011680"/>
          </a:xfrm>
          <a:prstGeom prst="roundRect">
            <a:avLst>
              <a:gd name="adj" fmla="val 6363"/>
            </a:avLst>
          </a:prstGeom>
          <a:solidFill>
            <a:srgbClr val="FFFFFF"/>
          </a:solidFill>
          <a:ln w="19050">
            <a:solidFill>
              <a:srgbClr val="D9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270248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2A3A"/>
                </a:solidFill>
                <a:latin typeface="Arial"/>
              </a:rPr>
              <a:t>Pachete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846320"/>
            <a:ext cx="4846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>
                <a:solidFill>
                  <a:srgbClr val="505B63"/>
                </a:solidFill>
                <a:latin typeface="Arial"/>
              </a:rPr>
              <a:t>Fiecare pachet are exact 4096 de octeți. Lungimea unui mesaj scurt nu se vede pe fir.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069080"/>
            <a:ext cx="5303520" cy="2011680"/>
          </a:xfrm>
          <a:prstGeom prst="roundRect">
            <a:avLst>
              <a:gd name="adj" fmla="val 6363"/>
            </a:avLst>
          </a:prstGeom>
          <a:solidFill>
            <a:srgbClr val="FFFFFF"/>
          </a:solidFill>
          <a:ln w="19050">
            <a:solidFill>
              <a:srgbClr val="D9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4270248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2A3A"/>
                </a:solidFill>
                <a:latin typeface="Arial"/>
              </a:rPr>
              <a:t>Pe dispozitiv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846320"/>
            <a:ext cx="4846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>
                <a:solidFill>
                  <a:srgbClr val="505B63"/>
                </a:solidFill>
                <a:latin typeface="Arial"/>
              </a:rPr>
              <a:t>Mesajele rămân doar în memorie. Baza de date cu contacte este criptată (SQLCipher). Blocarea ecranului șterge memoria.</a:t>
            </a:r>
          </a:p>
        </p:txBody>
      </p:sp>
      <p:pic>
        <p:nvPicPr>
          <p:cNvPr id="16" name="Picture 15" descr="nexonai-logo-600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0"/>
            <a:ext cx="704675" cy="2560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657600" y="642823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05B63"/>
                </a:solidFill>
                <a:latin typeface="Arial"/>
              </a:rPr>
              <a:t>Neauditat, necertificat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282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05B63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307098"/>
                </a:solidFill>
                <a:latin typeface="Arial"/>
              </a:rPr>
              <a:t>PRODUSE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2A3A"/>
                </a:solidFill>
                <a:latin typeface="Arial"/>
              </a:rPr>
              <a:t>Trei produse, o singură arhitectură.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3474720" cy="35661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9050">
            <a:solidFill>
              <a:srgbClr val="D9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307098"/>
                </a:solidFill>
                <a:latin typeface="Arial"/>
              </a:rPr>
              <a:t>TESTAT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F2A3A"/>
                </a:solidFill>
                <a:latin typeface="Arial"/>
              </a:rPr>
              <a:t>unpruuf Business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30175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05B63"/>
                </a:solidFill>
                <a:latin typeface="Arial"/>
              </a:rPr>
              <a:t>Comunicare internă fără identități pentru organizații cu conversații sensibile.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011680"/>
            <a:ext cx="3474720" cy="35661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9050">
            <a:solidFill>
              <a:srgbClr val="D9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63440" y="22860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2860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307098"/>
                </a:solidFill>
                <a:latin typeface="Arial"/>
              </a:rPr>
              <a:t>TESTAT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88036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F2A3A"/>
                </a:solidFill>
                <a:latin typeface="Arial"/>
              </a:rPr>
              <a:t>unpruuf Compliance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657600"/>
            <a:ext cx="30175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05B63"/>
                </a:solidFill>
                <a:latin typeface="Arial"/>
              </a:rPr>
              <a:t>Canal de raportare pentru semnalarea neregulilor, cu panou pentru responsabilul de caz.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59" y="2011680"/>
            <a:ext cx="3474720" cy="35661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9050">
            <a:solidFill>
              <a:srgbClr val="D9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0" y="22860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F8E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2860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A8500F"/>
                </a:solidFill>
                <a:latin typeface="Arial"/>
              </a:rPr>
              <a:t>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88036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F2A3A"/>
                </a:solidFill>
                <a:latin typeface="Arial"/>
              </a:rPr>
              <a:t>unpruuf Press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657600"/>
            <a:ext cx="30175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05B63"/>
                </a:solidFill>
                <a:latin typeface="Arial"/>
              </a:rPr>
              <a:t>Prim contact pentru surse, cu un cod pe fiecare cercetare. Încă neutilizat cu o sursă reală.</a:t>
            </a:r>
          </a:p>
        </p:txBody>
      </p:sp>
      <p:pic>
        <p:nvPicPr>
          <p:cNvPr id="19" name="Picture 18" descr="nexonai-logo-600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0"/>
            <a:ext cx="704675" cy="25603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657600" y="642823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05B63"/>
                </a:solidFill>
                <a:latin typeface="Arial"/>
              </a:rPr>
              <a:t>Neauditat, necertificat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282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05B63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307098"/>
                </a:solidFill>
                <a:latin typeface="Arial"/>
              </a:rPr>
              <a:t>UNPRUUF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2A3A"/>
                </a:solidFill>
                <a:latin typeface="Arial"/>
              </a:rPr>
              <a:t>Raportare anonimă, cu dialog și termene.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505B63"/>
                </a:solidFill>
                <a:latin typeface="Arial"/>
              </a:rPr>
              <a:t>Directiva (UE) 2019/1937 cere confirmare în 7 zile și răspuns în 3 luni. Cum răspunzi unei persoane pe care nu o cunoști?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651760"/>
            <a:ext cx="10881360" cy="2286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D9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2926080"/>
            <a:ext cx="822960" cy="146304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31750">
            <a:solidFill>
              <a:srgbClr val="3070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88720" y="3090672"/>
            <a:ext cx="640080" cy="960120"/>
          </a:xfrm>
          <a:prstGeom prst="roundRect">
            <a:avLst>
              <a:gd name="adj" fmla="val 7142"/>
            </a:avLst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49884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0F2A3A"/>
                </a:solidFill>
                <a:latin typeface="Arial"/>
              </a:rPr>
              <a:t>Raportorul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286000" y="3246120"/>
            <a:ext cx="1371600" cy="365760"/>
          </a:xfrm>
          <a:prstGeom prst="rightArrow">
            <a:avLst/>
          </a:prstGeom>
          <a:solidFill>
            <a:srgbClr val="307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0" y="3017520"/>
            <a:ext cx="1828800" cy="1280160"/>
          </a:xfrm>
          <a:prstGeom prst="roundRect">
            <a:avLst>
              <a:gd name="adj" fmla="val 7142"/>
            </a:avLst>
          </a:prstGeom>
          <a:solidFill>
            <a:srgbClr val="EAF2F8"/>
          </a:solidFill>
          <a:ln w="19050">
            <a:solidFill>
              <a:srgbClr val="3070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3017520"/>
            <a:ext cx="182880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F2A3A"/>
                </a:solidFill>
                <a:latin typeface="Arial"/>
              </a:rPr>
              <a:t>Canal pe</a:t>
            </a:r>
          </a:p>
          <a:p>
            <a:pPr algn="ctr">
              <a:spcAft>
                <a:spcPts val="0"/>
              </a:spcAft>
            </a:pPr>
            <a:r>
              <a:rPr sz="1300" b="1">
                <a:solidFill>
                  <a:srgbClr val="0F2A3A"/>
                </a:solidFill>
                <a:latin typeface="Arial"/>
              </a:rPr>
              <a:t>serverul clientului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52160" y="3246120"/>
            <a:ext cx="1371600" cy="365760"/>
          </a:xfrm>
          <a:prstGeom prst="rightArrow">
            <a:avLst/>
          </a:prstGeom>
          <a:solidFill>
            <a:srgbClr val="307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06640" y="2926080"/>
            <a:ext cx="3017520" cy="1463040"/>
          </a:xfrm>
          <a:prstGeom prst="roundRect">
            <a:avLst>
              <a:gd name="adj" fmla="val 6250"/>
            </a:avLst>
          </a:prstGeom>
          <a:solidFill>
            <a:srgbClr val="EAF2F8"/>
          </a:solidFill>
          <a:ln w="19050">
            <a:solidFill>
              <a:srgbClr val="3070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43800" y="3017520"/>
            <a:ext cx="274320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0F2A3A"/>
                </a:solidFill>
                <a:latin typeface="Arial"/>
              </a:rPr>
              <a:t>Responsabilul de caz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505B63"/>
                </a:solidFill>
                <a:latin typeface="Arial"/>
              </a:rPr>
              <a:t>Aplicație pe laptop, bază SQLite criptată, panou cu numere de caz și termene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166360"/>
            <a:ext cx="108813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F2A3A"/>
                </a:solidFill>
                <a:latin typeface="Arial"/>
              </a:rPr>
              <a:t>Raportorul </a:t>
            </a:r>
            <a:r>
              <a:rPr sz="1500" b="0">
                <a:solidFill>
                  <a:srgbClr val="172733"/>
                </a:solidFill>
                <a:latin typeface="Arial"/>
              </a:rPr>
              <a:t>rămâne anonim (statut de oaspete) și primește răspunsurile în aplicație.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0F2A3A"/>
                </a:solidFill>
                <a:latin typeface="Arial"/>
              </a:rPr>
              <a:t>Varianta în browser </a:t>
            </a:r>
            <a:r>
              <a:rPr sz="1500" b="0">
                <a:solidFill>
                  <a:srgbClr val="172733"/>
                </a:solidFill>
                <a:latin typeface="Arial"/>
              </a:rPr>
              <a:t>nu folosește Tor și oferă o protecție mai slabă. Ecranul de început spune asta.</a:t>
            </a:r>
          </a:p>
        </p:txBody>
      </p:sp>
      <p:pic>
        <p:nvPicPr>
          <p:cNvPr id="16" name="Picture 15" descr="nexonai-logo-600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0"/>
            <a:ext cx="704675" cy="2560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657600" y="642823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05B63"/>
                </a:solidFill>
                <a:latin typeface="Arial"/>
              </a:rPr>
              <a:t>Neauditat, necertificat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282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05B63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307098"/>
                </a:solidFill>
                <a:latin typeface="Arial"/>
              </a:rPr>
              <a:t>CINE VEDE 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2A3A"/>
                </a:solidFill>
                <a:latin typeface="Arial"/>
              </a:rPr>
              <a:t>Responsabilitățile sunt separate prin construcție.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2A3A"/>
                </a:solidFill>
                <a:latin typeface="Arial"/>
              </a:rPr>
              <a:t>Serverul clientului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828800"/>
            <a:ext cx="72237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72733"/>
                </a:solidFill>
                <a:latin typeface="Arial"/>
              </a:rPr>
              <a:t>Pachete sigilate, de aceeași mărime, fără nume. Dispar după cel mult o zi.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8036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2A3A"/>
                </a:solidFill>
                <a:latin typeface="Arial"/>
              </a:rPr>
              <a:t>NexonAI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880360"/>
            <a:ext cx="72237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72733"/>
                </a:solidFill>
                <a:latin typeface="Arial"/>
              </a:rPr>
              <a:t>Nimic. Nu operăm servere, nu monitorizăm trafic, nu avem copii ale datelor.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93192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2A3A"/>
                </a:solidFill>
                <a:latin typeface="Arial"/>
              </a:rPr>
              <a:t>Observator de rețea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931920"/>
            <a:ext cx="72237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72733"/>
                </a:solidFill>
                <a:latin typeface="Arial"/>
              </a:rPr>
              <a:t>Trafic Tor. Conținutul este criptat, iar mesajele scurte au dimensiune uniformă.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983479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983479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2A3A"/>
                </a:solidFill>
                <a:latin typeface="Arial"/>
              </a:rPr>
              <a:t>Organizația clientului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4983479"/>
            <a:ext cx="72237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72733"/>
                </a:solidFill>
                <a:latin typeface="Arial"/>
              </a:rPr>
              <a:t>Răspunde pentru ce păstrează ea însăși, de exemplu dosarele de caz.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1264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05B63"/>
                </a:solidFill>
                <a:latin typeface="Arial"/>
              </a:rPr>
              <a:t>Aplicabilitatea juridică în cazul fiecărui client trebuie confirmată de un jurist.</a:t>
            </a:r>
          </a:p>
        </p:txBody>
      </p:sp>
      <p:pic>
        <p:nvPicPr>
          <p:cNvPr id="17" name="Picture 16" descr="nexonai-logo-600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0"/>
            <a:ext cx="704675" cy="2560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57600" y="642823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05B63"/>
                </a:solidFill>
                <a:latin typeface="Arial"/>
              </a:rPr>
              <a:t>Neauditat, necertificat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282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05B63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307098"/>
                </a:solidFill>
                <a:latin typeface="Arial"/>
              </a:rPr>
              <a:t>LIMITE DE PRODUS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2A3A"/>
                </a:solidFill>
                <a:latin typeface="Arial"/>
              </a:rPr>
              <a:t>Ce unpruuf nu face, și de 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505B63"/>
                </a:solidFill>
                <a:latin typeface="Arial"/>
              </a:rPr>
              <a:t>Consecințe directe ale lipsei identităților, pe care le spunem deschis.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651760"/>
            <a:ext cx="347472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9050">
            <a:solidFill>
              <a:srgbClr val="D9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852928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2A3A"/>
                </a:solidFill>
                <a:latin typeface="Arial"/>
              </a:rPr>
              <a:t>Fără grupuri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42900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505B63"/>
                </a:solidFill>
                <a:latin typeface="Arial"/>
              </a:rPr>
              <a:t>Fără identități nu există liste de membri.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651760"/>
            <a:ext cx="347472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9050">
            <a:solidFill>
              <a:srgbClr val="D9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852928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2A3A"/>
                </a:solidFill>
                <a:latin typeface="Arial"/>
              </a:rPr>
              <a:t>Fără notificări push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342900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505B63"/>
                </a:solidFill>
                <a:latin typeface="Arial"/>
              </a:rPr>
              <a:t>Serviciile push cer o identitate de dispozitiv.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59" y="2651760"/>
            <a:ext cx="347472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9050">
            <a:solidFill>
              <a:srgbClr val="D9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59" y="2852928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2A3A"/>
                </a:solidFill>
                <a:latin typeface="Arial"/>
              </a:rPr>
              <a:t>Mesajele trăiesc o zi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59" y="342900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505B63"/>
                </a:solidFill>
                <a:latin typeface="Arial"/>
              </a:rPr>
              <a:t>Ce nu este ridicat într-o zi dispare.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34840"/>
            <a:ext cx="347472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9050">
            <a:solidFill>
              <a:srgbClr val="D9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636007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2A3A"/>
                </a:solidFill>
                <a:latin typeface="Arial"/>
              </a:rPr>
              <a:t>Tor este mai lent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212079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505B63"/>
                </a:solidFill>
                <a:latin typeface="Arial"/>
              </a:rPr>
              <a:t>Siguranța se plătește cu viteză.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4434840"/>
            <a:ext cx="347472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9050">
            <a:solidFill>
              <a:srgbClr val="D9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636007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2A3A"/>
                </a:solidFill>
                <a:latin typeface="Arial"/>
              </a:rPr>
              <a:t>Fișiere mari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5212079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505B63"/>
                </a:solidFill>
                <a:latin typeface="Arial"/>
              </a:rPr>
              <a:t>Pozele și fișierele merg în mai multe pachete și se văd ca atare.</a:t>
            </a:r>
          </a:p>
        </p:txBody>
      </p:sp>
      <p:pic>
        <p:nvPicPr>
          <p:cNvPr id="20" name="Picture 19" descr="nexonai-logo-600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0"/>
            <a:ext cx="704675" cy="25603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657600" y="642823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05B63"/>
                </a:solidFill>
                <a:latin typeface="Arial"/>
              </a:rPr>
              <a:t>Neauditat, necertificat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282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05B63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307098"/>
                </a:solidFill>
                <a:latin typeface="Arial"/>
              </a:rPr>
              <a:t>COMPONENTE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2A3A"/>
                </a:solidFill>
                <a:latin typeface="Arial"/>
              </a:rPr>
              <a:t>Ce există și în ce tehnologie.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881360" cy="749808"/>
          </a:xfrm>
          <a:prstGeom prst="roundRect">
            <a:avLst>
              <a:gd name="adj" fmla="val 12195"/>
            </a:avLst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2918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2A3A"/>
                </a:solidFill>
                <a:latin typeface="Arial"/>
              </a:rPr>
              <a:t>Aplicația Android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828800"/>
            <a:ext cx="70408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72733"/>
                </a:solidFill>
                <a:latin typeface="Arial"/>
              </a:rPr>
              <a:t>Kotlin. Ediții: standard, pro, client, group, whistleblower, press.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97480"/>
            <a:ext cx="10881360" cy="749808"/>
          </a:xfrm>
          <a:prstGeom prst="roundRect">
            <a:avLst>
              <a:gd name="adj" fmla="val 12195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32918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2A3A"/>
                </a:solidFill>
                <a:latin typeface="Arial"/>
              </a:rPr>
              <a:t>Serverul (relay)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697480"/>
            <a:ext cx="70408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72733"/>
                </a:solidFill>
                <a:latin typeface="Arial"/>
              </a:rPr>
              <a:t>Node.js / TypeScript. Docker, sau proces Windows/Mac cu Tor propriu.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566160"/>
            <a:ext cx="10881360" cy="749808"/>
          </a:xfrm>
          <a:prstGeom prst="roundRect">
            <a:avLst>
              <a:gd name="adj" fmla="val 12195"/>
            </a:avLst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566160"/>
            <a:ext cx="32918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2A3A"/>
                </a:solidFill>
                <a:latin typeface="Arial"/>
              </a:rPr>
              <a:t>Relay pe Android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3566160"/>
            <a:ext cx="70408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72733"/>
                </a:solidFill>
                <a:latin typeface="Arial"/>
              </a:rPr>
              <a:t>Kotlin, același protocol ca serverul.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34840"/>
            <a:ext cx="10881360" cy="749808"/>
          </a:xfrm>
          <a:prstGeom prst="roundRect">
            <a:avLst>
              <a:gd name="adj" fmla="val 12195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434840"/>
            <a:ext cx="32918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2A3A"/>
                </a:solidFill>
                <a:latin typeface="Arial"/>
              </a:rPr>
              <a:t>Aplicația responsabilului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4434840"/>
            <a:ext cx="70408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72733"/>
                </a:solidFill>
                <a:latin typeface="Arial"/>
              </a:rPr>
              <a:t>Node.js / TypeScript, SQLite criptat, panou de caz.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303520"/>
            <a:ext cx="10881360" cy="749808"/>
          </a:xfrm>
          <a:prstGeom prst="roundRect">
            <a:avLst>
              <a:gd name="adj" fmla="val 12195"/>
            </a:avLst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03520"/>
            <a:ext cx="32918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2A3A"/>
                </a:solidFill>
                <a:latin typeface="Arial"/>
              </a:rPr>
              <a:t>Raportor web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5303520"/>
            <a:ext cx="70408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72733"/>
                </a:solidFill>
                <a:latin typeface="Arial"/>
              </a:rPr>
              <a:t>Browser, fără Tor, pentru situații în care nu se poate instala aplicația.</a:t>
            </a:r>
          </a:p>
        </p:txBody>
      </p:sp>
      <p:pic>
        <p:nvPicPr>
          <p:cNvPr id="19" name="Picture 18" descr="nexonai-logo-600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0"/>
            <a:ext cx="704675" cy="25603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657600" y="642823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05B63"/>
                </a:solidFill>
                <a:latin typeface="Arial"/>
              </a:rPr>
              <a:t>Neauditat, necertificat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282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05B63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143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754880"/>
            <a:ext cx="3840480" cy="3840480"/>
          </a:xfrm>
          <a:prstGeom prst="ellipse">
            <a:avLst/>
          </a:prstGeom>
          <a:solidFill>
            <a:srgbClr val="143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Arial"/>
              </a:rPr>
              <a:t>Comunicare fără identități.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90C8E8"/>
                </a:solidFill>
                <a:latin typeface="Arial"/>
              </a:rPr>
              <a:t>Serverul este al tău. Nimeni din mijloc.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463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NexonAI Consulting SRL  ·  unpruuf@nexonai.ro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636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0C8E8"/>
                </a:solidFill>
                <a:latin typeface="Arial"/>
              </a:rPr>
              <a:t>Neauditat, necertificat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