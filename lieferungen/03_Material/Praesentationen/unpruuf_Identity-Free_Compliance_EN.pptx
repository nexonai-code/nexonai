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6474046"/>
          </a:xfrm>
          <a:prstGeom prst="rect">
            <a:avLst/>
          </a:prstGeom>
          <a:solidFill>
            <a:srgbClr val="2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4046"/>
            <a:ext cx="16256000" cy="153581"/>
          </a:xfrm>
          <a:prstGeom prst="rect">
            <a:avLst/>
          </a:prstGeom>
          <a:solidFill>
            <a:srgbClr val="7E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9767" y="472558"/>
            <a:ext cx="14767441" cy="236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696" b="1" i="0">
                <a:solidFill>
                  <a:srgbClr val="FFFFFF"/>
                </a:solidFill>
                <a:latin typeface="Arial"/>
              </a:rPr>
              <a:t>Compliance through</a:t>
            </a:r>
          </a:p>
          <a:p>
            <a:pPr algn="l">
              <a:spcAft>
                <a:spcPts val="0"/>
              </a:spcAft>
            </a:pPr>
            <a:r>
              <a:rPr sz="6696" b="1" i="0">
                <a:solidFill>
                  <a:srgbClr val="FFFFFF"/>
                </a:solidFill>
                <a:latin typeface="Arial"/>
              </a:rPr>
              <a:t>Absolute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767" y="2953488"/>
            <a:ext cx="14176744" cy="16539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64" b="0" i="0">
                <a:solidFill>
                  <a:srgbClr val="B9BEC2"/>
                </a:solidFill>
                <a:latin typeface="Arial"/>
              </a:rPr>
              <a:t>unpruuf Compliance: The ultimate standard for secure, anonymous, identity-free reporting.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767" y="7974418"/>
            <a:ext cx="14767441" cy="708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534" b="0" i="0">
                <a:solidFill>
                  <a:srgbClr val="1E2630"/>
                </a:solidFill>
                <a:latin typeface="Arial"/>
              </a:rPr>
              <a:t>We protect employees’ identities. We secure company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2_i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418"/>
            <a:ext cx="16256000" cy="36032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1488" y="4276651"/>
            <a:ext cx="14767441" cy="945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185" b="1" i="0">
                <a:solidFill>
                  <a:srgbClr val="0F1E3C"/>
                </a:solidFill>
                <a:latin typeface="Arial"/>
              </a:rPr>
              <a:t>The Human Barrier: Why do employees choose silence?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517116" y="5729767"/>
            <a:ext cx="0" cy="2894419"/>
          </a:xfrm>
          <a:prstGeom prst="line">
            <a:avLst/>
          </a:prstGeom>
          <a:ln w="317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715255" y="5729767"/>
            <a:ext cx="0" cy="2894419"/>
          </a:xfrm>
          <a:prstGeom prst="line">
            <a:avLst/>
          </a:prstGeom>
          <a:ln w="317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1034232" y="5706139"/>
            <a:ext cx="4583813" cy="2882604"/>
          </a:xfrm>
          <a:prstGeom prst="roundRect">
            <a:avLst>
              <a:gd name="adj" fmla="val 6557"/>
            </a:avLst>
          </a:prstGeom>
          <a:solidFill>
            <a:srgbClr val="D5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1488" y="5966046"/>
            <a:ext cx="4253023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76" b="1" i="0">
                <a:solidFill>
                  <a:srgbClr val="0F1E3C"/>
                </a:solidFill>
                <a:latin typeface="Arial"/>
              </a:rPr>
              <a:t>The Old Paradigm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488" y="6674883"/>
            <a:ext cx="4134883" cy="2008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78" b="0" i="0">
                <a:solidFill>
                  <a:srgbClr val="1E2630"/>
                </a:solidFill>
                <a:latin typeface="Arial"/>
              </a:rPr>
              <a:t>Emails, web forms and messaging apps are built for identities. They require accounts, phone numbers or IP addresses.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6930" y="5966046"/>
            <a:ext cx="4253023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76" b="1" i="0">
                <a:solidFill>
                  <a:srgbClr val="0F1E3C"/>
                </a:solidFill>
                <a:latin typeface="Arial"/>
              </a:rPr>
              <a:t>The Digital Footprint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6930" y="6674883"/>
            <a:ext cx="4134883" cy="2008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78" b="0" i="0">
                <a:solidFill>
                  <a:srgbClr val="1E2630"/>
                </a:solidFill>
                <a:latin typeface="Arial"/>
              </a:rPr>
              <a:t>Every message carries metadata. Every server keeps logs. However secure the platform seems, the sender and the message stay linked.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0511" y="5966046"/>
            <a:ext cx="4253023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76" b="1" i="0">
                <a:solidFill>
                  <a:srgbClr val="0F1E3C"/>
                </a:solidFill>
                <a:latin typeface="Arial"/>
              </a:rPr>
              <a:t>The Consequence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0511" y="6674883"/>
            <a:ext cx="4134883" cy="2008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78" b="0" i="0">
                <a:solidFill>
                  <a:srgbClr val="1E2630"/>
                </a:solidFill>
                <a:latin typeface="Arial"/>
              </a:rPr>
              <a:t>Fear of retaliation and of data leaks on external servers (Cloud) is the main reason why irregularities are not reported in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1488" y="590697"/>
            <a:ext cx="14767441" cy="945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50" b="1" i="0">
                <a:solidFill>
                  <a:srgbClr val="0F1E3C"/>
                </a:solidFill>
                <a:latin typeface="Arial"/>
              </a:rPr>
              <a:t>The Legal Mandate: EU Directive (2019/1937)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1488" y="1476744"/>
            <a:ext cx="14176744" cy="1181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69" b="0" i="0">
                <a:solidFill>
                  <a:srgbClr val="6B7480"/>
                </a:solidFill>
                <a:latin typeface="Arial"/>
              </a:rPr>
              <a:t>Organizations with more than 50 employees and public institutions are required to implement secure internal reporting channels.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5139069"/>
            <a:ext cx="16256000" cy="0"/>
          </a:xfrm>
          <a:prstGeom prst="line">
            <a:avLst/>
          </a:prstGeom>
          <a:ln w="177800">
            <a:solidFill>
              <a:srgbClr val="8AD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15162" y="3366976"/>
            <a:ext cx="3662325" cy="118139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5766" b="1" i="0">
                <a:solidFill>
                  <a:srgbClr val="0F1E3C"/>
                </a:solidFill>
                <a:latin typeface="Arial"/>
              </a:rPr>
              <a:t>50+</a:t>
            </a:r>
          </a:p>
        </p:txBody>
      </p:sp>
      <p:sp>
        <p:nvSpPr>
          <p:cNvPr id="6" name="Oval 5"/>
          <p:cNvSpPr/>
          <p:nvPr/>
        </p:nvSpPr>
        <p:spPr>
          <a:xfrm>
            <a:off x="2032000" y="4524744"/>
            <a:ext cx="1228651" cy="1228651"/>
          </a:xfrm>
          <a:prstGeom prst="ellipse">
            <a:avLst/>
          </a:prstGeom>
          <a:solidFill>
            <a:srgbClr val="8AD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21023" y="4713767"/>
            <a:ext cx="850604" cy="8506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4232" y="5966046"/>
            <a:ext cx="3544186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162" b="1" i="0">
                <a:solidFill>
                  <a:srgbClr val="0F1E3C"/>
                </a:solidFill>
                <a:latin typeface="Arial"/>
              </a:rPr>
              <a:t>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651" y="6615813"/>
            <a:ext cx="2835348" cy="2008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78" b="0" i="0">
                <a:solidFill>
                  <a:srgbClr val="2A3340"/>
                </a:solidFill>
                <a:latin typeface="Arial"/>
              </a:rPr>
              <a:t>Obligation to establish an internal reporting channel.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5674" y="3366976"/>
            <a:ext cx="3662325" cy="118139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5766" b="1" i="0">
                <a:solidFill>
                  <a:srgbClr val="0F1E3C"/>
                </a:solidFill>
                <a:latin typeface="Arial"/>
              </a:rPr>
              <a:t>7 Days</a:t>
            </a:r>
          </a:p>
        </p:txBody>
      </p:sp>
      <p:sp>
        <p:nvSpPr>
          <p:cNvPr id="11" name="Oval 10"/>
          <p:cNvSpPr/>
          <p:nvPr/>
        </p:nvSpPr>
        <p:spPr>
          <a:xfrm>
            <a:off x="5682511" y="4524744"/>
            <a:ext cx="1228651" cy="1228651"/>
          </a:xfrm>
          <a:prstGeom prst="ellipse">
            <a:avLst/>
          </a:prstGeom>
          <a:solidFill>
            <a:srgbClr val="8AD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71534" y="4713767"/>
            <a:ext cx="850604" cy="8506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4744" y="5966046"/>
            <a:ext cx="3544186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162" b="1" i="0">
                <a:solidFill>
                  <a:srgbClr val="0F1E3C"/>
                </a:solidFill>
                <a:latin typeface="Arial"/>
              </a:rPr>
              <a:t>Confirmation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9162" y="6615813"/>
            <a:ext cx="2835348" cy="2008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78" b="0" i="0">
                <a:solidFill>
                  <a:srgbClr val="2A3340"/>
                </a:solidFill>
                <a:latin typeface="Arial"/>
              </a:rPr>
              <a:t>Maximum deadline for confirming receipt of the report to the whistleblower.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6186" y="3366976"/>
            <a:ext cx="3662325" cy="118139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5766" b="1" i="0">
                <a:solidFill>
                  <a:srgbClr val="0F1E3C"/>
                </a:solidFill>
                <a:latin typeface="Arial"/>
              </a:rPr>
              <a:t>3 Months</a:t>
            </a:r>
          </a:p>
        </p:txBody>
      </p:sp>
      <p:sp>
        <p:nvSpPr>
          <p:cNvPr id="16" name="Oval 15"/>
          <p:cNvSpPr/>
          <p:nvPr/>
        </p:nvSpPr>
        <p:spPr>
          <a:xfrm>
            <a:off x="9333023" y="4524744"/>
            <a:ext cx="1228651" cy="1228651"/>
          </a:xfrm>
          <a:prstGeom prst="ellipse">
            <a:avLst/>
          </a:prstGeom>
          <a:solidFill>
            <a:srgbClr val="8AD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22046" y="4713767"/>
            <a:ext cx="850604" cy="8506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5255" y="5966046"/>
            <a:ext cx="3544186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162" b="1" i="0">
                <a:solidFill>
                  <a:srgbClr val="0F1E3C"/>
                </a:solidFill>
                <a:latin typeface="Arial"/>
              </a:rPr>
              <a:t>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9674" y="6615813"/>
            <a:ext cx="2835348" cy="2008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78" b="0" i="0">
                <a:solidFill>
                  <a:srgbClr val="2A3340"/>
                </a:solidFill>
                <a:latin typeface="Arial"/>
              </a:rPr>
              <a:t>Maximum deadline for giving feedback on the measures taken.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78511" y="3366976"/>
            <a:ext cx="3662325" cy="118139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5766" b="1" i="0">
                <a:solidFill>
                  <a:srgbClr val="0F1E3C"/>
                </a:solidFill>
                <a:latin typeface="Arial"/>
              </a:rPr>
              <a:t>3 Years</a:t>
            </a:r>
          </a:p>
        </p:txBody>
      </p:sp>
      <p:sp>
        <p:nvSpPr>
          <p:cNvPr id="21" name="Oval 20"/>
          <p:cNvSpPr/>
          <p:nvPr/>
        </p:nvSpPr>
        <p:spPr>
          <a:xfrm>
            <a:off x="12995348" y="4524744"/>
            <a:ext cx="1228651" cy="1228651"/>
          </a:xfrm>
          <a:prstGeom prst="ellipse">
            <a:avLst/>
          </a:prstGeom>
          <a:solidFill>
            <a:srgbClr val="8AD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184372" y="4713767"/>
            <a:ext cx="850604" cy="8506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37581" y="5966046"/>
            <a:ext cx="3544186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162" b="1" i="0">
                <a:solidFill>
                  <a:srgbClr val="0F1E3C"/>
                </a:solidFill>
                <a:latin typeface="Arial"/>
              </a:rPr>
              <a:t>Deletion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92000" y="6615813"/>
            <a:ext cx="2835348" cy="2008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78" b="0" i="0">
                <a:solidFill>
                  <a:srgbClr val="2A3340"/>
                </a:solidFill>
                <a:latin typeface="Arial"/>
              </a:rPr>
              <a:t>Standard period after which the documentation must be deleted (temporary retention, not permanent).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5302"/>
            <a:ext cx="16256000" cy="945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022" b="1" i="0">
                <a:solidFill>
                  <a:srgbClr val="FFFFFF"/>
                </a:solidFill>
                <a:latin typeface="Arial"/>
              </a:rPr>
              <a:t>The Paradigm Shift: Decoupling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558" y="1512186"/>
            <a:ext cx="7560930" cy="7147441"/>
          </a:xfrm>
          <a:prstGeom prst="rect">
            <a:avLst/>
          </a:prstGeom>
          <a:solidFill>
            <a:srgbClr val="384454"/>
          </a:solidFill>
          <a:ln w="38100">
            <a:solidFill>
              <a:srgbClr val="7EE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2558" y="1512186"/>
            <a:ext cx="7560930" cy="732465"/>
          </a:xfrm>
          <a:prstGeom prst="rect">
            <a:avLst/>
          </a:prstGeom>
          <a:solidFill>
            <a:srgbClr val="7EE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558" y="1512186"/>
            <a:ext cx="7560930" cy="732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348" b="1" i="0">
                <a:solidFill>
                  <a:srgbClr val="123A33"/>
                </a:solidFill>
                <a:latin typeface="Arial"/>
              </a:rPr>
              <a:t>The Old Method –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46139" y="1512186"/>
            <a:ext cx="7560930" cy="7147441"/>
          </a:xfrm>
          <a:prstGeom prst="rect">
            <a:avLst/>
          </a:prstGeom>
          <a:solidFill>
            <a:srgbClr val="1B2A44"/>
          </a:solidFill>
          <a:ln w="38100">
            <a:solidFill>
              <a:srgbClr val="7EE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46139" y="1512186"/>
            <a:ext cx="7560930" cy="732465"/>
          </a:xfrm>
          <a:prstGeom prst="rect">
            <a:avLst/>
          </a:prstGeom>
          <a:solidFill>
            <a:srgbClr val="7EE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46139" y="1512186"/>
            <a:ext cx="7560930" cy="732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348" b="1" i="0">
                <a:solidFill>
                  <a:srgbClr val="123A33"/>
                </a:solidFill>
                <a:latin typeface="Arial"/>
              </a:rPr>
              <a:t>The unpruuf Method – Innovation</a:t>
            </a:r>
          </a:p>
        </p:txBody>
      </p:sp>
      <p:pic>
        <p:nvPicPr>
          <p:cNvPr id="9" name="Picture 8" descr="s4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13" y="2268279"/>
            <a:ext cx="7466418" cy="4465674"/>
          </a:xfrm>
          <a:prstGeom prst="rect">
            <a:avLst/>
          </a:prstGeom>
        </p:spPr>
      </p:pic>
      <p:pic>
        <p:nvPicPr>
          <p:cNvPr id="10" name="Picture 9" descr="s4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9767" y="2268279"/>
            <a:ext cx="7466418" cy="42530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6976" y="6828465"/>
            <a:ext cx="6852093" cy="16539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790" b="0" i="0">
                <a:solidFill>
                  <a:srgbClr val="A9B0B8"/>
                </a:solidFill>
                <a:latin typeface="Arial"/>
              </a:rPr>
              <a:t>Direct connection. Information passes through a central server that sees “who” is talking to “whom”.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5116" y="6615813"/>
            <a:ext cx="6970232" cy="2008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790" b="1" i="0">
                <a:solidFill>
                  <a:srgbClr val="FFFFFF"/>
                </a:solidFill>
                <a:latin typeface="Arial"/>
              </a:rPr>
              <a:t>No direct connection. </a:t>
            </a:r>
            <a:r>
              <a:rPr sz="2790" b="0" i="0">
                <a:solidFill>
                  <a:srgbClr val="FFFFFF"/>
                </a:solidFill>
                <a:latin typeface="Arial"/>
              </a:rPr>
              <a:t>Complete absence of user identities: no profiles, no e-mail, no member lists. Sender and message are physically decoupled.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4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1488" y="448930"/>
            <a:ext cx="14767441" cy="945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22" b="1" i="0">
                <a:solidFill>
                  <a:srgbClr val="FFFFFF"/>
                </a:solidFill>
                <a:latin typeface="Arial"/>
              </a:rPr>
              <a:t>100% Anonymity through ‘Digital Safes’</a:t>
            </a:r>
          </a:p>
        </p:txBody>
      </p:sp>
      <p:pic>
        <p:nvPicPr>
          <p:cNvPr id="3" name="Picture 2" descr="s5_e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2186"/>
            <a:ext cx="6899348" cy="510362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15813"/>
            <a:ext cx="6899348" cy="2457302"/>
          </a:xfrm>
          <a:prstGeom prst="rect">
            <a:avLst/>
          </a:prstGeom>
          <a:solidFill>
            <a:srgbClr val="3E4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697" y="6781209"/>
            <a:ext cx="5788837" cy="2244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4" b="0" i="1">
                <a:solidFill>
                  <a:srgbClr val="FFFFFF"/>
                </a:solidFill>
                <a:latin typeface="Arial"/>
              </a:rPr>
              <a:t>Instead of sending a direct message, the user places a “sealed envelope” in a digital safe located on your company’s server.</a:t>
            </a:r>
          </a:p>
        </p:txBody>
      </p:sp>
      <p:pic>
        <p:nvPicPr>
          <p:cNvPr id="6" name="Picture 5" descr="s5_i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162" y="1653953"/>
            <a:ext cx="1016000" cy="1417674"/>
          </a:xfrm>
          <a:prstGeom prst="rect">
            <a:avLst/>
          </a:prstGeom>
        </p:spPr>
      </p:pic>
      <p:pic>
        <p:nvPicPr>
          <p:cNvPr id="7" name="Picture 6" descr="s5_i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9162" y="3638697"/>
            <a:ext cx="1016000" cy="1086883"/>
          </a:xfrm>
          <a:prstGeom prst="rect">
            <a:avLst/>
          </a:prstGeom>
        </p:spPr>
      </p:pic>
      <p:pic>
        <p:nvPicPr>
          <p:cNvPr id="8" name="Picture 7" descr="s5_i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9162" y="5458046"/>
            <a:ext cx="1016000" cy="11813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7767" y="1724837"/>
            <a:ext cx="7088372" cy="5198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69" b="1" i="0">
                <a:solidFill>
                  <a:srgbClr val="FFFFFF"/>
                </a:solidFill>
                <a:latin typeface="Arial"/>
              </a:rPr>
              <a:t>No Traces (Tor Technology)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7767" y="2221023"/>
            <a:ext cx="7088372" cy="12995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71" b="0" i="0">
                <a:solidFill>
                  <a:srgbClr val="FFFFFF"/>
                </a:solidFill>
                <a:latin typeface="Arial"/>
              </a:rPr>
              <a:t>The system hides the origin. Traffic is camouflaged to look like ordinary web browsing (HTTP Camouflage).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7767" y="3685953"/>
            <a:ext cx="7088372" cy="5198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69" b="1" i="0">
                <a:solidFill>
                  <a:srgbClr val="FFFFFF"/>
                </a:solidFill>
                <a:latin typeface="Arial"/>
              </a:rPr>
              <a:t>Packet Uniformity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7767" y="4182139"/>
            <a:ext cx="7088372" cy="12995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71" b="0" i="0">
                <a:solidFill>
                  <a:srgbClr val="FFFFFF"/>
                </a:solidFill>
                <a:latin typeface="Arial"/>
              </a:rPr>
              <a:t>All data packets have exactly the same fixed size. Traffic analysis becomes mathematically ineffective.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7767" y="5552558"/>
            <a:ext cx="7088372" cy="5198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69" b="1" i="0">
                <a:solidFill>
                  <a:srgbClr val="FFFFFF"/>
                </a:solidFill>
                <a:latin typeface="Arial"/>
              </a:rPr>
              <a:t>No Public IP Addresses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7767" y="6048744"/>
            <a:ext cx="7088372" cy="12995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71" b="0" i="0">
                <a:solidFill>
                  <a:srgbClr val="FFFFFF"/>
                </a:solidFill>
                <a:latin typeface="Arial"/>
              </a:rPr>
              <a:t>The server operates “in the dark”, only inside the secured network, shielded from external attacks.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66418" y="7466418"/>
            <a:ext cx="8328837" cy="1205023"/>
          </a:xfrm>
          <a:prstGeom prst="rect">
            <a:avLst/>
          </a:prstGeom>
          <a:solidFill>
            <a:srgbClr val="1A2848"/>
          </a:solidFill>
          <a:ln w="38100">
            <a:solidFill>
              <a:srgbClr val="7EE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79069" y="7466418"/>
            <a:ext cx="7915348" cy="1205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69" b="1" i="0">
                <a:solidFill>
                  <a:srgbClr val="FFFFFF"/>
                </a:solidFill>
                <a:latin typeface="Arial"/>
              </a:rPr>
              <a:t>The real benefit: </a:t>
            </a:r>
            <a:r>
              <a:rPr sz="3069" b="0" i="0">
                <a:solidFill>
                  <a:srgbClr val="FFFFFF"/>
                </a:solidFill>
                <a:latin typeface="Arial"/>
              </a:rPr>
              <a:t>Zero metadata means zero fear of retaliation.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5302"/>
            <a:ext cx="16256000" cy="945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022" b="1" i="0">
                <a:solidFill>
                  <a:srgbClr val="FFFFFF"/>
                </a:solidFill>
                <a:latin typeface="Arial"/>
              </a:rPr>
              <a:t>Bidirectional Anonymous Dialog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2558" y="1512186"/>
            <a:ext cx="15310883" cy="1063255"/>
          </a:xfrm>
          <a:prstGeom prst="roundRect">
            <a:avLst>
              <a:gd name="adj" fmla="val 15555"/>
            </a:avLst>
          </a:prstGeom>
          <a:solidFill>
            <a:srgbClr val="D5F2E4"/>
          </a:solidFill>
          <a:ln w="38100">
            <a:solidFill>
              <a:srgbClr val="7EE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837" y="1512186"/>
            <a:ext cx="14838325" cy="10632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69" b="0" i="0">
                <a:solidFill>
                  <a:srgbClr val="1E2630"/>
                </a:solidFill>
                <a:latin typeface="Arial"/>
              </a:rPr>
              <a:t>The law requires you to give </a:t>
            </a:r>
            <a:r>
              <a:rPr sz="3069" b="1" i="0">
                <a:solidFill>
                  <a:srgbClr val="1E2630"/>
                </a:solidFill>
                <a:latin typeface="Arial"/>
              </a:rPr>
              <a:t>feedback within 3 months</a:t>
            </a:r>
            <a:r>
              <a:rPr sz="3069" b="0" i="0">
                <a:solidFill>
                  <a:srgbClr val="1E2630"/>
                </a:solidFill>
                <a:latin typeface="Arial"/>
              </a:rPr>
              <a:t>. How do you answer someone you do not know?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6186" y="2953488"/>
            <a:ext cx="7395534" cy="4725581"/>
          </a:xfrm>
          <a:prstGeom prst="roundRect">
            <a:avLst>
              <a:gd name="adj" fmla="val 35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64279" y="2953488"/>
            <a:ext cx="7407348" cy="472558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50800">
            <a:solidFill>
              <a:srgbClr val="7EE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6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906" y="3166139"/>
            <a:ext cx="1890232" cy="1854790"/>
          </a:xfrm>
          <a:prstGeom prst="rect">
            <a:avLst/>
          </a:prstGeom>
        </p:spPr>
      </p:pic>
      <p:pic>
        <p:nvPicPr>
          <p:cNvPr id="8" name="Picture 7" descr="s6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186" y="3284279"/>
            <a:ext cx="1831162" cy="16775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8837" y="5174511"/>
            <a:ext cx="6970232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534" b="1" i="0">
                <a:solidFill>
                  <a:srgbClr val="FFFFFF"/>
                </a:solidFill>
                <a:latin typeface="Arial"/>
              </a:rPr>
              <a:t>The Whistleblower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5116" y="5788837"/>
            <a:ext cx="6733953" cy="1890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90" b="0" i="0">
                <a:solidFill>
                  <a:srgbClr val="FFFFFF"/>
                </a:solidFill>
                <a:latin typeface="Arial"/>
              </a:rPr>
              <a:t>•  </a:t>
            </a:r>
            <a:r>
              <a:rPr sz="2790" b="0" i="0">
                <a:solidFill>
                  <a:srgbClr val="FFFFFF"/>
                </a:solidFill>
                <a:latin typeface="Arial"/>
              </a:rPr>
              <a:t>Remains completely anonymous (“guest” status).</a:t>
            </a:r>
          </a:p>
          <a:p>
            <a:pPr algn="l">
              <a:spcAft>
                <a:spcPts val="400"/>
              </a:spcAft>
            </a:pPr>
            <a:r>
              <a:rPr sz="2790" b="0" i="0">
                <a:solidFill>
                  <a:srgbClr val="FFFFFF"/>
                </a:solidFill>
                <a:latin typeface="Arial"/>
              </a:rPr>
              <a:t>•  </a:t>
            </a:r>
            <a:r>
              <a:rPr sz="2790" b="0" i="0">
                <a:solidFill>
                  <a:srgbClr val="FFFFFF"/>
                </a:solidFill>
                <a:latin typeface="Arial"/>
              </a:rPr>
              <a:t>Receives secure notifications directly in the app, without providing contact details.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6930" y="5174511"/>
            <a:ext cx="6970232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534" b="1" i="0">
                <a:solidFill>
                  <a:srgbClr val="0F1E3C"/>
                </a:solidFill>
                <a:latin typeface="Arial"/>
              </a:rPr>
              <a:t>The Compliance Officer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0465" y="5788837"/>
            <a:ext cx="6615813" cy="1890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90" b="0" i="0">
                <a:solidFill>
                  <a:srgbClr val="1E2630"/>
                </a:solidFill>
                <a:latin typeface="Arial"/>
              </a:rPr>
              <a:t>•  </a:t>
            </a:r>
            <a:r>
              <a:rPr sz="2790" b="0" i="0">
                <a:solidFill>
                  <a:srgbClr val="1E2630"/>
                </a:solidFill>
                <a:latin typeface="Arial"/>
              </a:rPr>
              <a:t>Can ask clarifying questions.</a:t>
            </a:r>
          </a:p>
          <a:p>
            <a:pPr algn="l">
              <a:spcAft>
                <a:spcPts val="400"/>
              </a:spcAft>
            </a:pPr>
            <a:r>
              <a:rPr sz="2790" b="0" i="0">
                <a:solidFill>
                  <a:srgbClr val="1E2630"/>
                </a:solidFill>
                <a:latin typeface="Arial"/>
              </a:rPr>
              <a:t>•  </a:t>
            </a:r>
            <a:r>
              <a:rPr sz="2790" b="0" i="0">
                <a:solidFill>
                  <a:srgbClr val="1E2630"/>
                </a:solidFill>
                <a:latin typeface="Arial"/>
              </a:rPr>
              <a:t>Can send the 7-day confirmation and the 3-month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2558" y="7950790"/>
            <a:ext cx="15310883" cy="708837"/>
          </a:xfrm>
          <a:prstGeom prst="rect">
            <a:avLst/>
          </a:prstGeom>
          <a:solidFill>
            <a:srgbClr val="7EE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558" y="7950790"/>
            <a:ext cx="15310883" cy="7088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69" b="1" i="0">
                <a:solidFill>
                  <a:srgbClr val="123A33"/>
                </a:solidFill>
                <a:latin typeface="Arial"/>
              </a:rPr>
              <a:t>Result: </a:t>
            </a:r>
            <a:r>
              <a:rPr sz="3069" b="0" i="0">
                <a:solidFill>
                  <a:srgbClr val="123A33"/>
                </a:solidFill>
                <a:latin typeface="Arial"/>
              </a:rPr>
              <a:t>Full legal compliance while maintaining trust and source protection.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54418"/>
            <a:ext cx="16256000" cy="945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022" b="1" i="0">
                <a:solidFill>
                  <a:srgbClr val="FFFFFF"/>
                </a:solidFill>
                <a:latin typeface="Arial"/>
              </a:rPr>
              <a:t>Data Sovereignty: Zero Custody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930" y="2008372"/>
            <a:ext cx="7419162" cy="6651255"/>
          </a:xfrm>
          <a:prstGeom prst="roundRect">
            <a:avLst>
              <a:gd name="adj" fmla="val 2131"/>
            </a:avLst>
          </a:prstGeom>
          <a:solidFill>
            <a:srgbClr val="343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11534" y="2008372"/>
            <a:ext cx="7419162" cy="6651255"/>
          </a:xfrm>
          <a:prstGeom prst="roundRect">
            <a:avLst>
              <a:gd name="adj" fmla="val 2131"/>
            </a:avLst>
          </a:prstGeom>
          <a:solidFill>
            <a:srgbClr val="1F2C47"/>
          </a:solidFill>
          <a:ln w="381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128000" y="2032000"/>
            <a:ext cx="0" cy="6651255"/>
          </a:xfrm>
          <a:prstGeom prst="line">
            <a:avLst/>
          </a:prstGeom>
          <a:ln w="50800">
            <a:solidFill>
              <a:srgbClr val="3FD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7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348" y="1323162"/>
            <a:ext cx="2717209" cy="3579627"/>
          </a:xfrm>
          <a:prstGeom prst="rect">
            <a:avLst/>
          </a:prstGeom>
        </p:spPr>
      </p:pic>
      <p:pic>
        <p:nvPicPr>
          <p:cNvPr id="7" name="Picture 6" descr="s7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279" y="1323162"/>
            <a:ext cx="3071627" cy="35796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8837" y="4985488"/>
            <a:ext cx="6970232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348" b="1" i="0">
                <a:solidFill>
                  <a:srgbClr val="FFFFFF"/>
                </a:solidFill>
                <a:latin typeface="Arial"/>
              </a:rPr>
              <a:t>Traditional SaaS /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116" y="5647069"/>
            <a:ext cx="6615813" cy="2953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11" b="0" i="0">
                <a:solidFill>
                  <a:srgbClr val="FFFFFF"/>
                </a:solidFill>
                <a:latin typeface="Arial"/>
              </a:rPr>
              <a:t>•  </a:t>
            </a:r>
            <a:r>
              <a:rPr sz="2511" b="0" i="0">
                <a:solidFill>
                  <a:srgbClr val="FFFFFF"/>
                </a:solidFill>
                <a:latin typeface="Arial"/>
              </a:rPr>
              <a:t>Your data sits on someone else’s server.</a:t>
            </a:r>
          </a:p>
          <a:p>
            <a:pPr algn="l">
              <a:spcAft>
                <a:spcPts val="400"/>
              </a:spcAft>
            </a:pPr>
            <a:r>
              <a:rPr sz="2511" b="0" i="0">
                <a:solidFill>
                  <a:srgbClr val="FFFFFF"/>
                </a:solidFill>
                <a:latin typeface="Arial"/>
              </a:rPr>
              <a:t>•  </a:t>
            </a:r>
            <a:r>
              <a:rPr sz="2511" b="0" i="0">
                <a:solidFill>
                  <a:srgbClr val="FFFFFF"/>
                </a:solidFill>
                <a:latin typeface="Arial"/>
              </a:rPr>
              <a:t>The external provider has potential access to logs and messages.</a:t>
            </a:r>
          </a:p>
          <a:p>
            <a:pPr algn="l">
              <a:spcAft>
                <a:spcPts val="400"/>
              </a:spcAft>
            </a:pPr>
            <a:r>
              <a:rPr sz="2511" b="0" i="0">
                <a:solidFill>
                  <a:srgbClr val="FFFFFF"/>
                </a:solidFill>
                <a:latin typeface="Arial"/>
              </a:rPr>
              <a:t>•  </a:t>
            </a:r>
            <a:r>
              <a:rPr sz="2511" b="0" i="0">
                <a:solidFill>
                  <a:srgbClr val="FFFFFF"/>
                </a:solidFill>
                <a:latin typeface="Arial"/>
              </a:rPr>
              <a:t>Centralized target for hackers or data leaks.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3255" y="4985488"/>
            <a:ext cx="6970232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348" b="1" i="0">
                <a:solidFill>
                  <a:srgbClr val="FFFFFF"/>
                </a:solidFill>
                <a:latin typeface="Arial"/>
              </a:rPr>
              <a:t>unpruuf Zero Custody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9534" y="5647069"/>
            <a:ext cx="6733953" cy="2953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32" b="0" i="0">
                <a:solidFill>
                  <a:srgbClr val="FFFFFF"/>
                </a:solidFill>
                <a:latin typeface="Arial"/>
              </a:rPr>
              <a:t>•  </a:t>
            </a:r>
            <a:r>
              <a:rPr sz="2232" b="1" i="0">
                <a:solidFill>
                  <a:srgbClr val="FFFFFF"/>
                </a:solidFill>
                <a:latin typeface="Arial"/>
              </a:rPr>
              <a:t>Own Infrastructure: </a:t>
            </a:r>
            <a:r>
              <a:rPr sz="2232" b="0" i="0">
                <a:solidFill>
                  <a:srgbClr val="FFFFFF"/>
                </a:solidFill>
                <a:latin typeface="Arial"/>
              </a:rPr>
              <a:t>Data arrives directly on hardware you control (or a VPS).</a:t>
            </a:r>
          </a:p>
          <a:p>
            <a:pPr algn="l">
              <a:spcAft>
                <a:spcPts val="300"/>
              </a:spcAft>
            </a:pPr>
            <a:r>
              <a:rPr sz="2232" b="0" i="0">
                <a:solidFill>
                  <a:srgbClr val="FFFFFF"/>
                </a:solidFill>
                <a:latin typeface="Arial"/>
              </a:rPr>
              <a:t>•  </a:t>
            </a:r>
            <a:r>
              <a:rPr sz="2232" b="1" i="0">
                <a:solidFill>
                  <a:srgbClr val="FFFFFF"/>
                </a:solidFill>
                <a:latin typeface="Arial"/>
              </a:rPr>
              <a:t>NexonAI sees nothing: </a:t>
            </a:r>
            <a:r>
              <a:rPr sz="2232" b="0" i="0">
                <a:solidFill>
                  <a:srgbClr val="FFFFFF"/>
                </a:solidFill>
                <a:latin typeface="Arial"/>
              </a:rPr>
              <a:t>We do not operate central servers, we do not monitor traffic, we hold no copies of your data.</a:t>
            </a:r>
          </a:p>
          <a:p>
            <a:pPr algn="l">
              <a:spcAft>
                <a:spcPts val="300"/>
              </a:spcAft>
            </a:pPr>
            <a:r>
              <a:rPr sz="2232" b="0" i="0">
                <a:solidFill>
                  <a:srgbClr val="FFFFFF"/>
                </a:solidFill>
                <a:latin typeface="Arial"/>
              </a:rPr>
              <a:t>•  </a:t>
            </a:r>
            <a:r>
              <a:rPr sz="2232" b="1" i="0">
                <a:solidFill>
                  <a:srgbClr val="FFFFFF"/>
                </a:solidFill>
                <a:latin typeface="Arial"/>
              </a:rPr>
              <a:t>Local Storage: </a:t>
            </a:r>
            <a:r>
              <a:rPr sz="2232" b="0" i="0">
                <a:solidFill>
                  <a:srgbClr val="FFFFFF"/>
                </a:solidFill>
                <a:latin typeface="Arial"/>
              </a:rPr>
              <a:t>The Compliance Officer’s app runs on the officer’s laptop, saving the case files locally and encrypted.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7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7069" y="354418"/>
            <a:ext cx="15121860" cy="945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22" b="1" i="0">
                <a:solidFill>
                  <a:srgbClr val="7EDDB0"/>
                </a:solidFill>
                <a:latin typeface="Arial"/>
              </a:rPr>
              <a:t>Full Accessibility for Employees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7069" y="1323162"/>
            <a:ext cx="15240000" cy="826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90" b="0" i="0">
                <a:solidFill>
                  <a:srgbClr val="FFFFFF"/>
                </a:solidFill>
                <a:latin typeface="Arial"/>
              </a:rPr>
              <a:t>The entire system (App + Node + Endpoint) takes up only ~20 MB. No IT effort for the user.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9813" y="2221023"/>
            <a:ext cx="4453860" cy="6426790"/>
          </a:xfrm>
          <a:prstGeom prst="roundRect">
            <a:avLst>
              <a:gd name="adj" fmla="val 4774"/>
            </a:avLst>
          </a:prstGeom>
          <a:solidFill>
            <a:srgbClr val="2B3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6976" y="2362790"/>
            <a:ext cx="1181395" cy="1181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300" b="1" i="0">
                <a:solidFill>
                  <a:srgbClr val="7EDDB0"/>
                </a:solidFill>
                <a:latin typeface="Arial"/>
              </a:rPr>
              <a:t>1</a:t>
            </a:r>
          </a:p>
        </p:txBody>
      </p:sp>
      <p:pic>
        <p:nvPicPr>
          <p:cNvPr id="6" name="Picture 5" descr="s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813" y="3071627"/>
            <a:ext cx="2540000" cy="28353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7953" y="6048744"/>
            <a:ext cx="4217581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534" b="1" i="0">
                <a:solidFill>
                  <a:srgbClr val="7EDDB0"/>
                </a:solidFill>
                <a:latin typeface="Arial"/>
              </a:rPr>
              <a:t>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232" y="6686697"/>
            <a:ext cx="3745023" cy="1890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The employee scans the QR code from a poster or from the intranet.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5162" y="2221023"/>
            <a:ext cx="4453860" cy="6426790"/>
          </a:xfrm>
          <a:prstGeom prst="roundRect">
            <a:avLst>
              <a:gd name="adj" fmla="val 4774"/>
            </a:avLst>
          </a:prstGeom>
          <a:solidFill>
            <a:srgbClr val="2B3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2325" y="2362790"/>
            <a:ext cx="1181395" cy="1181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300" b="1" i="0">
                <a:solidFill>
                  <a:srgbClr val="7EDDB0"/>
                </a:solidFill>
                <a:latin typeface="Arial"/>
              </a:rPr>
              <a:t>2</a:t>
            </a:r>
          </a:p>
        </p:txBody>
      </p:sp>
      <p:pic>
        <p:nvPicPr>
          <p:cNvPr id="11" name="Picture 10" descr="s8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511" y="3095255"/>
            <a:ext cx="1890232" cy="281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13302" y="6048744"/>
            <a:ext cx="4217581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534" b="1" i="0">
                <a:solidFill>
                  <a:srgbClr val="7EDDB0"/>
                </a:solidFill>
                <a:latin typeface="Arial"/>
              </a:rPr>
              <a:t>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9581" y="6686697"/>
            <a:ext cx="3745023" cy="1890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The free client app opens (no account creation, no phone number).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282325" y="2221023"/>
            <a:ext cx="4453860" cy="6426790"/>
          </a:xfrm>
          <a:prstGeom prst="roundRect">
            <a:avLst>
              <a:gd name="adj" fmla="val 4774"/>
            </a:avLst>
          </a:prstGeom>
          <a:solidFill>
            <a:srgbClr val="2B374D"/>
          </a:solidFill>
          <a:ln w="381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89488" y="2362790"/>
            <a:ext cx="1181395" cy="1181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300" b="1" i="0">
                <a:solidFill>
                  <a:srgbClr val="7EDDB0"/>
                </a:solidFill>
                <a:latin typeface="Arial"/>
              </a:rPr>
              <a:t>3</a:t>
            </a:r>
          </a:p>
        </p:txBody>
      </p:sp>
      <p:pic>
        <p:nvPicPr>
          <p:cNvPr id="16" name="Picture 15" descr="s8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2790" y="3095255"/>
            <a:ext cx="2126511" cy="2811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400465" y="6048744"/>
            <a:ext cx="4217581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534" b="1" i="0">
                <a:solidFill>
                  <a:srgbClr val="7EDDB0"/>
                </a:solidFill>
                <a:latin typeface="Arial"/>
              </a:rPr>
              <a:t>Secure Dialog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36744" y="6686697"/>
            <a:ext cx="3745023" cy="1890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The employee starts reporting immediately, using the unique encrypted channel with the Compliance Officer.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631069" y="4961860"/>
            <a:ext cx="1086883" cy="874232"/>
          </a:xfrm>
          <a:prstGeom prst="rightArrow">
            <a:avLst/>
          </a:prstGeom>
          <a:solidFill>
            <a:srgbClr val="7E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10006418" y="4961860"/>
            <a:ext cx="1086883" cy="874232"/>
          </a:xfrm>
          <a:prstGeom prst="rightArrow">
            <a:avLst/>
          </a:prstGeom>
          <a:solidFill>
            <a:srgbClr val="7E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60930" y="4890976"/>
            <a:ext cx="1252279" cy="3071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0930" y="4890976"/>
            <a:ext cx="1252279" cy="3071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62" b="1" i="0">
                <a:solidFill>
                  <a:srgbClr val="2F6B55"/>
                </a:solidFill>
                <a:latin typeface="Arial"/>
              </a:rPr>
              <a:t>Secure connection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6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7069" y="401674"/>
            <a:ext cx="15240000" cy="945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22" b="1" i="0">
                <a:solidFill>
                  <a:srgbClr val="FFFFFF"/>
                </a:solidFill>
                <a:latin typeface="Arial"/>
              </a:rPr>
              <a:t>Total Control: Custom Rules per 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7069" y="1323162"/>
            <a:ext cx="15240000" cy="826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90" b="0" i="0">
                <a:solidFill>
                  <a:srgbClr val="FFFFFF"/>
                </a:solidFill>
                <a:latin typeface="Arial"/>
              </a:rPr>
              <a:t>The same secured architecture. Different rules depending on procedure and legal requirements (Privacy by Design).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9813" y="2221023"/>
            <a:ext cx="4701953" cy="6438604"/>
          </a:xfrm>
          <a:prstGeom prst="roundRect">
            <a:avLst>
              <a:gd name="adj" fmla="val 6030"/>
            </a:avLst>
          </a:prstGeom>
          <a:solidFill>
            <a:srgbClr val="1B2A47"/>
          </a:solidFill>
          <a:ln w="25400">
            <a:solidFill>
              <a:srgbClr val="3C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9813" y="2540000"/>
            <a:ext cx="4701953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55" b="1" i="0">
                <a:solidFill>
                  <a:srgbClr val="FFFFFF"/>
                </a:solidFill>
                <a:latin typeface="Arial"/>
              </a:rPr>
              <a:t>Documented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9813" y="3130697"/>
            <a:ext cx="4701953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790" b="0" i="0">
                <a:solidFill>
                  <a:srgbClr val="FFFFFF"/>
                </a:solidFill>
                <a:latin typeface="Arial"/>
              </a:rPr>
              <a:t>(Whistleblowing)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1488" y="3957674"/>
            <a:ext cx="3898604" cy="2776279"/>
          </a:xfrm>
          <a:prstGeom prst="roundRect">
            <a:avLst>
              <a:gd name="adj" fmla="val 5957"/>
            </a:avLst>
          </a:prstGeom>
          <a:solidFill>
            <a:srgbClr val="222F4B"/>
          </a:solidFill>
          <a:ln w="19050">
            <a:solidFill>
              <a:srgbClr val="3C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883" y="4099441"/>
            <a:ext cx="3591441" cy="2587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78" b="1" i="0">
                <a:solidFill>
                  <a:srgbClr val="FFFFFF"/>
                </a:solidFill>
                <a:latin typeface="Arial"/>
              </a:rPr>
              <a:t>Rule: </a:t>
            </a:r>
            <a:r>
              <a:rPr sz="2278" b="0" i="0">
                <a:solidFill>
                  <a:srgbClr val="FFFFFF"/>
                </a:solidFill>
                <a:latin typeface="Arial"/>
              </a:rPr>
              <a:t>Encrypted retention for the duration of the legal periods.</a:t>
            </a:r>
          </a:p>
          <a:p>
            <a:pPr algn="l">
              <a:spcAft>
                <a:spcPts val="800"/>
              </a:spcAft>
            </a:pPr>
            <a:r>
              <a:rPr sz="2278" b="1" i="0">
                <a:solidFill>
                  <a:srgbClr val="FFFFFF"/>
                </a:solidFill>
                <a:latin typeface="Arial"/>
              </a:rPr>
              <a:t>Action: </a:t>
            </a:r>
            <a:r>
              <a:rPr sz="2278" b="0" i="0">
                <a:solidFill>
                  <a:srgbClr val="FFFFFF"/>
                </a:solidFill>
                <a:latin typeface="Arial"/>
              </a:rPr>
              <a:t>Mandatory deletion 3 years after the case is closed.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1488" y="6875720"/>
            <a:ext cx="3898604" cy="1394046"/>
          </a:xfrm>
          <a:prstGeom prst="roundRect">
            <a:avLst>
              <a:gd name="adj" fmla="val 11864"/>
            </a:avLst>
          </a:prstGeom>
          <a:solidFill>
            <a:srgbClr val="222F4B"/>
          </a:solidFill>
          <a:ln w="19050">
            <a:solidFill>
              <a:srgbClr val="3C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6883" y="7017488"/>
            <a:ext cx="3591441" cy="1205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78" b="1" i="0">
                <a:solidFill>
                  <a:srgbClr val="FFFFFF"/>
                </a:solidFill>
                <a:latin typeface="Arial"/>
              </a:rPr>
              <a:t>Function: </a:t>
            </a:r>
            <a:r>
              <a:rPr sz="2278" b="0" i="0">
                <a:solidFill>
                  <a:srgbClr val="FFFFFF"/>
                </a:solidFill>
                <a:latin typeface="Arial"/>
              </a:rPr>
              <a:t>Time limits set for the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5209" y="2221023"/>
            <a:ext cx="4701953" cy="6438604"/>
          </a:xfrm>
          <a:prstGeom prst="roundRect">
            <a:avLst>
              <a:gd name="adj" fmla="val 6030"/>
            </a:avLst>
          </a:prstGeom>
          <a:solidFill>
            <a:srgbClr val="1B2A47"/>
          </a:solidFill>
          <a:ln w="50800">
            <a:solidFill>
              <a:srgbClr val="7EE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5209" y="2540000"/>
            <a:ext cx="4701953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55" b="1" i="0">
                <a:solidFill>
                  <a:srgbClr val="FFFFFF"/>
                </a:solidFill>
                <a:latin typeface="Arial"/>
              </a:rPr>
              <a:t>Ephemeral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5209" y="3130697"/>
            <a:ext cx="4701953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790" b="0" i="0">
                <a:solidFill>
                  <a:srgbClr val="FFFFFF"/>
                </a:solidFill>
                <a:latin typeface="Arial"/>
              </a:rPr>
              <a:t>(Journalism / Quick tips)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6883" y="3957674"/>
            <a:ext cx="3898604" cy="1157767"/>
          </a:xfrm>
          <a:prstGeom prst="roundRect">
            <a:avLst>
              <a:gd name="adj" fmla="val 14285"/>
            </a:avLst>
          </a:prstGeom>
          <a:solidFill>
            <a:srgbClr val="222F4B"/>
          </a:solidFill>
          <a:ln w="19050">
            <a:solidFill>
              <a:srgbClr val="3C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2279" y="4099441"/>
            <a:ext cx="3591441" cy="968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78" b="1" i="0">
                <a:solidFill>
                  <a:srgbClr val="FFFFFF"/>
                </a:solidFill>
                <a:latin typeface="Arial"/>
              </a:rPr>
              <a:t>Rule: </a:t>
            </a:r>
            <a:r>
              <a:rPr sz="2278" b="0" i="0">
                <a:solidFill>
                  <a:srgbClr val="FFFFFF"/>
                </a:solidFill>
                <a:latin typeface="Arial"/>
              </a:rPr>
              <a:t>Data stays only in RAM.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6883" y="5257209"/>
            <a:ext cx="3898604" cy="1512186"/>
          </a:xfrm>
          <a:prstGeom prst="roundRect">
            <a:avLst>
              <a:gd name="adj" fmla="val 10937"/>
            </a:avLst>
          </a:prstGeom>
          <a:solidFill>
            <a:srgbClr val="222F4B"/>
          </a:solidFill>
          <a:ln w="19050">
            <a:solidFill>
              <a:srgbClr val="3C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2279" y="5398976"/>
            <a:ext cx="3591441" cy="1323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78" b="1" i="0">
                <a:solidFill>
                  <a:srgbClr val="FFFFFF"/>
                </a:solidFill>
                <a:latin typeface="Arial"/>
              </a:rPr>
              <a:t>Action: </a:t>
            </a:r>
            <a:r>
              <a:rPr sz="2278" b="0" i="0">
                <a:solidFill>
                  <a:srgbClr val="FFFFFF"/>
                </a:solidFill>
                <a:latin typeface="Arial"/>
              </a:rPr>
              <a:t>Immediate automatic deletion (e.g. within 24 hours).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6883" y="6911162"/>
            <a:ext cx="3898604" cy="1653953"/>
          </a:xfrm>
          <a:prstGeom prst="roundRect">
            <a:avLst>
              <a:gd name="adj" fmla="val 10000"/>
            </a:avLst>
          </a:prstGeom>
          <a:solidFill>
            <a:srgbClr val="222F4B"/>
          </a:solidFill>
          <a:ln w="19050">
            <a:solidFill>
              <a:srgbClr val="3C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2279" y="7052930"/>
            <a:ext cx="3591441" cy="14649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78" b="1" i="0">
                <a:solidFill>
                  <a:srgbClr val="FFFFFF"/>
                </a:solidFill>
                <a:latin typeface="Arial"/>
              </a:rPr>
              <a:t>Function: </a:t>
            </a:r>
            <a:r>
              <a:rPr sz="2278" b="0" i="0">
                <a:solidFill>
                  <a:srgbClr val="FFFFFF"/>
                </a:solidFill>
                <a:latin typeface="Arial"/>
              </a:rPr>
              <a:t>Absolute source protection; nothing can be extracted.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34232" y="2221023"/>
            <a:ext cx="4701953" cy="6438604"/>
          </a:xfrm>
          <a:prstGeom prst="roundRect">
            <a:avLst>
              <a:gd name="adj" fmla="val 6030"/>
            </a:avLst>
          </a:prstGeom>
          <a:solidFill>
            <a:srgbClr val="1B2A47"/>
          </a:solidFill>
          <a:ln w="25400">
            <a:solidFill>
              <a:srgbClr val="3C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34232" y="2540000"/>
            <a:ext cx="4701953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55" b="1" i="0">
                <a:solidFill>
                  <a:srgbClr val="FFFFFF"/>
                </a:solidFill>
                <a:latin typeface="Arial"/>
              </a:rPr>
              <a:t>Immutable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34232" y="3130697"/>
            <a:ext cx="4701953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790" b="0" i="0">
                <a:solidFill>
                  <a:srgbClr val="FFFFFF"/>
                </a:solidFill>
                <a:latin typeface="Arial"/>
              </a:rPr>
              <a:t>(Official Complaints)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5906" y="3957674"/>
            <a:ext cx="3898604" cy="1323162"/>
          </a:xfrm>
          <a:prstGeom prst="roundRect">
            <a:avLst>
              <a:gd name="adj" fmla="val 12500"/>
            </a:avLst>
          </a:prstGeom>
          <a:solidFill>
            <a:srgbClr val="222F4B"/>
          </a:solidFill>
          <a:ln w="19050">
            <a:solidFill>
              <a:srgbClr val="3C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01302" y="4099441"/>
            <a:ext cx="3591441" cy="1134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78" b="1" i="0">
                <a:solidFill>
                  <a:srgbClr val="FFFFFF"/>
                </a:solidFill>
                <a:latin typeface="Arial"/>
              </a:rPr>
              <a:t>Rule: </a:t>
            </a:r>
            <a:r>
              <a:rPr sz="2278" b="0" i="0">
                <a:solidFill>
                  <a:srgbClr val="FFFFFF"/>
                </a:solidFill>
                <a:latin typeface="Arial"/>
              </a:rPr>
              <a:t>Protocol that cannot be deleted covertly.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5906" y="5422604"/>
            <a:ext cx="3898604" cy="1772093"/>
          </a:xfrm>
          <a:prstGeom prst="roundRect">
            <a:avLst>
              <a:gd name="adj" fmla="val 9333"/>
            </a:avLst>
          </a:prstGeom>
          <a:solidFill>
            <a:srgbClr val="222F4B"/>
          </a:solidFill>
          <a:ln w="19050">
            <a:solidFill>
              <a:srgbClr val="3C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01302" y="5564372"/>
            <a:ext cx="3591441" cy="1583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78" b="1" i="0">
                <a:solidFill>
                  <a:srgbClr val="FFFFFF"/>
                </a:solidFill>
                <a:latin typeface="Arial"/>
              </a:rPr>
              <a:t>Action: </a:t>
            </a:r>
            <a:r>
              <a:rPr sz="2278" b="0" i="0">
                <a:solidFill>
                  <a:srgbClr val="FFFFFF"/>
                </a:solidFill>
                <a:latin typeface="Arial"/>
              </a:rPr>
              <a:t>Personal content can be deleted, but the trace of the action remains.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7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7069" y="401674"/>
            <a:ext cx="15240000" cy="945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22" b="1" i="0">
                <a:solidFill>
                  <a:srgbClr val="FFFFFF"/>
                </a:solidFill>
                <a:latin typeface="Arial"/>
              </a:rPr>
              <a:t>Comparative Analysis of Reporting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3441" y="1653953"/>
            <a:ext cx="3107069" cy="1134139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0511" y="1653953"/>
            <a:ext cx="2587255" cy="1134139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0511" y="1653953"/>
            <a:ext cx="2587255" cy="11341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18" b="1" i="0">
                <a:solidFill>
                  <a:srgbClr val="FFFFFF"/>
                </a:solidFill>
                <a:latin typeface="Arial"/>
              </a:rPr>
              <a:t>E-mail &amp; 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7767" y="1653953"/>
            <a:ext cx="2646325" cy="1134139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7767" y="1653953"/>
            <a:ext cx="2646325" cy="11341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18" b="1" i="0">
                <a:solidFill>
                  <a:srgbClr val="FFFFFF"/>
                </a:solidFill>
                <a:latin typeface="Arial"/>
              </a:rPr>
              <a:t>Messaging</a:t>
            </a:r>
          </a:p>
          <a:p>
            <a:pPr algn="ctr">
              <a:spcAft>
                <a:spcPts val="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(Signal/WhatsApp)</a:t>
            </a:r>
          </a:p>
        </p:txBody>
      </p:sp>
      <p:sp>
        <p:nvSpPr>
          <p:cNvPr id="8" name="Rectangle 7"/>
          <p:cNvSpPr/>
          <p:nvPr/>
        </p:nvSpPr>
        <p:spPr>
          <a:xfrm>
            <a:off x="8884093" y="1653953"/>
            <a:ext cx="2540000" cy="1134139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4093" y="1653953"/>
            <a:ext cx="2540000" cy="11341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18" b="1" i="0">
                <a:solidFill>
                  <a:srgbClr val="FFFFFF"/>
                </a:solidFill>
                <a:latin typeface="Arial"/>
              </a:rPr>
              <a:t>Web Platforms</a:t>
            </a:r>
          </a:p>
          <a:p>
            <a:pPr algn="ctr">
              <a:spcAft>
                <a:spcPts val="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(SaaS)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24093" y="1653953"/>
            <a:ext cx="4300279" cy="1134139"/>
          </a:xfrm>
          <a:prstGeom prst="rect">
            <a:avLst/>
          </a:prstGeom>
          <a:solidFill>
            <a:srgbClr val="7EE0B6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24093" y="1653953"/>
            <a:ext cx="4300279" cy="11341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348" b="1" i="0">
                <a:solidFill>
                  <a:srgbClr val="123A33"/>
                </a:solidFill>
                <a:latin typeface="Arial"/>
              </a:rPr>
              <a:t>unpruuf Compliance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3441" y="2788093"/>
            <a:ext cx="3107069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0511" y="2788093"/>
            <a:ext cx="258725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7767" y="2788093"/>
            <a:ext cx="264632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84093" y="2788093"/>
            <a:ext cx="2540000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24093" y="2788093"/>
            <a:ext cx="4300279" cy="1145953"/>
          </a:xfrm>
          <a:prstGeom prst="rect">
            <a:avLst/>
          </a:prstGeom>
          <a:solidFill>
            <a:srgbClr val="D5F2E4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209" y="2788093"/>
            <a:ext cx="2941674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32" b="0" i="0">
                <a:solidFill>
                  <a:srgbClr val="FFFFFF"/>
                </a:solidFill>
                <a:latin typeface="Arial"/>
              </a:rPr>
              <a:t>100% Anonymous (No Account/Phone)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395" y="2788093"/>
            <a:ext cx="244548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8651" y="2788093"/>
            <a:ext cx="250455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No (needs phone/ID)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4976" y="2788093"/>
            <a:ext cx="2398232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Yes</a:t>
            </a:r>
          </a:p>
        </p:txBody>
      </p:sp>
      <p:sp>
        <p:nvSpPr>
          <p:cNvPr id="21" name="Oval 20"/>
          <p:cNvSpPr/>
          <p:nvPr/>
        </p:nvSpPr>
        <p:spPr>
          <a:xfrm>
            <a:off x="11589488" y="3160232"/>
            <a:ext cx="401674" cy="401674"/>
          </a:xfrm>
          <a:prstGeom prst="ellipse">
            <a:avLst/>
          </a:prstGeom>
          <a:solidFill>
            <a:srgbClr val="6E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89488" y="3160232"/>
            <a:ext cx="401674" cy="4016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46" b="1" i="0">
                <a:solidFill>
                  <a:srgbClr val="123A33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09302" y="2788093"/>
            <a:ext cx="3544186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18" b="1" i="0">
                <a:solidFill>
                  <a:srgbClr val="123A33"/>
                </a:solidFill>
                <a:latin typeface="Arial"/>
              </a:rPr>
              <a:t>Yes</a:t>
            </a:r>
          </a:p>
          <a:p>
            <a:pPr algn="l">
              <a:spcAft>
                <a:spcPts val="0"/>
              </a:spcAft>
            </a:pPr>
            <a:r>
              <a:rPr sz="2418" b="0" i="0">
                <a:solidFill>
                  <a:srgbClr val="123A33"/>
                </a:solidFill>
                <a:latin typeface="Arial"/>
              </a:rPr>
              <a:t>(Total decoupling)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3441" y="3934046"/>
            <a:ext cx="3107069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0511" y="3934046"/>
            <a:ext cx="258725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7767" y="3934046"/>
            <a:ext cx="264632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84093" y="3934046"/>
            <a:ext cx="2540000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24093" y="3934046"/>
            <a:ext cx="4300279" cy="1145953"/>
          </a:xfrm>
          <a:prstGeom prst="rect">
            <a:avLst/>
          </a:prstGeom>
          <a:solidFill>
            <a:srgbClr val="D5F2E4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209" y="3934046"/>
            <a:ext cx="2941674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32" b="0" i="0">
                <a:solidFill>
                  <a:srgbClr val="FFFFFF"/>
                </a:solidFill>
                <a:latin typeface="Arial"/>
              </a:rPr>
              <a:t>Data Control (Zero Custody)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395" y="3934046"/>
            <a:ext cx="244548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No (stored at provider)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8651" y="3934046"/>
            <a:ext cx="250455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4976" y="3934046"/>
            <a:ext cx="2398232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No (external Cloud)</a:t>
            </a:r>
          </a:p>
        </p:txBody>
      </p:sp>
      <p:sp>
        <p:nvSpPr>
          <p:cNvPr id="33" name="Oval 32"/>
          <p:cNvSpPr/>
          <p:nvPr/>
        </p:nvSpPr>
        <p:spPr>
          <a:xfrm>
            <a:off x="11589488" y="4306186"/>
            <a:ext cx="401674" cy="401674"/>
          </a:xfrm>
          <a:prstGeom prst="ellipse">
            <a:avLst/>
          </a:prstGeom>
          <a:solidFill>
            <a:srgbClr val="6E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89488" y="4306186"/>
            <a:ext cx="401674" cy="4016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46" b="1" i="0">
                <a:solidFill>
                  <a:srgbClr val="123A33"/>
                </a:solidFill>
                <a:latin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09302" y="3934046"/>
            <a:ext cx="3544186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18" b="1" i="0">
                <a:solidFill>
                  <a:srgbClr val="123A33"/>
                </a:solidFill>
                <a:latin typeface="Arial"/>
              </a:rPr>
              <a:t>Yes</a:t>
            </a:r>
          </a:p>
          <a:p>
            <a:pPr algn="l">
              <a:spcAft>
                <a:spcPts val="0"/>
              </a:spcAft>
            </a:pPr>
            <a:r>
              <a:rPr sz="2418" b="0" i="0">
                <a:solidFill>
                  <a:srgbClr val="123A33"/>
                </a:solidFill>
                <a:latin typeface="Arial"/>
              </a:rPr>
              <a:t>(On your infrastructure)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3441" y="5080000"/>
            <a:ext cx="3107069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0511" y="5080000"/>
            <a:ext cx="258725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37767" y="5080000"/>
            <a:ext cx="264632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84093" y="5080000"/>
            <a:ext cx="2540000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24093" y="5080000"/>
            <a:ext cx="4300279" cy="1145953"/>
          </a:xfrm>
          <a:prstGeom prst="rect">
            <a:avLst/>
          </a:prstGeom>
          <a:solidFill>
            <a:srgbClr val="D5F2E4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209" y="5080000"/>
            <a:ext cx="2941674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32" b="0" i="0">
                <a:solidFill>
                  <a:srgbClr val="FFFFFF"/>
                </a:solidFill>
                <a:latin typeface="Arial"/>
              </a:rPr>
              <a:t>Two-Way Anonymous Dialog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21395" y="5080000"/>
            <a:ext cx="244548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8651" y="5080000"/>
            <a:ext cx="250455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Partial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54976" y="5080000"/>
            <a:ext cx="2398232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Yes</a:t>
            </a:r>
          </a:p>
        </p:txBody>
      </p:sp>
      <p:sp>
        <p:nvSpPr>
          <p:cNvPr id="45" name="Oval 44"/>
          <p:cNvSpPr/>
          <p:nvPr/>
        </p:nvSpPr>
        <p:spPr>
          <a:xfrm>
            <a:off x="11589488" y="5452139"/>
            <a:ext cx="401674" cy="401674"/>
          </a:xfrm>
          <a:prstGeom prst="ellipse">
            <a:avLst/>
          </a:prstGeom>
          <a:solidFill>
            <a:srgbClr val="6E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589488" y="5452139"/>
            <a:ext cx="401674" cy="4016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46" b="1" i="0">
                <a:solidFill>
                  <a:srgbClr val="123A33"/>
                </a:solidFill>
                <a:latin typeface="Arial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09302" y="5080000"/>
            <a:ext cx="3544186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18" b="1" i="0">
                <a:solidFill>
                  <a:srgbClr val="123A33"/>
                </a:solidFill>
                <a:latin typeface="Arial"/>
              </a:rPr>
              <a:t>Yes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3441" y="6225953"/>
            <a:ext cx="3107069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0511" y="6225953"/>
            <a:ext cx="258725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37767" y="6225953"/>
            <a:ext cx="264632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84093" y="6225953"/>
            <a:ext cx="2540000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424093" y="6225953"/>
            <a:ext cx="4300279" cy="1145953"/>
          </a:xfrm>
          <a:prstGeom prst="rect">
            <a:avLst/>
          </a:prstGeom>
          <a:solidFill>
            <a:srgbClr val="D5F2E4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209" y="6225953"/>
            <a:ext cx="2941674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32" b="0" i="0">
                <a:solidFill>
                  <a:srgbClr val="FFFFFF"/>
                </a:solidFill>
                <a:latin typeface="Arial"/>
              </a:rPr>
              <a:t>Deadline Compliance (7 days / 3 months)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21395" y="6225953"/>
            <a:ext cx="244548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8651" y="6225953"/>
            <a:ext cx="250455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54976" y="6225953"/>
            <a:ext cx="2398232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Automated</a:t>
            </a:r>
          </a:p>
        </p:txBody>
      </p:sp>
      <p:sp>
        <p:nvSpPr>
          <p:cNvPr id="57" name="Oval 56"/>
          <p:cNvSpPr/>
          <p:nvPr/>
        </p:nvSpPr>
        <p:spPr>
          <a:xfrm>
            <a:off x="11589488" y="6598093"/>
            <a:ext cx="401674" cy="401674"/>
          </a:xfrm>
          <a:prstGeom prst="ellipse">
            <a:avLst/>
          </a:prstGeom>
          <a:solidFill>
            <a:srgbClr val="6E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589488" y="6598093"/>
            <a:ext cx="401674" cy="4016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46" b="1" i="0">
                <a:solidFill>
                  <a:srgbClr val="123A33"/>
                </a:solidFill>
                <a:latin typeface="Arial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09302" y="6225953"/>
            <a:ext cx="3544186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18" b="1" i="0">
                <a:solidFill>
                  <a:srgbClr val="123A33"/>
                </a:solidFill>
                <a:latin typeface="Arial"/>
              </a:rPr>
              <a:t>Automated in</a:t>
            </a:r>
          </a:p>
          <a:p>
            <a:pPr algn="l">
              <a:spcAft>
                <a:spcPts val="0"/>
              </a:spcAft>
            </a:pPr>
            <a:r>
              <a:rPr sz="2418" b="0" i="0">
                <a:solidFill>
                  <a:srgbClr val="123A33"/>
                </a:solidFill>
                <a:latin typeface="Arial"/>
              </a:rPr>
              <a:t>Dashboard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3441" y="7371906"/>
            <a:ext cx="3107069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650511" y="7371906"/>
            <a:ext cx="258725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37767" y="7371906"/>
            <a:ext cx="264632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884093" y="7371906"/>
            <a:ext cx="2540000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424093" y="7371906"/>
            <a:ext cx="4300279" cy="1145953"/>
          </a:xfrm>
          <a:prstGeom prst="rect">
            <a:avLst/>
          </a:prstGeom>
          <a:solidFill>
            <a:srgbClr val="D5F2E4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209" y="7371906"/>
            <a:ext cx="2941674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32" b="0" i="0">
                <a:solidFill>
                  <a:srgbClr val="FFFFFF"/>
                </a:solidFill>
                <a:latin typeface="Arial"/>
              </a:rPr>
              <a:t>Metadata and Log Risk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21395" y="7371906"/>
            <a:ext cx="244548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Critical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8651" y="7371906"/>
            <a:ext cx="250455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54976" y="7371906"/>
            <a:ext cx="2398232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69" name="Oval 68"/>
          <p:cNvSpPr/>
          <p:nvPr/>
        </p:nvSpPr>
        <p:spPr>
          <a:xfrm>
            <a:off x="11589488" y="7744046"/>
            <a:ext cx="401674" cy="401674"/>
          </a:xfrm>
          <a:prstGeom prst="ellipse">
            <a:avLst/>
          </a:prstGeom>
          <a:solidFill>
            <a:srgbClr val="6E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589488" y="7744046"/>
            <a:ext cx="401674" cy="4016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46" b="1" i="0">
                <a:solidFill>
                  <a:srgbClr val="123A33"/>
                </a:solidFill>
                <a:latin typeface="Arial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09302" y="7371906"/>
            <a:ext cx="3544186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18" b="1" i="0">
                <a:solidFill>
                  <a:srgbClr val="123A33"/>
                </a:solidFill>
                <a:latin typeface="Arial"/>
              </a:rPr>
              <a:t>Eliminated</a:t>
            </a:r>
          </a:p>
          <a:p>
            <a:pPr algn="l">
              <a:spcAft>
                <a:spcPts val="0"/>
              </a:spcAft>
            </a:pPr>
            <a:r>
              <a:rPr sz="2418" b="0" i="0">
                <a:solidFill>
                  <a:srgbClr val="123A33"/>
                </a:solidFill>
                <a:latin typeface="Arial"/>
              </a:rPr>
              <a:t>(Tor routing)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C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11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255" y="354418"/>
            <a:ext cx="3957674" cy="34851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957674"/>
            <a:ext cx="16256000" cy="708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534" b="0" i="0">
                <a:solidFill>
                  <a:srgbClr val="FFFFFF"/>
                </a:solidFill>
                <a:latin typeface="Arial"/>
              </a:rPr>
              <a:t>It’s not just an app. It’s a structural guarantee.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8837" y="4631069"/>
            <a:ext cx="14838325" cy="2244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650" b="1" i="0">
                <a:solidFill>
                  <a:srgbClr val="FFFFFF"/>
                </a:solidFill>
                <a:latin typeface="Arial"/>
              </a:rPr>
              <a:t>When we </a:t>
            </a:r>
            <a:r>
              <a:rPr sz="4650" b="1" i="0">
                <a:solidFill>
                  <a:srgbClr val="7EDDB0"/>
                </a:solidFill>
                <a:latin typeface="Arial"/>
              </a:rPr>
              <a:t>remove identity</a:t>
            </a:r>
            <a:r>
              <a:rPr sz="4650" b="1" i="0">
                <a:solidFill>
                  <a:srgbClr val="FFFFFF"/>
                </a:solidFill>
                <a:latin typeface="Arial"/>
              </a:rPr>
              <a:t> from the technical architecture, we </a:t>
            </a:r>
            <a:r>
              <a:rPr sz="4650" b="1" i="0">
                <a:solidFill>
                  <a:srgbClr val="7EDDB0"/>
                </a:solidFill>
                <a:latin typeface="Arial"/>
              </a:rPr>
              <a:t>remove fear</a:t>
            </a:r>
            <a:r>
              <a:rPr sz="4650" b="1" i="0">
                <a:solidFill>
                  <a:srgbClr val="FFFFFF"/>
                </a:solidFill>
                <a:latin typeface="Arial"/>
              </a:rPr>
              <a:t> from the human equation.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10790" y="7064744"/>
            <a:ext cx="0" cy="1559442"/>
          </a:xfrm>
          <a:prstGeom prst="line">
            <a:avLst/>
          </a:prstGeom>
          <a:ln w="31750">
            <a:solidFill>
              <a:srgbClr val="3A7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45209" y="7064744"/>
            <a:ext cx="0" cy="1559442"/>
          </a:xfrm>
          <a:prstGeom prst="line">
            <a:avLst/>
          </a:prstGeom>
          <a:ln w="31750">
            <a:solidFill>
              <a:srgbClr val="3A7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4418" y="7064744"/>
            <a:ext cx="4961860" cy="4725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4" b="1" i="0">
                <a:solidFill>
                  <a:srgbClr val="7EDDB0"/>
                </a:solidFill>
                <a:latin typeface="Arial"/>
              </a:rPr>
              <a:t>For the Employee: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767" y="7560930"/>
            <a:ext cx="4371162" cy="12995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325" b="0" i="0">
                <a:solidFill>
                  <a:srgbClr val="FFFFFF"/>
                </a:solidFill>
                <a:latin typeface="Arial"/>
              </a:rPr>
              <a:t>The freedom to speak without the fear of leaving digital traces.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47069" y="7064744"/>
            <a:ext cx="4961860" cy="4725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4" b="1" i="0">
                <a:solidFill>
                  <a:srgbClr val="7EDDB0"/>
                </a:solidFill>
                <a:latin typeface="Arial"/>
              </a:rPr>
              <a:t>For the Compliance Officer: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2418" y="7560930"/>
            <a:ext cx="4371162" cy="12995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325" b="0" i="0">
                <a:solidFill>
                  <a:srgbClr val="FFFFFF"/>
                </a:solidFill>
                <a:latin typeface="Arial"/>
              </a:rPr>
              <a:t>Precise tools to comply with the law (3-month deadline / deletion after 3 years).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1488" y="7064744"/>
            <a:ext cx="4961860" cy="4725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4" b="1" i="0">
                <a:solidFill>
                  <a:srgbClr val="7EDDB0"/>
                </a:solidFill>
                <a:latin typeface="Arial"/>
              </a:rPr>
              <a:t>For the Company: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6837" y="7560930"/>
            <a:ext cx="4371162" cy="12995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325" b="0" i="0">
                <a:solidFill>
                  <a:srgbClr val="FFFFFF"/>
                </a:solidFill>
                <a:latin typeface="Arial"/>
              </a:rPr>
              <a:t>Data never leaves the organization. Zero external custody. Absolute security.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